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504EF2-9F6F-4879-92DF-71F8219FEA09}">
  <a:tblStyle styleId="{44504EF2-9F6F-4879-92DF-71F8219FEA0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urses.engr.illinois.edu/cs241/sp2014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u="sng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https://courses.engr.illinois.edu/cs241/sp2014/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0ce07e16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0ce07e16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f5e49f3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cf5e49f3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f5e49f35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cf5e49f35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cf5e49f35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cf5e49f35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c96ff739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c96ff739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70ce07e1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70ce07e1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0f3097e2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70f3097e2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70f3097e2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70f3097e2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0fdab76b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70fdab76b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118a20e1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118a20e1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0ce07e16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0ce07e16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712b0d62a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712b0d62a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b317c4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c8b317c4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70ce07e16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70ce07e16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3cec7dad7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3cec7dad7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7118a20e1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7118a20e1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712b0d62a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712b0d62a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0f3097e2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70f3097e2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70fdab76b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70fdab76b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70f3097e2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70f3097e2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70f3097e2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70f3097e2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3cec7dad7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3cec7dad7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70ce07e16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70ce07e16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70fdab76b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70fdab76b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7118a20e1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7118a20e1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70fdab76b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70fdab76b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70f3097e2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70f3097e2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7118a20e1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7118a20e1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70f3097e2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70f3097e2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7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hpc-tutorials.llnl.gov/posix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m</a:t>
            </a:r>
            <a:r>
              <a:rPr lang="en"/>
              <a:t>ultithreaded programming with </a:t>
            </a:r>
            <a:r>
              <a:rPr lang="en"/>
              <a:t>POSIX threads</a:t>
            </a:r>
            <a:endParaRPr/>
          </a:p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Main resource: the content and the images are copied from 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https://hpc-tutorials.llnl.gov/posix/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Concurrency</a:t>
            </a:r>
            <a:r>
              <a:rPr lang="en"/>
              <a:t> &amp; Parallel computing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Operations are </a:t>
            </a:r>
            <a:r>
              <a:rPr b="1" lang="en"/>
              <a:t>concurrent</a:t>
            </a:r>
            <a:r>
              <a:rPr lang="en"/>
              <a:t> if they can progress independently at the same time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process is working on multiple tasks at the same time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Parallelism: </a:t>
            </a:r>
            <a:r>
              <a:rPr lang="en"/>
              <a:t>splitting tasks into subtasks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Parallel computing:</a:t>
            </a:r>
            <a:r>
              <a:rPr lang="en"/>
              <a:t> running subtasks (concurrent parts) parallel in multiple processor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0450" y="3129175"/>
            <a:ext cx="3223449" cy="175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150" y="3146750"/>
            <a:ext cx="3646950" cy="15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616650" y="2803000"/>
            <a:ext cx="25368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Serial computing</a:t>
            </a:r>
            <a:endParaRPr b="1"/>
          </a:p>
        </p:txBody>
      </p:sp>
      <p:sp>
        <p:nvSpPr>
          <p:cNvPr id="66" name="Google Shape;66;p14"/>
          <p:cNvSpPr txBox="1"/>
          <p:nvPr/>
        </p:nvSpPr>
        <p:spPr>
          <a:xfrm>
            <a:off x="5493450" y="2803000"/>
            <a:ext cx="25368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Parallel computing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addition: Concurrent parts?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700" y="1362075"/>
            <a:ext cx="30670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0775" y="1316025"/>
            <a:ext cx="30670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688" y="3062263"/>
            <a:ext cx="4695825" cy="117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5945950" y="2849575"/>
            <a:ext cx="25719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rgbClr val="FFFFFF"/>
                </a:highlight>
              </a:rPr>
              <a:t>Data: </a:t>
            </a:r>
            <a:r>
              <a:rPr b="1" lang="en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a_ij</a:t>
            </a:r>
            <a:r>
              <a:rPr b="1" lang="en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b_ij</a:t>
            </a:r>
            <a:r>
              <a:rPr lang="en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rgbClr val="FFFFFF"/>
                </a:highlight>
              </a:rPr>
              <a:t>Task: Addition</a:t>
            </a:r>
            <a:endParaRPr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rgbClr val="FFFFFF"/>
                </a:highlight>
              </a:rPr>
              <a:t>The same task, different data!</a:t>
            </a:r>
            <a:endParaRPr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multiplication: Concurrent parts?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950" y="1076325"/>
            <a:ext cx="30670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4275" y="1168550"/>
            <a:ext cx="306705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7114150" y="1416425"/>
            <a:ext cx="784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b="1" lang="en" sz="125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5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1" lang="en" sz="125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AB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288" y="2884125"/>
            <a:ext cx="6524625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6688150" y="2496775"/>
            <a:ext cx="25719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</a:rPr>
              <a:t>Data: </a:t>
            </a: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a_i, B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</a:rPr>
              <a:t> or </a:t>
            </a:r>
            <a:r>
              <a:rPr b="1" lang="en" sz="125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A, bj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</a:rPr>
              <a:t>Task: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</a:rPr>
              <a:t>Multiplication(and addition)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</a:rPr>
              <a:t>The same task, different data!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want to do both?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addition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" sz="125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1" lang="en" sz="125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+ B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 b="1" sz="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Matrix multiplication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b="1" lang="en" sz="125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5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1" lang="en" sz="125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AB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580450" y="2849575"/>
            <a:ext cx="4705800" cy="14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rgbClr val="FFFFFF"/>
                </a:highlight>
              </a:rPr>
              <a:t>Data: </a:t>
            </a:r>
            <a:r>
              <a:rPr b="1" lang="en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A, B</a:t>
            </a:r>
            <a:r>
              <a:rPr lang="en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rgbClr val="FFFFFF"/>
                </a:highlight>
              </a:rPr>
              <a:t>Task: Addition, Multiplication</a:t>
            </a:r>
            <a:endParaRPr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50">
                <a:solidFill>
                  <a:srgbClr val="202122"/>
                </a:solidFill>
                <a:highlight>
                  <a:srgbClr val="FFFFFF"/>
                </a:highlight>
              </a:rPr>
              <a:t>The same data, different concurrent tasks!</a:t>
            </a:r>
            <a:endParaRPr sz="185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Moore’s law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5350" y="252750"/>
            <a:ext cx="6785776" cy="47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thread (software thread)?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processes, threads allow an application to perform multiple tasks concurrently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thread is a</a:t>
            </a:r>
            <a:r>
              <a:rPr lang="en"/>
              <a:t>n independent stream of instructions that can be scheduled to run by OS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Threads can be scheduled to use the CPU in any order with any other thread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Threads act concurrently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Threads can be executed in parallel in a multicore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suspending execution of one thread does not cause the suspension of the other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If the order that threads execute matters, then threads must be synchronized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To the software developer, the concept of a "procedure" that runs independently from its main program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Processes vs Threads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3947100" cy="13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process has its own virtual address space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fork() is expensive</a:t>
            </a:r>
            <a:endParaRPr/>
          </a:p>
        </p:txBody>
      </p:sp>
      <p:sp>
        <p:nvSpPr>
          <p:cNvPr id="115" name="Google Shape;115;p20"/>
          <p:cNvSpPr txBox="1"/>
          <p:nvPr>
            <p:ph idx="2" type="body"/>
          </p:nvPr>
        </p:nvSpPr>
        <p:spPr>
          <a:xfrm>
            <a:off x="4727175" y="619075"/>
            <a:ext cx="4105200" cy="18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 maintains only its own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Stack pointer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Registers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Scheduling properties (such as policy or priority)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Set of pending and blocked signals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Thread specific data.    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000" y="2488150"/>
            <a:ext cx="2570325" cy="23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8875" y="2647950"/>
            <a:ext cx="2778975" cy="24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Why threads over processes?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413925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Creating a new process can be expensive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Time </a:t>
            </a:r>
            <a:endParaRPr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 call into the operating system is needed</a:t>
            </a:r>
            <a:endParaRPr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Context-switching involves the operating system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Memory </a:t>
            </a:r>
            <a:endParaRPr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The entire process must be replicated </a:t>
            </a:r>
            <a:endParaRPr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The cost of inter-process communication and synchronization of shared data </a:t>
            </a:r>
            <a:endParaRPr>
              <a:solidFill>
                <a:schemeClr val="dk1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</a:rPr>
              <a:t>May involve calls into the operating system kernel</a:t>
            </a:r>
            <a:endParaRPr/>
          </a:p>
        </p:txBody>
      </p:sp>
      <p:sp>
        <p:nvSpPr>
          <p:cNvPr id="124" name="Google Shape;124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Threads can be created without replicating an entire process 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Creating a thread is done in user space rather than kernel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Shared virtual address space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communications between two threads is usually faster and easier to implement then communications between two processes.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of </a:t>
            </a:r>
            <a:r>
              <a:rPr lang="en"/>
              <a:t>50,000 process/thread creations</a:t>
            </a:r>
            <a:endParaRPr/>
          </a:p>
        </p:txBody>
      </p:sp>
      <p:graphicFrame>
        <p:nvGraphicFramePr>
          <p:cNvPr id="130" name="Google Shape;130;p22"/>
          <p:cNvGraphicFramePr/>
          <p:nvPr/>
        </p:nvGraphicFramePr>
        <p:xfrm>
          <a:off x="961775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{44504EF2-9F6F-4879-92DF-71F8219FEA09}</a:tableStyleId>
              </a:tblPr>
              <a:tblGrid>
                <a:gridCol w="3951250"/>
                <a:gridCol w="613125"/>
                <a:gridCol w="527975"/>
                <a:gridCol w="510950"/>
                <a:gridCol w="510950"/>
                <a:gridCol w="579075"/>
                <a:gridCol w="519450"/>
              </a:tblGrid>
              <a:tr h="32807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Platform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fork()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pthread_create()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280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real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user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sys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real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user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sys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Intel 2.6 GHz Xeon E5-2670 (16 cores/node)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8.1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0.1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2.9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0.3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Intel 2.8 GHz Xeon 5660 (12 cores/node)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4.4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0.4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4.3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0.7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0.5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AMD 2.3 GHz Opteron (16 cores/node)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12.5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1.0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12.5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1.3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AMD 2.4 GHz Opteron (8 cores/node)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17.6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2.2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15.7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1.4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0.3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1.3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IBM 4.0 GHz POWER6 (8 cpus/node)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9.5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8.8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0.1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0.4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IBM 1.9 GHz POWER5 p5-575 (8 cpus/node)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64.2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30.7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27.6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1.7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1.1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IBM 1.5 GHz POWER4 (8 cpus/node)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104.5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48.6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47.2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2.1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1.0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1.5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INTEL 2.4 GHz Xeon (2 cpus/node)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54.9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1.5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20.8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0.7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0.9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INTEL 1.4 GHz Itanium2 (4 cpus/node)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54.5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1.1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22.2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2.0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in threaded programs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52475"/>
            <a:ext cx="85206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pplication is less robust; data sharing requires synchronization to avoid race conditions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a thread misbehaves, it can corrupt data of other threads within same process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a thread crashes, the entire process crashes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Pthreads API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255650" y="1089400"/>
            <a:ext cx="462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Historically, hardware vendors have implemented their own proprietary versions of threads.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order to take full advantage of the capabilities provided by threads, a standardized programming interface was required.       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UNIX systems, a standardized C language threads programming interface has been specified by the IEEE POSIX 1003.1c standard.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r>
              <a:rPr lang="en"/>
              <a:t> </a:t>
            </a:r>
            <a:endParaRPr/>
          </a:p>
        </p:txBody>
      </p:sp>
      <p:sp>
        <p:nvSpPr>
          <p:cNvPr id="143" name="Google Shape;143;p24"/>
          <p:cNvSpPr txBox="1"/>
          <p:nvPr>
            <p:ph idx="2" type="body"/>
          </p:nvPr>
        </p:nvSpPr>
        <p:spPr>
          <a:xfrm>
            <a:off x="4940275" y="1152475"/>
            <a:ext cx="389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Implementations that adhere to this standard are referred to as POSIX threads, or Pthreads.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Most hardware vendors now offer Pthreads in addition to their proprietary API's.    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278750" y="594125"/>
            <a:ext cx="6510300" cy="39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Pthreads are implemented with </a:t>
            </a:r>
            <a:endParaRPr sz="17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 </a:t>
            </a:r>
            <a:r>
              <a:rPr b="1" lang="en" sz="1500">
                <a:solidFill>
                  <a:schemeClr val="dk1"/>
                </a:solidFill>
              </a:rPr>
              <a:t>pthread.h</a:t>
            </a:r>
            <a:r>
              <a:rPr lang="en" sz="1500">
                <a:solidFill>
                  <a:schemeClr val="dk1"/>
                </a:solidFill>
              </a:rPr>
              <a:t> header/include file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and a thread library </a:t>
            </a:r>
            <a:endParaRPr sz="15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All identifiers in the threads library begin with</a:t>
            </a:r>
            <a:r>
              <a:rPr b="1" lang="en" sz="1700">
                <a:solidFill>
                  <a:schemeClr val="dk1"/>
                </a:solidFill>
              </a:rPr>
              <a:t> pthread_.</a:t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Compiler command</a:t>
            </a:r>
            <a:endParaRPr sz="1700"/>
          </a:p>
        </p:txBody>
      </p:sp>
      <p:graphicFrame>
        <p:nvGraphicFramePr>
          <p:cNvPr id="149" name="Google Shape;149;p25"/>
          <p:cNvGraphicFramePr/>
          <p:nvPr/>
        </p:nvGraphicFramePr>
        <p:xfrm>
          <a:off x="535950" y="348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{44504EF2-9F6F-4879-92DF-71F8219FEA09}</a:tableStyleId>
              </a:tblPr>
              <a:tblGrid>
                <a:gridCol w="3611250"/>
                <a:gridCol w="2828150"/>
              </a:tblGrid>
              <a:tr h="32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gcc -pthread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GNU C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g++ -pthread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GNU C++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354725" y="325000"/>
            <a:ext cx="8477700" cy="45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861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"/>
              <a:buChar char="●"/>
            </a:pPr>
            <a:r>
              <a:rPr lang="en" sz="1890">
                <a:solidFill>
                  <a:schemeClr val="dk1"/>
                </a:solidFill>
              </a:rPr>
              <a:t>The Pthreads API can be informally grouped into four major groups:     </a:t>
            </a:r>
            <a:endParaRPr sz="1890">
              <a:solidFill>
                <a:schemeClr val="dk1"/>
              </a:solidFill>
            </a:endParaRPr>
          </a:p>
          <a:p>
            <a:pPr indent="-33242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35"/>
              <a:buChar char="○"/>
            </a:pPr>
            <a:r>
              <a:rPr b="1" lang="en" sz="1635">
                <a:solidFill>
                  <a:schemeClr val="dk1"/>
                </a:solidFill>
              </a:rPr>
              <a:t>(today)Thread management:</a:t>
            </a:r>
            <a:r>
              <a:rPr lang="en" sz="1635">
                <a:solidFill>
                  <a:schemeClr val="dk1"/>
                </a:solidFill>
              </a:rPr>
              <a:t> </a:t>
            </a:r>
            <a:endParaRPr sz="1635">
              <a:solidFill>
                <a:schemeClr val="dk1"/>
              </a:solidFill>
            </a:endParaRPr>
          </a:p>
          <a:p>
            <a:pPr indent="-332422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35"/>
              <a:buChar char="■"/>
            </a:pPr>
            <a:r>
              <a:rPr lang="en" sz="1635">
                <a:solidFill>
                  <a:schemeClr val="dk1"/>
                </a:solidFill>
              </a:rPr>
              <a:t>Routines that work directly on threads - creating, detaching, joining, etc.</a:t>
            </a:r>
            <a:endParaRPr sz="1635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35">
                <a:solidFill>
                  <a:schemeClr val="dk1"/>
                </a:solidFill>
              </a:rPr>
              <a:t> </a:t>
            </a:r>
            <a:endParaRPr sz="1635">
              <a:solidFill>
                <a:schemeClr val="dk1"/>
              </a:solidFill>
            </a:endParaRPr>
          </a:p>
          <a:p>
            <a:pPr indent="-332422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35"/>
              <a:buChar char="○"/>
            </a:pPr>
            <a:r>
              <a:rPr b="1" lang="en" sz="1635">
                <a:solidFill>
                  <a:schemeClr val="dk1"/>
                </a:solidFill>
              </a:rPr>
              <a:t>Mutexes:</a:t>
            </a:r>
            <a:r>
              <a:rPr lang="en" sz="1635">
                <a:solidFill>
                  <a:schemeClr val="dk1"/>
                </a:solidFill>
              </a:rPr>
              <a:t> Routines that deal with synchronization, called a "mutex", which is an abbreviation for "mutual exclusion". Mutex functions provide for creating, destroying, locking and unlocking mutexes. </a:t>
            </a:r>
            <a:endParaRPr sz="1635">
              <a:solidFill>
                <a:schemeClr val="dk1"/>
              </a:solidFill>
            </a:endParaRPr>
          </a:p>
          <a:p>
            <a:pPr indent="-33242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35"/>
              <a:buChar char="○"/>
            </a:pPr>
            <a:r>
              <a:rPr b="1" lang="en" sz="1635">
                <a:solidFill>
                  <a:schemeClr val="dk1"/>
                </a:solidFill>
              </a:rPr>
              <a:t>Condition variables:</a:t>
            </a:r>
            <a:r>
              <a:rPr lang="en" sz="1635">
                <a:solidFill>
                  <a:schemeClr val="dk1"/>
                </a:solidFill>
              </a:rPr>
              <a:t> Routines that address communications between threads that share a mutex. Based upon programmer specified conditions. </a:t>
            </a:r>
            <a:endParaRPr sz="1635">
              <a:solidFill>
                <a:schemeClr val="dk1"/>
              </a:solidFill>
            </a:endParaRPr>
          </a:p>
          <a:p>
            <a:pPr indent="-33242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35"/>
              <a:buChar char="○"/>
            </a:pPr>
            <a:r>
              <a:rPr b="1" lang="en" sz="1635">
                <a:solidFill>
                  <a:schemeClr val="dk1"/>
                </a:solidFill>
              </a:rPr>
              <a:t>Synchronization:</a:t>
            </a:r>
            <a:r>
              <a:rPr lang="en" sz="1635">
                <a:solidFill>
                  <a:schemeClr val="dk1"/>
                </a:solidFill>
              </a:rPr>
              <a:t> Routines that manage read/write locks and barriers.     </a:t>
            </a:r>
            <a:endParaRPr sz="172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thread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pthread_attr_t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attr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*(*start_routine)(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*),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 success returns 0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 error, it returns error code</a:t>
            </a:r>
            <a:endParaRPr b="1" sz="1100"/>
          </a:p>
        </p:txBody>
      </p:sp>
      <p:sp>
        <p:nvSpPr>
          <p:cNvPr id="161" name="Google Shape;161;p27"/>
          <p:cNvSpPr txBox="1"/>
          <p:nvPr>
            <p:ph idx="2" type="body"/>
          </p:nvPr>
        </p:nvSpPr>
        <p:spPr>
          <a:xfrm>
            <a:off x="4311600" y="197825"/>
            <a:ext cx="4665000" cy="43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pthread_create </a:t>
            </a:r>
            <a:r>
              <a:rPr lang="en" sz="1300">
                <a:solidFill>
                  <a:schemeClr val="dk1"/>
                </a:solidFill>
              </a:rPr>
              <a:t>creates a new thread and makes it executable.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This routine can be called any number of times from anywhere within your code.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pthread_create arguments:</a:t>
            </a:r>
            <a:endParaRPr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8000"/>
              <a:buChar char="●"/>
            </a:pPr>
            <a:r>
              <a:rPr lang="en" sz="12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lang="en" sz="1300">
                <a:solidFill>
                  <a:schemeClr val="dk1"/>
                </a:solidFill>
              </a:rPr>
              <a:t>: A unique identifier for the new thread returned by the subroutine.</a:t>
            </a:r>
            <a:endParaRPr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000"/>
              <a:buChar char="●"/>
            </a:pPr>
            <a:r>
              <a:rPr lang="en" sz="12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attr</a:t>
            </a:r>
            <a:r>
              <a:rPr lang="en" sz="1300">
                <a:solidFill>
                  <a:schemeClr val="dk1"/>
                </a:solidFill>
              </a:rPr>
              <a:t>: You can specify a thread attributes object, or NULL for the default values.</a:t>
            </a:r>
            <a:endParaRPr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000"/>
              <a:buChar char="●"/>
            </a:pPr>
            <a:r>
              <a:rPr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start_routine</a:t>
            </a:r>
            <a:r>
              <a:rPr lang="en" sz="1300">
                <a:solidFill>
                  <a:schemeClr val="dk1"/>
                </a:solidFill>
              </a:rPr>
              <a:t>: The new thread starts execution by invoking this function</a:t>
            </a:r>
            <a:endParaRPr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000"/>
              <a:buChar char="●"/>
            </a:pPr>
            <a:r>
              <a:rPr lang="en" sz="12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arg</a:t>
            </a:r>
            <a:r>
              <a:rPr lang="en" sz="1300">
                <a:solidFill>
                  <a:schemeClr val="dk1"/>
                </a:solidFill>
              </a:rPr>
              <a:t>: A single argument that may be passed to </a:t>
            </a:r>
            <a:r>
              <a:rPr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start_routine</a:t>
            </a:r>
            <a:r>
              <a:rPr lang="en" sz="1300">
                <a:solidFill>
                  <a:schemeClr val="dk1"/>
                </a:solidFill>
              </a:rPr>
              <a:t>. </a:t>
            </a:r>
            <a:endParaRPr sz="1300">
              <a:solidFill>
                <a:schemeClr val="dk1"/>
              </a:solidFill>
            </a:endParaRPr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</a:rPr>
              <a:t>It must be passed by reference as a pointer cast of type void. </a:t>
            </a:r>
            <a:endParaRPr sz="1300">
              <a:solidFill>
                <a:schemeClr val="dk1"/>
              </a:solidFill>
            </a:endParaRPr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300">
                <a:solidFill>
                  <a:schemeClr val="dk1"/>
                </a:solidFill>
              </a:rPr>
              <a:t>NULL may be used if no argument is to be passed.   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thread</a:t>
            </a:r>
            <a:endParaRPr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pthread_attr_t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attr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*(*start_routine)(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*),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 success returns 0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 error, it returns error code</a:t>
            </a:r>
            <a:endParaRPr b="1" sz="1100"/>
          </a:p>
        </p:txBody>
      </p:sp>
      <p:sp>
        <p:nvSpPr>
          <p:cNvPr id="168" name="Google Shape;168;p28"/>
          <p:cNvSpPr txBox="1"/>
          <p:nvPr/>
        </p:nvSpPr>
        <p:spPr>
          <a:xfrm>
            <a:off x="3563875" y="2561725"/>
            <a:ext cx="5202000" cy="19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/*example*/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thread;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 =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func, &amp;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(r != 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perror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"pthread_create"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 termination</a:t>
            </a:r>
            <a:endParaRPr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137950" y="1152475"/>
            <a:ext cx="8694300" cy="38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 sz="2100"/>
              <a:t>The execution of a thread terminates in one of the following ways:</a:t>
            </a:r>
            <a:endParaRPr sz="2100"/>
          </a:p>
          <a:p>
            <a:pPr indent="-34194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The thread’s start function </a:t>
            </a:r>
            <a:r>
              <a:rPr lang="en" sz="2100"/>
              <a:t>performs a return specifying a </a:t>
            </a:r>
            <a:r>
              <a:rPr lang="en" sz="2100"/>
              <a:t>return value for the thread.</a:t>
            </a:r>
            <a:endParaRPr sz="2100"/>
          </a:p>
          <a:p>
            <a:pPr indent="-341947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nsolas"/>
              <a:buChar char="○"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eturn 0;//in func()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4761"/>
              <a:buChar char="●"/>
            </a:pPr>
            <a:r>
              <a:rPr lang="en" sz="2100"/>
              <a:t>The thread calls </a:t>
            </a:r>
            <a:r>
              <a:rPr b="1" lang="en" sz="13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pthread_exit()</a:t>
            </a:r>
            <a:endParaRPr b="1" sz="13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1466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ct val="100000"/>
              <a:buFont typeface="Consolas"/>
              <a:buChar char="○"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pthread_exit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3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retval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700">
              <a:latin typeface="Consolas"/>
              <a:ea typeface="Consolas"/>
              <a:cs typeface="Consolas"/>
              <a:sym typeface="Consolas"/>
            </a:endParaRPr>
          </a:p>
          <a:p>
            <a:pPr indent="-32035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700"/>
              <a:t>Terminates the calling thread</a:t>
            </a:r>
            <a:endParaRPr sz="1700"/>
          </a:p>
          <a:p>
            <a:pPr indent="-325755" lvl="2" marL="1371600" rtl="0" algn="l">
              <a:spcBef>
                <a:spcPts val="0"/>
              </a:spcBef>
              <a:spcAft>
                <a:spcPts val="0"/>
              </a:spcAft>
              <a:buSzPct val="133333"/>
              <a:buChar char="■"/>
            </a:pPr>
            <a:r>
              <a:rPr b="1" lang="en" sz="13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retval</a:t>
            </a:r>
            <a:r>
              <a:rPr lang="en" sz="13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/>
              <a:t>specifies the return value of the thread</a:t>
            </a:r>
            <a:endParaRPr sz="1700"/>
          </a:p>
          <a:p>
            <a:pPr indent="-32035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700"/>
              <a:t>This value is available to another thread in the same process that calls  </a:t>
            </a:r>
            <a:r>
              <a:rPr b="1" lang="en" sz="1700">
                <a:latin typeface="Consolas"/>
                <a:ea typeface="Consolas"/>
                <a:cs typeface="Consolas"/>
                <a:sym typeface="Consolas"/>
              </a:rPr>
              <a:t>pthread_join()</a:t>
            </a:r>
            <a:endParaRPr b="1" sz="1700">
              <a:latin typeface="Consolas"/>
              <a:ea typeface="Consolas"/>
              <a:cs typeface="Consolas"/>
              <a:sym typeface="Consolas"/>
            </a:endParaRPr>
          </a:p>
          <a:p>
            <a:pPr indent="-325755" lvl="2" marL="1371600" rtl="0" algn="l">
              <a:spcBef>
                <a:spcPts val="0"/>
              </a:spcBef>
              <a:spcAft>
                <a:spcPts val="0"/>
              </a:spcAft>
              <a:buSzPct val="133333"/>
              <a:buChar char="■"/>
            </a:pPr>
            <a:r>
              <a:rPr b="1" lang="en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retval</a:t>
            </a:r>
            <a:r>
              <a:rPr lang="en" sz="13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700"/>
              <a:t>should point to the heap not to the stack! </a:t>
            </a:r>
            <a:endParaRPr b="1" sz="2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termination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152475"/>
            <a:ext cx="85206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multithreaded process terminates when: </a:t>
            </a:r>
            <a:endParaRPr>
              <a:solidFill>
                <a:schemeClr val="dk1"/>
              </a:solidFill>
            </a:endParaRPr>
          </a:p>
          <a:p>
            <a:pPr indent="-34734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one of its threads calls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exit();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the main thread (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main() </a:t>
            </a:r>
            <a:r>
              <a:rPr lang="en">
                <a:solidFill>
                  <a:schemeClr val="dk1"/>
                </a:solidFill>
              </a:rPr>
              <a:t>function) performs 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it receives a termination signal </a:t>
            </a:r>
            <a:endParaRPr>
              <a:solidFill>
                <a:schemeClr val="dk1"/>
              </a:solidFill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all threads have called pthread_exit()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If main() calls pthread_exit() before other threads, the other threads continue to execute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and terminating threads</a:t>
            </a:r>
            <a:endParaRPr/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197825" y="1017725"/>
            <a:ext cx="4113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b="1" sz="12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b="1" sz="12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NUM_THREADS    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1" sz="12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printHello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threadid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tid;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tid = 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)threadid;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"Hello! thread #%ld!</a:t>
            </a:r>
            <a:r>
              <a:rPr b="1" lang="en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tid);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pthread_exit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187" name="Google Shape;187;p31"/>
          <p:cNvSpPr txBox="1"/>
          <p:nvPr/>
        </p:nvSpPr>
        <p:spPr>
          <a:xfrm>
            <a:off x="3914150" y="975600"/>
            <a:ext cx="5171700" cy="3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argc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threads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[NUM_THREADS];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rc;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(t = 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t &lt; NUM_THREADS; t++)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"In main: creating thread %ld</a:t>
            </a:r>
            <a:r>
              <a:rPr b="1" lang="en" sz="12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t);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rc =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threads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[t],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printHello, 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*)t);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(rc)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"ERROR; ret val:  %d</a:t>
            </a:r>
            <a:r>
              <a:rPr b="1" lang="en" sz="12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rc);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(-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Last thing that main() should do 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pthread_exit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264125" y="338050"/>
            <a:ext cx="71997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Initially, your main() program comprises a single, default thread. All other threads must be explicitly created by the programmer.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Once created, threads are peers, and may create other threads. There is no implied hierarchy or dependency between threads.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3375" y="2089525"/>
            <a:ext cx="6500025" cy="290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threaded programs</a:t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</a:t>
            </a:r>
            <a:r>
              <a:rPr lang="en"/>
              <a:t>multi-thread</a:t>
            </a:r>
            <a:r>
              <a:rPr lang="en"/>
              <a:t> programming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★"/>
            </a:pPr>
            <a:r>
              <a:rPr lang="en"/>
              <a:t>The program</a:t>
            </a:r>
            <a:r>
              <a:rPr lang="en"/>
              <a:t> must be organized into discrete, independent tasks which can execute concurrently.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For example,</a:t>
            </a:r>
            <a:r>
              <a:rPr lang="en"/>
              <a:t> if </a:t>
            </a:r>
            <a:r>
              <a:rPr b="1" lang="en"/>
              <a:t>routine1</a:t>
            </a:r>
            <a:r>
              <a:rPr lang="en"/>
              <a:t> and </a:t>
            </a:r>
            <a:r>
              <a:rPr b="1" lang="en"/>
              <a:t>routine2</a:t>
            </a:r>
            <a:r>
              <a:rPr lang="en"/>
              <a:t> can be interchanged, interleaved and/or overlapped in real time, they are candidates for threading. </a:t>
            </a:r>
            <a:endParaRPr/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5625" y="1106425"/>
            <a:ext cx="4646675" cy="3278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Shared memory model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threads have access to the same global, shared memory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Threads also have their own private data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Programmers are responsible for synchronizing access (protecting) globally shared data.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2825" y="508699"/>
            <a:ext cx="4220275" cy="359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 safeness</a:t>
            </a:r>
            <a:endParaRPr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311700" y="1152475"/>
            <a:ext cx="85206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an application’s ability to execute multiple threads simultaneously without “clobbering” shared data or creating “race” conditions</a:t>
            </a:r>
            <a:endParaRPr/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525" y="1925875"/>
            <a:ext cx="634365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Passing arguments to threads</a:t>
            </a:r>
            <a:endParaRPr/>
          </a:p>
        </p:txBody>
      </p:sp>
      <p:sp>
        <p:nvSpPr>
          <p:cNvPr id="220" name="Google Shape;220;p36"/>
          <p:cNvSpPr txBox="1"/>
          <p:nvPr/>
        </p:nvSpPr>
        <p:spPr>
          <a:xfrm>
            <a:off x="381525" y="1171675"/>
            <a:ext cx="8520600" cy="3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taskids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[NUM_THREADS];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(t=</a:t>
            </a:r>
            <a:r>
              <a:rPr b="1" lang="en" sz="14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t&lt;NUM_THREADS; t++){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4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taskids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[t] = t;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4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"Creating thread %ld</a:t>
            </a:r>
            <a:r>
              <a:rPr b="1" lang="en" sz="14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t);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rc = </a:t>
            </a:r>
            <a:r>
              <a:rPr b="1" lang="en" sz="14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4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threads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[t], </a:t>
            </a:r>
            <a:r>
              <a:rPr b="1" lang="en" sz="14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,printHello, (</a:t>
            </a:r>
            <a:r>
              <a:rPr b="1" lang="en" sz="14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*)&amp;</a:t>
            </a:r>
            <a:r>
              <a:rPr b="1" lang="en" sz="14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taskids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[t]);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Passing multiple arguments</a:t>
            </a:r>
            <a:endParaRPr/>
          </a:p>
        </p:txBody>
      </p:sp>
      <p:sp>
        <p:nvSpPr>
          <p:cNvPr id="226" name="Google Shape;226;p37"/>
          <p:cNvSpPr txBox="1"/>
          <p:nvPr/>
        </p:nvSpPr>
        <p:spPr>
          <a:xfrm>
            <a:off x="152400" y="1066800"/>
            <a:ext cx="4750800" cy="3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thread_data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thread_data_array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[NUM_THREADS];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printHello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threadarg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thread_data *my_data;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my_data = 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thread_data *) threadarg;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taskid =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my_data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thread_id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sum =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my_data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hello_msg =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my_data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7" name="Google Shape;227;p37"/>
          <p:cNvSpPr txBox="1"/>
          <p:nvPr/>
        </p:nvSpPr>
        <p:spPr>
          <a:xfrm>
            <a:off x="4572000" y="1300000"/>
            <a:ext cx="4750800" cy="3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argc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thread_data_array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[t].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thread_id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t;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hread_data_array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[t].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sum;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thread_data_array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[t].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messages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[t];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rc =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threads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[t],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printHello, 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*) &amp;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thread_data_array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[t]);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wrong with this code?</a:t>
            </a:r>
            <a:endParaRPr/>
          </a:p>
        </p:txBody>
      </p:sp>
      <p:sp>
        <p:nvSpPr>
          <p:cNvPr id="233" name="Google Shape;233;p38"/>
          <p:cNvSpPr txBox="1"/>
          <p:nvPr/>
        </p:nvSpPr>
        <p:spPr>
          <a:xfrm>
            <a:off x="664125" y="1206425"/>
            <a:ext cx="8096700" cy="28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rc;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t;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(t=</a:t>
            </a:r>
            <a:r>
              <a:rPr b="1" lang="en" sz="14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t&lt;NUM_THREADS; t++) {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4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"Creating thread %ld</a:t>
            </a:r>
            <a:r>
              <a:rPr b="1" lang="en" sz="14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t);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rc = </a:t>
            </a:r>
            <a:r>
              <a:rPr b="1" lang="en" sz="14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4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threads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[t], </a:t>
            </a:r>
            <a:r>
              <a:rPr b="1" lang="en" sz="14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printHello, (</a:t>
            </a:r>
            <a:r>
              <a:rPr b="1" lang="en" sz="14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*) &amp;t);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4" name="Google Shape;234;p38"/>
          <p:cNvSpPr txBox="1"/>
          <p:nvPr/>
        </p:nvSpPr>
        <p:spPr>
          <a:xfrm>
            <a:off x="456725" y="4152725"/>
            <a:ext cx="83757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333333"/>
                </a:solidFill>
                <a:highlight>
                  <a:srgbClr val="FFFFFF"/>
                </a:highlight>
              </a:rPr>
              <a:t>A</a:t>
            </a:r>
            <a:r>
              <a:rPr b="1" lang="en" sz="1350">
                <a:solidFill>
                  <a:srgbClr val="333333"/>
                </a:solidFill>
                <a:highlight>
                  <a:srgbClr val="FFFFFF"/>
                </a:highlight>
              </a:rPr>
              <a:t>rgument passing incorrect:</a:t>
            </a: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</a:rPr>
              <a:t> It passes the address of variable </a:t>
            </a:r>
            <a:r>
              <a:rPr lang="en" sz="125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</a:rPr>
              <a:t>, which is shared memory space and visible to all threads. As the loop iterates, the value of this memory location changes, possibly before the created threads can access it.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Joining threads (similar to “waitpid”)</a:t>
            </a:r>
            <a:endParaRPr/>
          </a:p>
        </p:txBody>
      </p:sp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187225" y="1152475"/>
            <a:ext cx="4124400" cy="38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"Joining" is one way to accomplish synchronization between threads.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threadid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**</a:t>
            </a:r>
            <a:r>
              <a:rPr b="1" lang="en" sz="13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retval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</a:t>
            </a:r>
            <a:r>
              <a:rPr b="1" lang="en"/>
              <a:t>pthread_join()</a:t>
            </a:r>
            <a:r>
              <a:rPr lang="en"/>
              <a:t> subroutine blocks the calling thread until the specified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threadid</a:t>
            </a:r>
            <a:r>
              <a:rPr lang="en"/>
              <a:t> thread terminates.  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If</a:t>
            </a:r>
            <a:r>
              <a:rPr lang="en" sz="10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r</a:t>
            </a:r>
            <a:r>
              <a:rPr lang="en" sz="10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etval </a:t>
            </a:r>
            <a:r>
              <a:rPr lang="en"/>
              <a:t> is not NULL, it points to a copy of terminated thread’s return value</a:t>
            </a:r>
            <a:r>
              <a:rPr lang="en" sz="10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/>
              <a:t>or the value </a:t>
            </a:r>
            <a:r>
              <a:rPr lang="en"/>
              <a:t>specified in  </a:t>
            </a:r>
            <a:r>
              <a:rPr b="1" lang="en"/>
              <a:t>pthread_exit()</a:t>
            </a:r>
            <a:r>
              <a:rPr lang="en"/>
              <a:t>. </a:t>
            </a:r>
            <a:endParaRPr/>
          </a:p>
        </p:txBody>
      </p:sp>
      <p:sp>
        <p:nvSpPr>
          <p:cNvPr id="241" name="Google Shape;241;p39"/>
          <p:cNvSpPr txBox="1"/>
          <p:nvPr>
            <p:ph idx="2" type="body"/>
          </p:nvPr>
        </p:nvSpPr>
        <p:spPr>
          <a:xfrm>
            <a:off x="4832400" y="1017725"/>
            <a:ext cx="3999900" cy="35511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accent6"/>
                </a:highlight>
              </a:rPr>
              <a:t>Any thread in a process can use </a:t>
            </a:r>
            <a:r>
              <a:rPr b="1" lang="en" sz="1600">
                <a:solidFill>
                  <a:schemeClr val="dk1"/>
                </a:solidFill>
                <a:highlight>
                  <a:schemeClr val="accent6"/>
                </a:highlight>
              </a:rPr>
              <a:t>pthread_join() </a:t>
            </a:r>
            <a:r>
              <a:rPr lang="en" sz="1600">
                <a:solidFill>
                  <a:schemeClr val="dk1"/>
                </a:solidFill>
                <a:highlight>
                  <a:schemeClr val="accent6"/>
                </a:highlight>
              </a:rPr>
              <a:t>to join with any other thread in the process (there is no </a:t>
            </a:r>
            <a:r>
              <a:rPr lang="en" sz="1600">
                <a:solidFill>
                  <a:schemeClr val="dk1"/>
                </a:solidFill>
                <a:highlight>
                  <a:schemeClr val="accent6"/>
                </a:highlight>
              </a:rPr>
              <a:t>hierarchy</a:t>
            </a:r>
            <a:r>
              <a:rPr lang="en" sz="1600">
                <a:solidFill>
                  <a:schemeClr val="dk1"/>
                </a:solidFill>
                <a:highlight>
                  <a:schemeClr val="accent6"/>
                </a:highlight>
              </a:rPr>
              <a:t>).</a:t>
            </a:r>
            <a:endParaRPr sz="16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845" y="2831875"/>
            <a:ext cx="4579975" cy="156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Detaching Threads</a:t>
            </a:r>
            <a:endParaRPr/>
          </a:p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206925" y="1152475"/>
            <a:ext cx="4104600" cy="38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By default, a thread is joinable</a:t>
            </a:r>
            <a:endParaRPr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when it terminates, another thread can obtain its return status using </a:t>
            </a:r>
            <a:r>
              <a:rPr b="1" lang="en"/>
              <a:t>pthread_join()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we don’t care about return value and want the system to cleanup the resources on termination, we mark thread as </a:t>
            </a:r>
            <a:r>
              <a:rPr b="1" lang="en"/>
              <a:t>detached.</a:t>
            </a:r>
            <a:endParaRPr b="1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Once the thread is detached, it is no longer possible to use pthread_join() to obtain its status</a:t>
            </a:r>
            <a:endParaRPr/>
          </a:p>
        </p:txBody>
      </p:sp>
      <p:sp>
        <p:nvSpPr>
          <p:cNvPr id="249" name="Google Shape;249;p40"/>
          <p:cNvSpPr txBox="1"/>
          <p:nvPr>
            <p:ph idx="2" type="body"/>
          </p:nvPr>
        </p:nvSpPr>
        <p:spPr>
          <a:xfrm>
            <a:off x="4727700" y="1152475"/>
            <a:ext cx="4104600" cy="3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rgbClr val="0000F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5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pthread_detach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108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108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0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thread:</a:t>
            </a:r>
            <a:r>
              <a:rPr lang="en">
                <a:solidFill>
                  <a:schemeClr val="dk1"/>
                </a:solidFill>
              </a:rPr>
              <a:t>target thread id </a:t>
            </a:r>
            <a:endParaRPr sz="10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Thread resources can be reclaimed on termination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Returns 0 on success error code on failure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this will explicitly detach a thread even though it is created as joinable.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/>
              <a:t>Miscellaneous Routines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1"/>
          <p:cNvSpPr txBox="1"/>
          <p:nvPr>
            <p:ph idx="1" type="body"/>
          </p:nvPr>
        </p:nvSpPr>
        <p:spPr>
          <a:xfrm>
            <a:off x="311700" y="1152475"/>
            <a:ext cx="361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pthread_self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returns the thread ID of the calling thread.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1"/>
          <p:cNvSpPr txBox="1"/>
          <p:nvPr>
            <p:ph idx="2" type="body"/>
          </p:nvPr>
        </p:nvSpPr>
        <p:spPr>
          <a:xfrm>
            <a:off x="3928200" y="1152475"/>
            <a:ext cx="515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48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48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48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pthread_equal</a:t>
            </a:r>
            <a:r>
              <a:rPr b="1" lang="en" sz="1348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48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348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4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t1</a:t>
            </a:r>
            <a:r>
              <a:rPr b="1" lang="en" sz="1348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48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348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4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t2</a:t>
            </a:r>
            <a:r>
              <a:rPr b="1" lang="en" sz="1348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48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95"/>
          </a:p>
          <a:p>
            <a:pPr indent="-317182" lvl="0" marL="45720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395"/>
              <a:buChar char="●"/>
            </a:pPr>
            <a:r>
              <a:rPr lang="en" sz="1395"/>
              <a:t>compares the thread IDs t1 and t2.</a:t>
            </a:r>
            <a:endParaRPr sz="1395"/>
          </a:p>
          <a:p>
            <a:pPr indent="-317182" lvl="0" marL="45720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395"/>
              <a:buChar char="●"/>
            </a:pPr>
            <a:r>
              <a:rPr lang="en" sz="1395"/>
              <a:t>returns a non-zero value if t1 and t2 are equal; otherwise, zero shall be returned.</a:t>
            </a:r>
            <a:endParaRPr sz="1395"/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1395"/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95"/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95"/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395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Threads-summary</a:t>
            </a:r>
            <a:endParaRPr/>
          </a:p>
        </p:txBody>
      </p:sp>
      <p:sp>
        <p:nvSpPr>
          <p:cNvPr id="262" name="Google Shape;262;p42"/>
          <p:cNvSpPr txBox="1"/>
          <p:nvPr>
            <p:ph idx="1" type="body"/>
          </p:nvPr>
        </p:nvSpPr>
        <p:spPr>
          <a:xfrm>
            <a:off x="311700" y="1152475"/>
            <a:ext cx="464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Exists within a process and uses the process resources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Has its own independent flow of control as long as its parent-process exists and the OS supports it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Duplicates only the essential resources it needs to be independently schedulable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May share the process resources with other threads that act equally independently (and dependently)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Dies if the parent process dies - or something similar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 sz="1200"/>
              <a:t>Is "lightweight" because most of the overhead has already been accomplished through the creation of its process</a:t>
            </a:r>
            <a:endParaRPr sz="1200"/>
          </a:p>
        </p:txBody>
      </p:sp>
      <p:sp>
        <p:nvSpPr>
          <p:cNvPr id="263" name="Google Shape;263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Because threads within the same process share resources:</a:t>
            </a:r>
            <a:endParaRPr/>
          </a:p>
          <a:p>
            <a:pPr indent="-293211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666"/>
              <a:buChar char="○"/>
            </a:pPr>
            <a:r>
              <a:rPr lang="en"/>
              <a:t>Changes made by one thread to shared system resources (such as closing a file) will be seen by all other threads.</a:t>
            </a:r>
            <a:endParaRPr/>
          </a:p>
          <a:p>
            <a:pPr indent="-293211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666"/>
              <a:buChar char="○"/>
            </a:pPr>
            <a:r>
              <a:rPr lang="en"/>
              <a:t>Two pointers having the same value point to the same data.</a:t>
            </a:r>
            <a:endParaRPr/>
          </a:p>
          <a:p>
            <a:pPr indent="-293211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Char char="○"/>
            </a:pPr>
            <a:r>
              <a:rPr lang="en"/>
              <a:t>Reading and writing to the same memory locations is possible, and therefore requires explicit synchronization by the programmer.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