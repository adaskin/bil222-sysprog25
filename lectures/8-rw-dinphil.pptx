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7f82380596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f8238059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7f8238059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7f8238059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7f82380596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7f82380596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4851dc2e6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4851dc2e6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f82380596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f82380596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f82380596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f82380596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f82380596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f82380596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7f8238059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7f8238059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7f82380596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7f82380596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7f82380596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7f82380596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7f82380596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7f82380596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7f82380596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f82380596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7f82380596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f82380596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7f82380596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7f8238059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7f8238059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f8238059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7f82380596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f82380596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7f82380596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f82380596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7f82380596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7f82380596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7f82380596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f82380596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7f82380596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f82380596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7f82380596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7f82380596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7f823805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7f823805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7f823805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7f823805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7f823805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7f823805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7f8238059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7f8238059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7f8238059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7f8238059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7f8238059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7f8238059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f8238059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7f8238059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7f8238059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7f8238059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1bfa3d58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1bfa3d58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7f8238059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7f8238059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d3ba3fe205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d3ba3fe205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7f8238059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7f823805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7f8238059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7f8238059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d3ba3fe205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d3ba3fe205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7f8238059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7f8238059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7f8238059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7f8238059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7f8238059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7f8238059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7f8238059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7f8238059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152100" y="4839550"/>
            <a:ext cx="945300" cy="293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152100" y="4839550"/>
            <a:ext cx="945300" cy="2934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r>
              <a:rPr lang="en"/>
              <a:t>@adaskin</a:t>
            </a: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linux.die.net/man/3/pthread_cond_wait" TargetMode="External"/><Relationship Id="rId4" Type="http://schemas.openxmlformats.org/officeDocument/2006/relationships/hyperlink" Target="https://linux.die.net/man/3/pthread_cond_signal" TargetMode="External"/><Relationship Id="rId5" Type="http://schemas.openxmlformats.org/officeDocument/2006/relationships/hyperlink" Target="https://linux.die.net/man/3/pthread_cond_broadcas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linux.die.net/man/3/pthread_cond_signa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en.wikipedia.org/wiki/Deadlock#Individually_necessary_and_jointly_sufficient_conditions_for_deadlock"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hyperlink" Target="https://en.wikipedia.org/wiki/Banker%27s_algorith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Synchronization</a:t>
            </a:r>
            <a:r>
              <a:rPr lang="en"/>
              <a:t> &amp; deadlock</a:t>
            </a:r>
            <a:endParaRPr/>
          </a:p>
        </p:txBody>
      </p:sp>
      <p:sp>
        <p:nvSpPr>
          <p:cNvPr id="55" name="Google Shape;55;p1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examples</a:t>
            </a:r>
            <a:endParaRPr/>
          </a:p>
        </p:txBody>
      </p:sp>
      <p:sp>
        <p:nvSpPr>
          <p:cNvPr id="56" name="Google Shape;56;p1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Reader-writer problem </a:t>
            </a:r>
            <a:endParaRPr/>
          </a:p>
          <a:p>
            <a:pPr indent="-342900" lvl="0" marL="457200" rtl="0" algn="l">
              <a:spcBef>
                <a:spcPts val="0"/>
              </a:spcBef>
              <a:spcAft>
                <a:spcPts val="0"/>
              </a:spcAft>
              <a:buSzPts val="1800"/>
              <a:buChar char="●"/>
            </a:pPr>
            <a:r>
              <a:rPr lang="en"/>
              <a:t>Review of producer-consumer problem</a:t>
            </a:r>
            <a:endParaRPr/>
          </a:p>
          <a:p>
            <a:pPr indent="-342900" lvl="0" marL="457200" rtl="0" algn="l">
              <a:spcBef>
                <a:spcPts val="0"/>
              </a:spcBef>
              <a:spcAft>
                <a:spcPts val="0"/>
              </a:spcAft>
              <a:buSzPts val="1800"/>
              <a:buChar char="●"/>
            </a:pPr>
            <a:r>
              <a:rPr lang="en"/>
              <a:t>Ring buffer (queue) implementation with condition variables &amp; semaphores</a:t>
            </a:r>
            <a:endParaRPr/>
          </a:p>
          <a:p>
            <a:pPr indent="-342900" lvl="0" marL="457200" rtl="0" algn="l">
              <a:spcBef>
                <a:spcPts val="0"/>
              </a:spcBef>
              <a:spcAft>
                <a:spcPts val="0"/>
              </a:spcAft>
              <a:buSzPts val="1800"/>
              <a:buChar char="●"/>
            </a:pPr>
            <a:r>
              <a:rPr lang="en"/>
              <a:t>Deadlock, livelock</a:t>
            </a:r>
            <a:endParaRPr/>
          </a:p>
          <a:p>
            <a:pPr indent="-342900" lvl="0" marL="457200" rtl="0" algn="l">
              <a:spcBef>
                <a:spcPts val="0"/>
              </a:spcBef>
              <a:spcAft>
                <a:spcPts val="0"/>
              </a:spcAft>
              <a:buSzPts val="1800"/>
              <a:buChar char="●"/>
            </a:pPr>
            <a:r>
              <a:rPr lang="en"/>
              <a:t>Dining philosopher problem &amp; different solutions</a:t>
            </a:r>
            <a:endParaRPr/>
          </a:p>
          <a:p>
            <a:pPr indent="0" lvl="0" marL="0" rtl="0" algn="l">
              <a:spcBef>
                <a:spcPts val="1600"/>
              </a:spcBef>
              <a:spcAft>
                <a:spcPts val="16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Reader-writer problem	</a:t>
            </a:r>
            <a:endParaRPr/>
          </a:p>
        </p:txBody>
      </p:sp>
      <p:sp>
        <p:nvSpPr>
          <p:cNvPr id="62" name="Google Shape;62;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Readers: </a:t>
            </a:r>
            <a:r>
              <a:rPr lang="en"/>
              <a:t>only reads the data and does not update/change the data</a:t>
            </a:r>
            <a:endParaRPr/>
          </a:p>
          <a:p>
            <a:pPr indent="0" lvl="0" marL="0" rtl="0" algn="l">
              <a:spcBef>
                <a:spcPts val="1600"/>
              </a:spcBef>
              <a:spcAft>
                <a:spcPts val="0"/>
              </a:spcAft>
              <a:buNone/>
            </a:pPr>
            <a:r>
              <a:rPr b="1" lang="en"/>
              <a:t>Writers:</a:t>
            </a:r>
            <a:r>
              <a:rPr lang="en"/>
              <a:t> both reads and writes the data</a:t>
            </a:r>
            <a:endParaRPr/>
          </a:p>
          <a:p>
            <a:pPr indent="-342900" lvl="0" marL="457200" rtl="0" algn="l">
              <a:spcBef>
                <a:spcPts val="1600"/>
              </a:spcBef>
              <a:spcAft>
                <a:spcPts val="0"/>
              </a:spcAft>
              <a:buSzPts val="1800"/>
              <a:buChar char="●"/>
            </a:pPr>
            <a:r>
              <a:rPr lang="en" sz="1800"/>
              <a:t>allow multiple readers to access the data at the same time when there is no writing.</a:t>
            </a:r>
            <a:endParaRPr sz="1800"/>
          </a:p>
          <a:p>
            <a:pPr indent="-342900" lvl="0" marL="457200" rtl="0" algn="l">
              <a:spcBef>
                <a:spcPts val="0"/>
              </a:spcBef>
              <a:spcAft>
                <a:spcPts val="1600"/>
              </a:spcAft>
              <a:buSzPts val="1800"/>
              <a:buChar char="●"/>
            </a:pPr>
            <a:r>
              <a:rPr lang="en" sz="1800"/>
              <a:t>To avoid data corruption, only one thread at a time may modify (write) the data structure and no readers may be reading at that time.</a:t>
            </a:r>
            <a:endParaRPr/>
          </a:p>
        </p:txBody>
      </p:sp>
      <p:sp>
        <p:nvSpPr>
          <p:cNvPr id="63" name="Google Shape;63;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Problem:</a:t>
            </a:r>
            <a:r>
              <a:rPr lang="en" sz="1800"/>
              <a:t> how can we efficiently synchronize multiple readers and writers such that multiple readers can read together, but a writer gets exclusive access?</a:t>
            </a:r>
            <a:endParaRPr b="1" sz="1800"/>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attempt with mutex</a:t>
            </a:r>
            <a:endParaRPr/>
          </a:p>
        </p:txBody>
      </p:sp>
      <p:sp>
        <p:nvSpPr>
          <p:cNvPr id="69" name="Google Shape;69;p1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read</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do read stuff</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write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do write stuff</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solidFill>
                <a:srgbClr val="8959A8"/>
              </a:solidFill>
              <a:highlight>
                <a:srgbClr val="FFFFFF"/>
              </a:highlight>
              <a:latin typeface="Consolas"/>
              <a:ea typeface="Consolas"/>
              <a:cs typeface="Consolas"/>
              <a:sym typeface="Consolas"/>
            </a:endParaRPr>
          </a:p>
        </p:txBody>
      </p:sp>
      <p:sp>
        <p:nvSpPr>
          <p:cNvPr id="70" name="Google Shape;70;p1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No data corruption!</a:t>
            </a:r>
            <a:endParaRPr/>
          </a:p>
          <a:p>
            <a:pPr indent="-317500" lvl="0" marL="457200" rtl="0" algn="l">
              <a:spcBef>
                <a:spcPts val="0"/>
              </a:spcBef>
              <a:spcAft>
                <a:spcPts val="0"/>
              </a:spcAft>
              <a:buSzPts val="1400"/>
              <a:buChar char="●"/>
            </a:pPr>
            <a:r>
              <a:rPr lang="en"/>
              <a:t>But, only one reader can access the data. Readers wait for other readers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 attempt</a:t>
            </a:r>
            <a:endParaRPr/>
          </a:p>
        </p:txBody>
      </p:sp>
      <p:sp>
        <p:nvSpPr>
          <p:cNvPr id="76" name="Google Shape;76;p1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read</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while</a:t>
            </a:r>
            <a:r>
              <a:rPr b="1" lang="en" sz="1200">
                <a:solidFill>
                  <a:schemeClr val="dk1"/>
                </a:solidFill>
                <a:highlight>
                  <a:srgbClr val="FFFFFF"/>
                </a:highlight>
                <a:latin typeface="Consolas"/>
                <a:ea typeface="Consolas"/>
                <a:cs typeface="Consolas"/>
                <a:sym typeface="Consolas"/>
              </a:rPr>
              <a:t>(writing) {</a:t>
            </a:r>
            <a:r>
              <a:rPr b="1" lang="en" sz="1200">
                <a:solidFill>
                  <a:srgbClr val="008000"/>
                </a:solidFill>
                <a:highlight>
                  <a:srgbClr val="FFFFFF"/>
                </a:highlight>
                <a:latin typeface="Consolas"/>
                <a:ea typeface="Consolas"/>
                <a:cs typeface="Consolas"/>
                <a:sym typeface="Consolas"/>
              </a:rPr>
              <a:t>/*spin*/</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reading = </a:t>
            </a:r>
            <a:r>
              <a:rPr b="1" lang="en" sz="1200">
                <a:solidFill>
                  <a:srgbClr val="098658"/>
                </a:solidFill>
                <a:highlight>
                  <a:srgbClr val="FFFFFF"/>
                </a:highlight>
                <a:latin typeface="Consolas"/>
                <a:ea typeface="Consolas"/>
                <a:cs typeface="Consolas"/>
                <a:sym typeface="Consolas"/>
              </a:rPr>
              <a:t>1</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do read stuff</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reading = </a:t>
            </a:r>
            <a:r>
              <a:rPr b="1" lang="en" sz="1200">
                <a:solidFill>
                  <a:srgbClr val="098658"/>
                </a:solidFill>
                <a:highlight>
                  <a:srgbClr val="FFFFFF"/>
                </a:highlight>
                <a:latin typeface="Consolas"/>
                <a:ea typeface="Consolas"/>
                <a:cs typeface="Consolas"/>
                <a:sym typeface="Consolas"/>
              </a:rPr>
              <a:t>0</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write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while</a:t>
            </a:r>
            <a:r>
              <a:rPr b="1" lang="en" sz="1200">
                <a:solidFill>
                  <a:schemeClr val="dk1"/>
                </a:solidFill>
                <a:highlight>
                  <a:srgbClr val="FFFFFF"/>
                </a:highlight>
                <a:latin typeface="Consolas"/>
                <a:ea typeface="Consolas"/>
                <a:cs typeface="Consolas"/>
                <a:sym typeface="Consolas"/>
              </a:rPr>
              <a:t>(reading || writing) {</a:t>
            </a:r>
            <a:r>
              <a:rPr b="1" lang="en" sz="1200">
                <a:solidFill>
                  <a:srgbClr val="008000"/>
                </a:solidFill>
                <a:highlight>
                  <a:srgbClr val="FFFFFF"/>
                </a:highlight>
                <a:latin typeface="Consolas"/>
                <a:ea typeface="Consolas"/>
                <a:cs typeface="Consolas"/>
                <a:sym typeface="Consolas"/>
              </a:rPr>
              <a:t>/*spin*/</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writing = </a:t>
            </a:r>
            <a:r>
              <a:rPr b="1" lang="en" sz="1200">
                <a:solidFill>
                  <a:srgbClr val="098658"/>
                </a:solidFill>
                <a:highlight>
                  <a:srgbClr val="FFFFFF"/>
                </a:highlight>
                <a:latin typeface="Consolas"/>
                <a:ea typeface="Consolas"/>
                <a:cs typeface="Consolas"/>
                <a:sym typeface="Consolas"/>
              </a:rPr>
              <a:t>1</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do write stuff</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writing = </a:t>
            </a:r>
            <a:r>
              <a:rPr b="1" lang="en" sz="1200">
                <a:solidFill>
                  <a:srgbClr val="098658"/>
                </a:solidFill>
                <a:highlight>
                  <a:srgbClr val="FFFFFF"/>
                </a:highlight>
                <a:latin typeface="Consolas"/>
                <a:ea typeface="Consolas"/>
                <a:cs typeface="Consolas"/>
                <a:sym typeface="Consolas"/>
              </a:rPr>
              <a:t>0</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200">
              <a:solidFill>
                <a:srgbClr val="8959A8"/>
              </a:solidFill>
              <a:highlight>
                <a:srgbClr val="FFFFFF"/>
              </a:highlight>
              <a:latin typeface="Consolas"/>
              <a:ea typeface="Consolas"/>
              <a:cs typeface="Consolas"/>
              <a:sym typeface="Consolas"/>
            </a:endParaRPr>
          </a:p>
        </p:txBody>
      </p:sp>
      <p:sp>
        <p:nvSpPr>
          <p:cNvPr id="77" name="Google Shape;77;p1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Race condition: multiple readers and the writers at the same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condition variables</a:t>
            </a:r>
            <a:endParaRPr/>
          </a:p>
        </p:txBody>
      </p:sp>
      <p:sp>
        <p:nvSpPr>
          <p:cNvPr id="83" name="Google Shape;83;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t>Condition ok to read</a:t>
            </a:r>
            <a:endParaRPr b="1"/>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None/>
            </a:pPr>
            <a:r>
              <a:rPr lang="en"/>
              <a:t>Readers can access/read when no writers </a:t>
            </a:r>
            <a:endParaRPr/>
          </a:p>
          <a:p>
            <a:pPr indent="0" lvl="0" marL="0" rtl="0" algn="l">
              <a:lnSpc>
                <a:spcPct val="100000"/>
              </a:lnSpc>
              <a:spcBef>
                <a:spcPts val="0"/>
              </a:spcBef>
              <a:spcAft>
                <a:spcPts val="0"/>
              </a:spcAft>
              <a:buNone/>
            </a:pPr>
            <a:r>
              <a:t/>
            </a:r>
            <a:endParaRPr/>
          </a:p>
          <a:p>
            <a:pPr indent="0" lvl="0" marL="0" rtl="0" algn="l">
              <a:spcBef>
                <a:spcPts val="0"/>
              </a:spcBef>
              <a:spcAft>
                <a:spcPts val="1600"/>
              </a:spcAft>
              <a:buNone/>
            </a:pPr>
            <a:r>
              <a:t/>
            </a:r>
            <a:endParaRPr/>
          </a:p>
        </p:txBody>
      </p:sp>
      <p:sp>
        <p:nvSpPr>
          <p:cNvPr id="84" name="Google Shape;84;p17"/>
          <p:cNvSpPr txBox="1"/>
          <p:nvPr>
            <p:ph idx="2" type="body"/>
          </p:nvPr>
        </p:nvSpPr>
        <p:spPr>
          <a:xfrm>
            <a:off x="4680550" y="1152475"/>
            <a:ext cx="4151700" cy="1210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t>Condition ok to write</a:t>
            </a:r>
            <a:endParaRPr b="1"/>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Writers can access/update/write when no readers or writers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5" name="Google Shape;85;p17"/>
          <p:cNvSpPr txBox="1"/>
          <p:nvPr/>
        </p:nvSpPr>
        <p:spPr>
          <a:xfrm>
            <a:off x="1250475" y="3206000"/>
            <a:ext cx="73686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Only one thread should manipulate state variables (reading, writing) at a time.</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Critical section</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99950"/>
            <a:ext cx="4412100" cy="81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Reader </a:t>
            </a:r>
            <a:endParaRPr/>
          </a:p>
        </p:txBody>
      </p:sp>
      <p:sp>
        <p:nvSpPr>
          <p:cNvPr id="91" name="Google Shape;91;p1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500">
                <a:solidFill>
                  <a:srgbClr val="795E26"/>
                </a:solidFill>
                <a:highlight>
                  <a:srgbClr val="FFFFFF"/>
                </a:highlight>
                <a:latin typeface="Consolas"/>
                <a:ea typeface="Consolas"/>
                <a:cs typeface="Consolas"/>
                <a:sym typeface="Consolas"/>
              </a:rPr>
              <a:t>read</a:t>
            </a:r>
            <a:r>
              <a:rPr b="1" lang="en" sz="1500">
                <a:solidFill>
                  <a:schemeClr val="dk1"/>
                </a:solidFill>
                <a:highlight>
                  <a:srgbClr val="FFFFFF"/>
                </a:highlight>
                <a:latin typeface="Consolas"/>
                <a:ea typeface="Consolas"/>
                <a:cs typeface="Consolas"/>
                <a:sym typeface="Consolas"/>
              </a:rPr>
              <a:t>() {</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rgbClr val="FFFFFF"/>
                </a:highlight>
                <a:latin typeface="Consolas"/>
                <a:ea typeface="Consolas"/>
                <a:cs typeface="Consolas"/>
                <a:sym typeface="Consolas"/>
              </a:rPr>
              <a:t>   </a:t>
            </a:r>
            <a:r>
              <a:rPr b="1" lang="en" sz="1500">
                <a:solidFill>
                  <a:srgbClr val="795E26"/>
                </a:solidFill>
                <a:highlight>
                  <a:srgbClr val="FFFFFF"/>
                </a:highlight>
                <a:latin typeface="Consolas"/>
                <a:ea typeface="Consolas"/>
                <a:cs typeface="Consolas"/>
                <a:sym typeface="Consolas"/>
              </a:rPr>
              <a:t>lock</a:t>
            </a:r>
            <a:r>
              <a:rPr b="1" lang="en" sz="1500">
                <a:solidFill>
                  <a:schemeClr val="dk1"/>
                </a:solidFill>
                <a:highlight>
                  <a:srgbClr val="FFFFFF"/>
                </a:highlight>
                <a:latin typeface="Consolas"/>
                <a:ea typeface="Consolas"/>
                <a:cs typeface="Consolas"/>
                <a:sym typeface="Consolas"/>
              </a:rPr>
              <a:t>(&amp;m)</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a:t>
            </a:r>
            <a:r>
              <a:rPr b="1" lang="en" sz="1500">
                <a:solidFill>
                  <a:srgbClr val="AF00DB"/>
                </a:solidFill>
                <a:highlight>
                  <a:schemeClr val="accent6"/>
                </a:highlight>
                <a:latin typeface="Consolas"/>
                <a:ea typeface="Consolas"/>
                <a:cs typeface="Consolas"/>
                <a:sym typeface="Consolas"/>
              </a:rPr>
              <a:t>while</a:t>
            </a:r>
            <a:r>
              <a:rPr b="1" lang="en" sz="1500">
                <a:solidFill>
                  <a:schemeClr val="dk1"/>
                </a:solidFill>
                <a:highlight>
                  <a:schemeClr val="accent6"/>
                </a:highlight>
                <a:latin typeface="Consolas"/>
                <a:ea typeface="Consolas"/>
                <a:cs typeface="Consolas"/>
                <a:sym typeface="Consolas"/>
              </a:rPr>
              <a:t> (writing)</a:t>
            </a:r>
            <a:endParaRPr b="1" sz="15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a:t>
            </a:r>
            <a:r>
              <a:rPr b="1" lang="en" sz="1500">
                <a:solidFill>
                  <a:srgbClr val="795E26"/>
                </a:solidFill>
                <a:highlight>
                  <a:schemeClr val="accent6"/>
                </a:highlight>
                <a:latin typeface="Consolas"/>
                <a:ea typeface="Consolas"/>
                <a:cs typeface="Consolas"/>
                <a:sym typeface="Consolas"/>
              </a:rPr>
              <a:t>cond_wait</a:t>
            </a:r>
            <a:r>
              <a:rPr b="1" lang="en" sz="1500">
                <a:solidFill>
                  <a:schemeClr val="dk1"/>
                </a:solidFill>
                <a:highlight>
                  <a:schemeClr val="accent6"/>
                </a:highlight>
                <a:latin typeface="Consolas"/>
                <a:ea typeface="Consolas"/>
                <a:cs typeface="Consolas"/>
                <a:sym typeface="Consolas"/>
              </a:rPr>
              <a:t>(&amp;cv, &amp;m)</a:t>
            </a:r>
            <a:endParaRPr b="1" sz="15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reading++;</a:t>
            </a:r>
            <a:endParaRPr b="1" sz="15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a:t>
            </a:r>
            <a:r>
              <a:rPr b="1" lang="en" sz="1500">
                <a:solidFill>
                  <a:srgbClr val="008000"/>
                </a:solidFill>
                <a:highlight>
                  <a:schemeClr val="accent6"/>
                </a:highlight>
                <a:latin typeface="Consolas"/>
                <a:ea typeface="Consolas"/>
                <a:cs typeface="Consolas"/>
                <a:sym typeface="Consolas"/>
              </a:rPr>
              <a:t>/* Read here! */</a:t>
            </a:r>
            <a:endParaRPr b="1" sz="1500">
              <a:solidFill>
                <a:srgbClr val="008000"/>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reading--</a:t>
            </a:r>
            <a:endParaRPr b="1" sz="15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chemeClr val="accent6"/>
                </a:highlight>
                <a:latin typeface="Consolas"/>
                <a:ea typeface="Consolas"/>
                <a:cs typeface="Consolas"/>
                <a:sym typeface="Consolas"/>
              </a:rPr>
              <a:t>   </a:t>
            </a:r>
            <a:r>
              <a:rPr b="1" lang="en" sz="1500">
                <a:solidFill>
                  <a:srgbClr val="795E26"/>
                </a:solidFill>
                <a:highlight>
                  <a:schemeClr val="accent6"/>
                </a:highlight>
                <a:latin typeface="Consolas"/>
                <a:ea typeface="Consolas"/>
                <a:cs typeface="Consolas"/>
                <a:sym typeface="Consolas"/>
              </a:rPr>
              <a:t>cond_signal</a:t>
            </a:r>
            <a:r>
              <a:rPr b="1" lang="en" sz="1500">
                <a:solidFill>
                  <a:schemeClr val="dk1"/>
                </a:solidFill>
                <a:highlight>
                  <a:schemeClr val="accent6"/>
                </a:highlight>
                <a:latin typeface="Consolas"/>
                <a:ea typeface="Consolas"/>
                <a:cs typeface="Consolas"/>
                <a:sym typeface="Consolas"/>
              </a:rPr>
              <a:t>(&amp;cv)</a:t>
            </a:r>
            <a:endParaRPr b="1" sz="15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rgbClr val="FFFFFF"/>
                </a:highlight>
                <a:latin typeface="Consolas"/>
                <a:ea typeface="Consolas"/>
                <a:cs typeface="Consolas"/>
                <a:sym typeface="Consolas"/>
              </a:rPr>
              <a:t>   </a:t>
            </a:r>
            <a:r>
              <a:rPr b="1" lang="en" sz="1500">
                <a:solidFill>
                  <a:srgbClr val="795E26"/>
                </a:solidFill>
                <a:highlight>
                  <a:srgbClr val="FFFFFF"/>
                </a:highlight>
                <a:latin typeface="Consolas"/>
                <a:ea typeface="Consolas"/>
                <a:cs typeface="Consolas"/>
                <a:sym typeface="Consolas"/>
              </a:rPr>
              <a:t>unlock</a:t>
            </a:r>
            <a:r>
              <a:rPr b="1" lang="en" sz="1500">
                <a:solidFill>
                  <a:schemeClr val="dk1"/>
                </a:solidFill>
                <a:highlight>
                  <a:srgbClr val="FFFFFF"/>
                </a:highlight>
                <a:latin typeface="Consolas"/>
                <a:ea typeface="Consolas"/>
                <a:cs typeface="Consolas"/>
                <a:sym typeface="Consolas"/>
              </a:rPr>
              <a:t>(&amp;m)</a:t>
            </a:r>
            <a:endParaRPr b="1" sz="15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500">
                <a:solidFill>
                  <a:schemeClr val="dk1"/>
                </a:solidFill>
                <a:highlight>
                  <a:srgbClr val="FFFFFF"/>
                </a:highlight>
                <a:latin typeface="Consolas"/>
                <a:ea typeface="Consolas"/>
                <a:cs typeface="Consolas"/>
                <a:sym typeface="Consolas"/>
              </a:rPr>
              <a:t>}</a:t>
            </a:r>
            <a:endParaRPr b="1" sz="15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500">
              <a:solidFill>
                <a:srgbClr val="0000FF"/>
              </a:solidFill>
              <a:highlight>
                <a:srgbClr val="FFFFFF"/>
              </a:highlight>
              <a:latin typeface="Consolas"/>
              <a:ea typeface="Consolas"/>
              <a:cs typeface="Consolas"/>
              <a:sym typeface="Consolas"/>
            </a:endParaRPr>
          </a:p>
        </p:txBody>
      </p:sp>
      <p:sp>
        <p:nvSpPr>
          <p:cNvPr id="92" name="Google Shape;92;p18"/>
          <p:cNvSpPr txBox="1"/>
          <p:nvPr>
            <p:ph idx="2" type="body"/>
          </p:nvPr>
        </p:nvSpPr>
        <p:spPr>
          <a:xfrm>
            <a:off x="4137600" y="105150"/>
            <a:ext cx="4694700" cy="29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ighlight>
                  <a:srgbClr val="DFDFDF"/>
                </a:highlight>
                <a:hlinkClick r:id="rId3"/>
              </a:rPr>
              <a:t>pthread_cond_wait</a:t>
            </a:r>
            <a:r>
              <a:rPr lang="en">
                <a:solidFill>
                  <a:schemeClr val="dk1"/>
                </a:solidFill>
                <a:highlight>
                  <a:srgbClr val="FFFFFF"/>
                </a:highlight>
              </a:rPr>
              <a:t> performs 3 actions.</a:t>
            </a:r>
            <a:endParaRPr>
              <a:solidFill>
                <a:schemeClr val="dk1"/>
              </a:solidFill>
              <a:highlight>
                <a:srgbClr val="FFFFFF"/>
              </a:highlight>
            </a:endParaRPr>
          </a:p>
          <a:p>
            <a:pPr indent="-304800" lvl="1" marL="914400" rtl="0" algn="l">
              <a:spcBef>
                <a:spcPts val="1600"/>
              </a:spcBef>
              <a:spcAft>
                <a:spcPts val="0"/>
              </a:spcAft>
              <a:buSzPts val="1200"/>
              <a:buChar char="◆"/>
            </a:pPr>
            <a:r>
              <a:rPr lang="en">
                <a:solidFill>
                  <a:schemeClr val="dk1"/>
                </a:solidFill>
                <a:highlight>
                  <a:srgbClr val="FFFFFF"/>
                </a:highlight>
              </a:rPr>
              <a:t>it atomically unlocks the mutex </a:t>
            </a:r>
            <a:endParaRPr>
              <a:solidFill>
                <a:schemeClr val="dk1"/>
              </a:solidFill>
              <a:highlight>
                <a:srgbClr val="FFFFFF"/>
              </a:highlight>
            </a:endParaRPr>
          </a:p>
          <a:p>
            <a:pPr indent="-304800" lvl="1" marL="914400" rtl="0" algn="l">
              <a:spcBef>
                <a:spcPts val="0"/>
              </a:spcBef>
              <a:spcAft>
                <a:spcPts val="0"/>
              </a:spcAft>
              <a:buSzPts val="1200"/>
              <a:buChar char="◆"/>
            </a:pPr>
            <a:r>
              <a:rPr lang="en">
                <a:solidFill>
                  <a:schemeClr val="dk1"/>
                </a:solidFill>
                <a:highlight>
                  <a:srgbClr val="FFFFFF"/>
                </a:highlight>
              </a:rPr>
              <a:t>and then sleeps </a:t>
            </a:r>
            <a:endParaRPr>
              <a:solidFill>
                <a:schemeClr val="dk1"/>
              </a:solidFill>
              <a:highlight>
                <a:srgbClr val="FFFFFF"/>
              </a:highlight>
            </a:endParaRPr>
          </a:p>
          <a:p>
            <a:pPr indent="-304800" lvl="2" marL="1371600" rtl="0" algn="l">
              <a:spcBef>
                <a:spcPts val="0"/>
              </a:spcBef>
              <a:spcAft>
                <a:spcPts val="0"/>
              </a:spcAft>
              <a:buSzPts val="1200"/>
              <a:buChar char="●"/>
            </a:pPr>
            <a:r>
              <a:rPr lang="en">
                <a:solidFill>
                  <a:schemeClr val="dk1"/>
                </a:solidFill>
                <a:highlight>
                  <a:srgbClr val="FFFFFF"/>
                </a:highlight>
              </a:rPr>
              <a:t>(until it is woken by </a:t>
            </a:r>
            <a:r>
              <a:rPr lang="en" sz="1200" u="sng">
                <a:solidFill>
                  <a:schemeClr val="hlink"/>
                </a:solidFill>
                <a:highlight>
                  <a:srgbClr val="DFDFDF"/>
                </a:highlight>
                <a:hlinkClick r:id="rId4"/>
              </a:rPr>
              <a:t>pthread_cond_signal</a:t>
            </a:r>
            <a:r>
              <a:rPr lang="en">
                <a:solidFill>
                  <a:schemeClr val="dk1"/>
                </a:solidFill>
                <a:highlight>
                  <a:srgbClr val="FFFFFF"/>
                </a:highlight>
              </a:rPr>
              <a:t> or </a:t>
            </a:r>
            <a:r>
              <a:rPr lang="en" sz="1200" u="sng">
                <a:solidFill>
                  <a:schemeClr val="hlink"/>
                </a:solidFill>
                <a:highlight>
                  <a:srgbClr val="DFDFDF"/>
                </a:highlight>
                <a:hlinkClick r:id="rId5"/>
              </a:rPr>
              <a:t>pthread_cond_broadcast</a:t>
            </a:r>
            <a:r>
              <a:rPr lang="en">
                <a:solidFill>
                  <a:schemeClr val="dk1"/>
                </a:solidFill>
                <a:highlight>
                  <a:srgbClr val="FFFFFF"/>
                </a:highlight>
              </a:rPr>
              <a:t>). </a:t>
            </a:r>
            <a:endParaRPr>
              <a:solidFill>
                <a:schemeClr val="dk1"/>
              </a:solidFill>
              <a:highlight>
                <a:srgbClr val="FFFFFF"/>
              </a:highlight>
            </a:endParaRPr>
          </a:p>
          <a:p>
            <a:pPr indent="-304800" lvl="1" marL="914400" rtl="0" algn="l">
              <a:spcBef>
                <a:spcPts val="0"/>
              </a:spcBef>
              <a:spcAft>
                <a:spcPts val="0"/>
              </a:spcAft>
              <a:buSzPts val="1200"/>
              <a:buChar char="◆"/>
            </a:pPr>
            <a:r>
              <a:rPr b="1" lang="en">
                <a:solidFill>
                  <a:schemeClr val="dk1"/>
                </a:solidFill>
                <a:highlight>
                  <a:srgbClr val="FFFFFF"/>
                </a:highlight>
              </a:rPr>
              <a:t>the awoken thread must re-acquire the mutex lock before returning. </a:t>
            </a:r>
            <a:endParaRPr>
              <a:solidFill>
                <a:schemeClr val="dk1"/>
              </a:solidFill>
              <a:highlight>
                <a:srgbClr val="FFFFFF"/>
              </a:highlight>
            </a:endParaRPr>
          </a:p>
          <a:p>
            <a:pPr indent="-317500" lvl="0" marL="457200" rtl="0" algn="l">
              <a:spcBef>
                <a:spcPts val="0"/>
              </a:spcBef>
              <a:spcAft>
                <a:spcPts val="0"/>
              </a:spcAft>
              <a:buClr>
                <a:schemeClr val="dk1"/>
              </a:buClr>
              <a:buSzPts val="1400"/>
              <a:buChar char="➔"/>
            </a:pPr>
            <a:r>
              <a:rPr lang="en">
                <a:solidFill>
                  <a:schemeClr val="dk1"/>
                </a:solidFill>
                <a:highlight>
                  <a:srgbClr val="FFFFFF"/>
                </a:highlight>
              </a:rPr>
              <a:t>Thus only one thread can actually be running inside the</a:t>
            </a:r>
            <a:r>
              <a:rPr lang="en">
                <a:solidFill>
                  <a:schemeClr val="dk1"/>
                </a:solidFill>
                <a:highlight>
                  <a:schemeClr val="accent6"/>
                </a:highlight>
              </a:rPr>
              <a:t> critical section</a:t>
            </a:r>
            <a:r>
              <a:rPr lang="en">
                <a:solidFill>
                  <a:schemeClr val="dk1"/>
                </a:solidFill>
                <a:highlight>
                  <a:srgbClr val="FFFFFF"/>
                </a:highlight>
              </a:rPr>
              <a:t>.</a:t>
            </a:r>
            <a:endParaRPr/>
          </a:p>
        </p:txBody>
      </p:sp>
      <p:sp>
        <p:nvSpPr>
          <p:cNvPr id="93" name="Google Shape;93;p18"/>
          <p:cNvSpPr txBox="1"/>
          <p:nvPr/>
        </p:nvSpPr>
        <p:spPr>
          <a:xfrm>
            <a:off x="3455100" y="3121575"/>
            <a:ext cx="5543100" cy="15966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highlight>
                  <a:schemeClr val="lt1"/>
                </a:highlight>
              </a:rPr>
              <a:t>Solution to Reader-Writer problem?</a:t>
            </a:r>
            <a:endParaRPr>
              <a:solidFill>
                <a:schemeClr val="dk1"/>
              </a:solidFill>
              <a:highlight>
                <a:schemeClr val="lt1"/>
              </a:highlight>
            </a:endParaRPr>
          </a:p>
          <a:p>
            <a:pPr indent="-317500" lvl="0" marL="457200" rtl="0" algn="l">
              <a:lnSpc>
                <a:spcPct val="115000"/>
              </a:lnSpc>
              <a:spcBef>
                <a:spcPts val="1600"/>
              </a:spcBef>
              <a:spcAft>
                <a:spcPts val="0"/>
              </a:spcAft>
              <a:buClr>
                <a:schemeClr val="dk2"/>
              </a:buClr>
              <a:buSzPts val="1400"/>
              <a:buChar char="➔"/>
            </a:pPr>
            <a:r>
              <a:rPr lang="en">
                <a:solidFill>
                  <a:schemeClr val="dk1"/>
                </a:solidFill>
                <a:highlight>
                  <a:schemeClr val="lt1"/>
                </a:highlight>
              </a:rPr>
              <a:t>if any writers are writing,</a:t>
            </a:r>
            <a:r>
              <a:rPr lang="en">
                <a:solidFill>
                  <a:schemeClr val="dk1"/>
                </a:solidFill>
                <a:highlight>
                  <a:schemeClr val="lt1"/>
                </a:highlight>
              </a:rPr>
              <a:t> a reader will enter the </a:t>
            </a:r>
            <a:r>
              <a:rPr lang="en" sz="1200">
                <a:solidFill>
                  <a:srgbClr val="151515"/>
                </a:solidFill>
                <a:highlight>
                  <a:srgbClr val="DFDFDF"/>
                </a:highlight>
              </a:rPr>
              <a:t>cond_wait</a:t>
            </a:r>
            <a:r>
              <a:rPr lang="en">
                <a:solidFill>
                  <a:schemeClr val="dk1"/>
                </a:solidFill>
                <a:highlight>
                  <a:schemeClr val="lt1"/>
                </a:highlight>
              </a:rPr>
              <a:t>.</a:t>
            </a:r>
            <a:endParaRPr>
              <a:solidFill>
                <a:schemeClr val="dk1"/>
              </a:solidFill>
              <a:highlight>
                <a:schemeClr val="lt1"/>
              </a:highlight>
            </a:endParaRPr>
          </a:p>
          <a:p>
            <a:pPr indent="-304800" lvl="1" marL="914400" rtl="0" algn="l">
              <a:lnSpc>
                <a:spcPct val="115000"/>
              </a:lnSpc>
              <a:spcBef>
                <a:spcPts val="0"/>
              </a:spcBef>
              <a:spcAft>
                <a:spcPts val="0"/>
              </a:spcAft>
              <a:buClr>
                <a:schemeClr val="dk2"/>
              </a:buClr>
              <a:buSzPts val="1200"/>
              <a:buChar char="◆"/>
            </a:pPr>
            <a:r>
              <a:rPr lang="en">
                <a:solidFill>
                  <a:schemeClr val="dk1"/>
                </a:solidFill>
                <a:highlight>
                  <a:schemeClr val="lt1"/>
                </a:highlight>
              </a:rPr>
              <a:t>OK! </a:t>
            </a:r>
            <a:endParaRPr>
              <a:solidFill>
                <a:schemeClr val="dk1"/>
              </a:solidFill>
              <a:highlight>
                <a:schemeClr val="lt1"/>
              </a:highlight>
            </a:endParaRPr>
          </a:p>
          <a:p>
            <a:pPr indent="-317500" lvl="0" marL="457200" rtl="0" algn="l">
              <a:lnSpc>
                <a:spcPct val="115000"/>
              </a:lnSpc>
              <a:spcBef>
                <a:spcPts val="0"/>
              </a:spcBef>
              <a:spcAft>
                <a:spcPts val="0"/>
              </a:spcAft>
              <a:buClr>
                <a:schemeClr val="dk2"/>
              </a:buClr>
              <a:buSzPts val="1400"/>
              <a:buChar char="➔"/>
            </a:pPr>
            <a:r>
              <a:rPr lang="en">
                <a:solidFill>
                  <a:schemeClr val="dk1"/>
                </a:solidFill>
                <a:highlight>
                  <a:schemeClr val="accent4"/>
                </a:highlight>
              </a:rPr>
              <a:t>Only one reader can read!</a:t>
            </a:r>
            <a:endParaRPr>
              <a:solidFill>
                <a:schemeClr val="dk1"/>
              </a:solidFill>
              <a:highlight>
                <a:schemeClr val="accent4"/>
              </a:highlight>
            </a:endParaRPr>
          </a:p>
          <a:p>
            <a:pPr indent="-304800" lvl="1" marL="914400" rtl="0" algn="l">
              <a:lnSpc>
                <a:spcPct val="115000"/>
              </a:lnSpc>
              <a:spcBef>
                <a:spcPts val="0"/>
              </a:spcBef>
              <a:spcAft>
                <a:spcPts val="0"/>
              </a:spcAft>
              <a:buClr>
                <a:schemeClr val="dk2"/>
              </a:buClr>
              <a:buSzPts val="1200"/>
              <a:buChar char="◆"/>
            </a:pPr>
            <a:r>
              <a:rPr lang="en">
                <a:solidFill>
                  <a:schemeClr val="dk1"/>
                </a:solidFill>
                <a:highlight>
                  <a:schemeClr val="lt1"/>
                </a:highlight>
              </a:rPr>
              <a:t>because readers did not unlock the mutex.</a:t>
            </a:r>
            <a:endParaRPr>
              <a:solidFill>
                <a:schemeClr val="dk1"/>
              </a:solidFill>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 better version for multiple readers</a:t>
            </a:r>
            <a:endParaRPr/>
          </a:p>
        </p:txBody>
      </p:sp>
      <p:sp>
        <p:nvSpPr>
          <p:cNvPr id="99" name="Google Shape;99;p1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read</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rgbClr val="AF00DB"/>
                </a:solidFill>
                <a:highlight>
                  <a:schemeClr val="accent6"/>
                </a:highlight>
                <a:latin typeface="Consolas"/>
                <a:ea typeface="Consolas"/>
                <a:cs typeface="Consolas"/>
                <a:sym typeface="Consolas"/>
              </a:rPr>
              <a:t>while</a:t>
            </a:r>
            <a:r>
              <a:rPr b="1" lang="en" sz="1200">
                <a:solidFill>
                  <a:schemeClr val="dk1"/>
                </a:solidFill>
                <a:highlight>
                  <a:schemeClr val="accent6"/>
                </a:highlight>
                <a:latin typeface="Consolas"/>
                <a:ea typeface="Consolas"/>
                <a:cs typeface="Consolas"/>
                <a:sym typeface="Consolas"/>
              </a:rPr>
              <a:t>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cond_wait</a:t>
            </a:r>
            <a:r>
              <a:rPr b="1" lang="en" sz="1200">
                <a:solidFill>
                  <a:schemeClr val="dk1"/>
                </a:solidFill>
                <a:highlight>
                  <a:schemeClr val="accent6"/>
                </a:highlight>
                <a:latin typeface="Consolas"/>
                <a:ea typeface="Consolas"/>
                <a:cs typeface="Consolas"/>
                <a:sym typeface="Consolas"/>
              </a:rPr>
              <a:t>(&amp;cv, &amp;m)</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chemeClr val="dk1"/>
                </a:solidFill>
                <a:highlight>
                  <a:schemeClr val="accent6"/>
                </a:highlight>
                <a:latin typeface="Consolas"/>
                <a:ea typeface="Consolas"/>
                <a:cs typeface="Consolas"/>
                <a:sym typeface="Consolas"/>
              </a:rPr>
              <a:t>r</a:t>
            </a:r>
            <a:r>
              <a:rPr b="1" lang="en" sz="1200">
                <a:solidFill>
                  <a:schemeClr val="dk1"/>
                </a:solidFill>
                <a:highlight>
                  <a:schemeClr val="accent6"/>
                </a:highlight>
                <a:latin typeface="Consolas"/>
                <a:ea typeface="Consolas"/>
                <a:cs typeface="Consolas"/>
                <a:sym typeface="Consolas"/>
              </a:rPr>
              <a:t>eading++;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8000"/>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Read here! */</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reading--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cond_signal</a:t>
            </a:r>
            <a:r>
              <a:rPr b="1" lang="en" sz="1200">
                <a:solidFill>
                  <a:schemeClr val="dk1"/>
                </a:solidFill>
                <a:highlight>
                  <a:schemeClr val="accent6"/>
                </a:highlight>
                <a:latin typeface="Consolas"/>
                <a:ea typeface="Consolas"/>
                <a:cs typeface="Consolas"/>
                <a:sym typeface="Consolas"/>
              </a:rPr>
              <a:t>(&amp;cv)</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200">
              <a:solidFill>
                <a:srgbClr val="0000FF"/>
              </a:solidFill>
              <a:highlight>
                <a:srgbClr val="FFFFFF"/>
              </a:highlight>
              <a:latin typeface="Consolas"/>
              <a:ea typeface="Consolas"/>
              <a:cs typeface="Consolas"/>
              <a:sym typeface="Consolas"/>
            </a:endParaRPr>
          </a:p>
        </p:txBody>
      </p:sp>
      <p:sp>
        <p:nvSpPr>
          <p:cNvPr id="100" name="Google Shape;100;p19"/>
          <p:cNvSpPr txBox="1"/>
          <p:nvPr/>
        </p:nvSpPr>
        <p:spPr>
          <a:xfrm>
            <a:off x="3437450" y="1285900"/>
            <a:ext cx="5543100" cy="2049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highlight>
                  <a:schemeClr val="lt1"/>
                </a:highlight>
              </a:rPr>
              <a:t>Solution to Reader-Writer problem?</a:t>
            </a:r>
            <a:endParaRPr>
              <a:solidFill>
                <a:schemeClr val="dk1"/>
              </a:solidFill>
              <a:highlight>
                <a:schemeClr val="lt1"/>
              </a:highlight>
            </a:endParaRPr>
          </a:p>
          <a:p>
            <a:pPr indent="-317500" lvl="0" marL="457200" rtl="0" algn="l">
              <a:lnSpc>
                <a:spcPct val="115000"/>
              </a:lnSpc>
              <a:spcBef>
                <a:spcPts val="1600"/>
              </a:spcBef>
              <a:spcAft>
                <a:spcPts val="0"/>
              </a:spcAft>
              <a:buClr>
                <a:schemeClr val="dk2"/>
              </a:buClr>
              <a:buSzPts val="1400"/>
              <a:buChar char="➔"/>
            </a:pPr>
            <a:r>
              <a:rPr lang="en">
                <a:solidFill>
                  <a:schemeClr val="dk1"/>
                </a:solidFill>
                <a:highlight>
                  <a:schemeClr val="lt1"/>
                </a:highlight>
              </a:rPr>
              <a:t>if any writers are writing, a reader will enter the </a:t>
            </a:r>
            <a:r>
              <a:rPr lang="en" sz="1200">
                <a:solidFill>
                  <a:srgbClr val="151515"/>
                </a:solidFill>
                <a:highlight>
                  <a:srgbClr val="DFDFDF"/>
                </a:highlight>
              </a:rPr>
              <a:t>cond_wait</a:t>
            </a:r>
            <a:r>
              <a:rPr lang="en">
                <a:solidFill>
                  <a:schemeClr val="dk1"/>
                </a:solidFill>
                <a:highlight>
                  <a:schemeClr val="lt1"/>
                </a:highlight>
              </a:rPr>
              <a:t>.</a:t>
            </a:r>
            <a:endParaRPr>
              <a:solidFill>
                <a:schemeClr val="dk1"/>
              </a:solidFill>
              <a:highlight>
                <a:schemeClr val="lt1"/>
              </a:highlight>
            </a:endParaRPr>
          </a:p>
          <a:p>
            <a:pPr indent="-304800" lvl="1" marL="914400" rtl="0" algn="l">
              <a:lnSpc>
                <a:spcPct val="115000"/>
              </a:lnSpc>
              <a:spcBef>
                <a:spcPts val="0"/>
              </a:spcBef>
              <a:spcAft>
                <a:spcPts val="0"/>
              </a:spcAft>
              <a:buClr>
                <a:schemeClr val="dk2"/>
              </a:buClr>
              <a:buSzPts val="1200"/>
              <a:buChar char="◆"/>
            </a:pPr>
            <a:r>
              <a:rPr lang="en">
                <a:solidFill>
                  <a:schemeClr val="dk1"/>
                </a:solidFill>
                <a:highlight>
                  <a:schemeClr val="lt1"/>
                </a:highlight>
              </a:rPr>
              <a:t>OK! </a:t>
            </a:r>
            <a:endParaRPr>
              <a:solidFill>
                <a:schemeClr val="dk1"/>
              </a:solidFill>
              <a:highlight>
                <a:schemeClr val="lt1"/>
              </a:highlight>
            </a:endParaRPr>
          </a:p>
          <a:p>
            <a:pPr indent="-317500" lvl="0" marL="457200" rtl="0" algn="l">
              <a:lnSpc>
                <a:spcPct val="115000"/>
              </a:lnSpc>
              <a:spcBef>
                <a:spcPts val="0"/>
              </a:spcBef>
              <a:spcAft>
                <a:spcPts val="0"/>
              </a:spcAft>
              <a:buClr>
                <a:schemeClr val="dk2"/>
              </a:buClr>
              <a:buSzPts val="1400"/>
              <a:buChar char="➔"/>
            </a:pPr>
            <a:r>
              <a:rPr lang="en">
                <a:solidFill>
                  <a:schemeClr val="dk1"/>
                </a:solidFill>
                <a:highlight>
                  <a:schemeClr val="lt1"/>
                </a:highlight>
              </a:rPr>
              <a:t>only one thread can be executing code inside the </a:t>
            </a:r>
            <a:r>
              <a:rPr lang="en">
                <a:solidFill>
                  <a:schemeClr val="dk1"/>
                </a:solidFill>
                <a:highlight>
                  <a:schemeClr val="accent6"/>
                </a:highlight>
              </a:rPr>
              <a:t>critical section</a:t>
            </a:r>
            <a:r>
              <a:rPr lang="en">
                <a:solidFill>
                  <a:schemeClr val="dk1"/>
                </a:solidFill>
                <a:highlight>
                  <a:schemeClr val="lt1"/>
                </a:highlight>
              </a:rPr>
              <a:t> at any  time!</a:t>
            </a:r>
            <a:endParaRPr>
              <a:solidFill>
                <a:schemeClr val="dk1"/>
              </a:solidFill>
              <a:highlight>
                <a:schemeClr val="lt1"/>
              </a:highlight>
            </a:endParaRPr>
          </a:p>
          <a:p>
            <a:pPr indent="-317500" lvl="0" marL="457200" rtl="0" algn="l">
              <a:lnSpc>
                <a:spcPct val="115000"/>
              </a:lnSpc>
              <a:spcBef>
                <a:spcPts val="1600"/>
              </a:spcBef>
              <a:spcAft>
                <a:spcPts val="1600"/>
              </a:spcAft>
              <a:buClr>
                <a:schemeClr val="dk1"/>
              </a:buClr>
              <a:buSzPts val="1400"/>
              <a:buChar char="➔"/>
            </a:pPr>
            <a:r>
              <a:rPr lang="en">
                <a:solidFill>
                  <a:schemeClr val="dk1"/>
                </a:solidFill>
                <a:highlight>
                  <a:schemeClr val="lt1"/>
                </a:highlight>
              </a:rPr>
              <a:t>Readers can read at the same time</a:t>
            </a:r>
            <a:endParaRPr>
              <a:solidFill>
                <a:schemeClr val="dk1"/>
              </a:solidFill>
              <a:highlight>
                <a:schemeClr val="lt1"/>
              </a:highlight>
            </a:endParaRPr>
          </a:p>
        </p:txBody>
      </p:sp>
      <p:sp>
        <p:nvSpPr>
          <p:cNvPr id="101" name="Google Shape;101;p19"/>
          <p:cNvSpPr txBox="1"/>
          <p:nvPr/>
        </p:nvSpPr>
        <p:spPr>
          <a:xfrm>
            <a:off x="3301625" y="3405950"/>
            <a:ext cx="5722500" cy="153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highlight>
                  <a:schemeClr val="lt1"/>
                </a:highlight>
              </a:rPr>
              <a:t>Does this mean that a writer and reader could read and write at the same time? </a:t>
            </a:r>
            <a:endParaRPr>
              <a:solidFill>
                <a:schemeClr val="dk1"/>
              </a:solidFill>
              <a:highlight>
                <a:schemeClr val="lt1"/>
              </a:highlight>
            </a:endParaRPr>
          </a:p>
          <a:p>
            <a:pPr indent="-317500" lvl="1" marL="914400" rtl="0" algn="l">
              <a:lnSpc>
                <a:spcPct val="115000"/>
              </a:lnSpc>
              <a:spcBef>
                <a:spcPts val="1600"/>
              </a:spcBef>
              <a:spcAft>
                <a:spcPts val="0"/>
              </a:spcAft>
              <a:buClr>
                <a:schemeClr val="dk2"/>
              </a:buClr>
              <a:buSzPts val="1400"/>
              <a:buChar char="◆"/>
            </a:pPr>
            <a:r>
              <a:rPr lang="en">
                <a:solidFill>
                  <a:schemeClr val="dk1"/>
                </a:solidFill>
                <a:highlight>
                  <a:schemeClr val="lt1"/>
                </a:highlight>
              </a:rPr>
              <a:t>No! </a:t>
            </a:r>
            <a:endParaRPr>
              <a:solidFill>
                <a:schemeClr val="dk1"/>
              </a:solidFill>
              <a:highlight>
                <a:schemeClr val="lt1"/>
              </a:highlight>
            </a:endParaRPr>
          </a:p>
          <a:p>
            <a:pPr indent="-304800" lvl="2" marL="1371600" rtl="0" algn="l">
              <a:lnSpc>
                <a:spcPct val="115000"/>
              </a:lnSpc>
              <a:spcBef>
                <a:spcPts val="0"/>
              </a:spcBef>
              <a:spcAft>
                <a:spcPts val="0"/>
              </a:spcAft>
              <a:buClr>
                <a:schemeClr val="dk2"/>
              </a:buClr>
              <a:buSzPts val="1200"/>
              <a:buChar char="●"/>
            </a:pPr>
            <a:r>
              <a:rPr b="1" lang="en" sz="1200">
                <a:solidFill>
                  <a:schemeClr val="dk1"/>
                </a:solidFill>
                <a:highlight>
                  <a:schemeClr val="lt1"/>
                </a:highlight>
              </a:rPr>
              <a:t>cond_wait</a:t>
            </a:r>
            <a:r>
              <a:rPr lang="en" sz="1200">
                <a:solidFill>
                  <a:schemeClr val="dk1"/>
                </a:solidFill>
                <a:highlight>
                  <a:schemeClr val="lt1"/>
                </a:highlight>
              </a:rPr>
              <a:t> requires the thread re-acquire the mutex lock before returning.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35500" y="140225"/>
            <a:ext cx="426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Writer</a:t>
            </a:r>
            <a:endParaRPr/>
          </a:p>
        </p:txBody>
      </p:sp>
      <p:sp>
        <p:nvSpPr>
          <p:cNvPr id="107" name="Google Shape;107;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795E26"/>
                </a:solidFill>
                <a:highlight>
                  <a:srgbClr val="FFFFFF"/>
                </a:highlight>
                <a:latin typeface="Consolas"/>
                <a:ea typeface="Consolas"/>
                <a:cs typeface="Consolas"/>
                <a:sym typeface="Consolas"/>
              </a:rPr>
              <a:t>write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AF00DB"/>
                </a:solidFill>
                <a:highlight>
                  <a:schemeClr val="accent6"/>
                </a:highlight>
                <a:latin typeface="Consolas"/>
                <a:ea typeface="Consolas"/>
                <a:cs typeface="Consolas"/>
                <a:sym typeface="Consolas"/>
              </a:rPr>
              <a:t>while</a:t>
            </a:r>
            <a:r>
              <a:rPr b="1" lang="en" sz="1200">
                <a:solidFill>
                  <a:schemeClr val="dk1"/>
                </a:solidFill>
                <a:highlight>
                  <a:schemeClr val="accent6"/>
                </a:highlight>
                <a:latin typeface="Consolas"/>
                <a:ea typeface="Consolas"/>
                <a:cs typeface="Consolas"/>
                <a:sym typeface="Consolas"/>
              </a:rPr>
              <a:t> (reading ||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cond_wait</a:t>
            </a:r>
            <a:r>
              <a:rPr b="1" lang="en" sz="1200">
                <a:solidFill>
                  <a:schemeClr val="dk1"/>
                </a:solidFill>
                <a:highlight>
                  <a:schemeClr val="accent6"/>
                </a:highlight>
                <a:latin typeface="Consolas"/>
                <a:ea typeface="Consolas"/>
                <a:cs typeface="Consolas"/>
                <a:sym typeface="Consolas"/>
              </a:rPr>
              <a:t>(&amp;cv, &amp;m);</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008000"/>
                </a:solidFill>
                <a:highlight>
                  <a:schemeClr val="accent6"/>
                </a:highlight>
                <a:latin typeface="Consolas"/>
                <a:ea typeface="Consolas"/>
                <a:cs typeface="Consolas"/>
                <a:sym typeface="Consolas"/>
              </a:rPr>
              <a:t>/* Write here! */</a:t>
            </a:r>
            <a:endParaRPr b="1" sz="1200">
              <a:solidFill>
                <a:srgbClr val="008000"/>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cond_signal</a:t>
            </a:r>
            <a:r>
              <a:rPr b="1" lang="en" sz="1200">
                <a:solidFill>
                  <a:schemeClr val="dk1"/>
                </a:solidFill>
                <a:highlight>
                  <a:schemeClr val="accent6"/>
                </a:highlight>
                <a:latin typeface="Consolas"/>
                <a:ea typeface="Consolas"/>
                <a:cs typeface="Consolas"/>
                <a:sym typeface="Consolas"/>
              </a:rPr>
              <a:t>(&amp;cv);</a:t>
            </a:r>
            <a:r>
              <a:rPr b="1" lang="en" sz="1200">
                <a:solidFill>
                  <a:srgbClr val="008000"/>
                </a:solidFill>
                <a:highlight>
                  <a:schemeClr val="accent6"/>
                </a:highlight>
                <a:latin typeface="Consolas"/>
                <a:ea typeface="Consolas"/>
                <a:cs typeface="Consolas"/>
                <a:sym typeface="Consolas"/>
              </a:rPr>
              <a:t>//or cond_broadcast</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200">
              <a:solidFill>
                <a:srgbClr val="795E26"/>
              </a:solidFill>
              <a:highlight>
                <a:srgbClr val="FFFFFF"/>
              </a:highlight>
              <a:latin typeface="Consolas"/>
              <a:ea typeface="Consolas"/>
              <a:cs typeface="Consolas"/>
              <a:sym typeface="Consolas"/>
            </a:endParaRPr>
          </a:p>
        </p:txBody>
      </p:sp>
      <p:sp>
        <p:nvSpPr>
          <p:cNvPr id="108" name="Google Shape;108;p20"/>
          <p:cNvSpPr txBox="1"/>
          <p:nvPr>
            <p:ph idx="2" type="body"/>
          </p:nvPr>
        </p:nvSpPr>
        <p:spPr>
          <a:xfrm>
            <a:off x="4637475" y="399075"/>
            <a:ext cx="4194900" cy="2679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solidFill>
                  <a:schemeClr val="dk1"/>
                </a:solidFill>
                <a:highlight>
                  <a:srgbClr val="FFFFFF"/>
                </a:highlight>
              </a:rPr>
              <a:t>Explanation</a:t>
            </a:r>
            <a:endParaRPr>
              <a:solidFill>
                <a:schemeClr val="dk1"/>
              </a:solidFill>
              <a:highlight>
                <a:srgbClr val="FFFFFF"/>
              </a:highlight>
            </a:endParaRPr>
          </a:p>
          <a:p>
            <a:pPr indent="-310832" lvl="0" marL="457200" rtl="0" algn="l">
              <a:spcBef>
                <a:spcPts val="1600"/>
              </a:spcBef>
              <a:spcAft>
                <a:spcPts val="0"/>
              </a:spcAft>
              <a:buSzPct val="100000"/>
              <a:buChar char="●"/>
            </a:pPr>
            <a:r>
              <a:rPr lang="en">
                <a:solidFill>
                  <a:schemeClr val="dk1"/>
                </a:solidFill>
                <a:highlight>
                  <a:srgbClr val="FFFFFF"/>
                </a:highlight>
              </a:rPr>
              <a:t>This uses </a:t>
            </a:r>
            <a:r>
              <a:rPr lang="en" sz="1200" u="sng">
                <a:solidFill>
                  <a:schemeClr val="hlink"/>
                </a:solidFill>
                <a:highlight>
                  <a:srgbClr val="DFDFDF"/>
                </a:highlight>
                <a:hlinkClick r:id="rId3"/>
              </a:rPr>
              <a:t>pthread_cond_signal</a:t>
            </a:r>
            <a:r>
              <a:rPr lang="en">
                <a:solidFill>
                  <a:schemeClr val="dk1"/>
                </a:solidFill>
                <a:highlight>
                  <a:srgbClr val="FFFFFF"/>
                </a:highlight>
              </a:rPr>
              <a:t>. This will only wake up one thread. </a:t>
            </a:r>
            <a:endParaRPr>
              <a:solidFill>
                <a:schemeClr val="dk1"/>
              </a:solidFill>
              <a:highlight>
                <a:srgbClr val="FFFFFF"/>
              </a:highlight>
            </a:endParaRPr>
          </a:p>
          <a:p>
            <a:pPr indent="-299085" lvl="1" marL="914400" rtl="0" algn="l">
              <a:spcBef>
                <a:spcPts val="1600"/>
              </a:spcBef>
              <a:spcAft>
                <a:spcPts val="0"/>
              </a:spcAft>
              <a:buSzPct val="100000"/>
              <a:buChar char="○"/>
            </a:pPr>
            <a:r>
              <a:rPr lang="en">
                <a:solidFill>
                  <a:schemeClr val="dk1"/>
                </a:solidFill>
                <a:highlight>
                  <a:srgbClr val="FFFFFF"/>
                </a:highlight>
              </a:rPr>
              <a:t>If many readers are waiting for the writer to complete, only one sleeping reader will be awoken from their slumber.</a:t>
            </a:r>
            <a:endParaRPr>
              <a:solidFill>
                <a:schemeClr val="dk1"/>
              </a:solidFill>
              <a:highlight>
                <a:srgbClr val="FFFFFF"/>
              </a:highlight>
            </a:endParaRPr>
          </a:p>
          <a:p>
            <a:pPr indent="-310832" lvl="0" marL="457200" rtl="0" algn="l">
              <a:spcBef>
                <a:spcPts val="1600"/>
              </a:spcBef>
              <a:spcAft>
                <a:spcPts val="1600"/>
              </a:spcAft>
              <a:buSzPct val="100000"/>
              <a:buChar char="●"/>
            </a:pPr>
            <a:r>
              <a:rPr lang="en">
                <a:solidFill>
                  <a:schemeClr val="dk1"/>
                </a:solidFill>
                <a:highlight>
                  <a:srgbClr val="FFFFFF"/>
                </a:highlight>
              </a:rPr>
              <a:t>The reader and writer should use </a:t>
            </a:r>
            <a:r>
              <a:rPr lang="en" sz="1200">
                <a:solidFill>
                  <a:srgbClr val="151515"/>
                </a:solidFill>
                <a:highlight>
                  <a:srgbClr val="DFDFDF"/>
                </a:highlight>
              </a:rPr>
              <a:t>cond_broadcast</a:t>
            </a:r>
            <a:r>
              <a:rPr lang="en">
                <a:solidFill>
                  <a:schemeClr val="dk1"/>
                </a:solidFill>
                <a:highlight>
                  <a:srgbClr val="FFFFFF"/>
                </a:highlight>
              </a:rPr>
              <a:t> so that all threads should wake up and check their while-loop condition.</a:t>
            </a:r>
            <a:endParaRPr/>
          </a:p>
        </p:txBody>
      </p:sp>
      <p:sp>
        <p:nvSpPr>
          <p:cNvPr id="109" name="Google Shape;109;p20"/>
          <p:cNvSpPr txBox="1"/>
          <p:nvPr/>
        </p:nvSpPr>
        <p:spPr>
          <a:xfrm>
            <a:off x="4490950" y="3553025"/>
            <a:ext cx="4569900" cy="13488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2"/>
                </a:solidFill>
              </a:rPr>
              <a:t>Problem with this solution</a:t>
            </a:r>
            <a:endParaRPr b="1">
              <a:solidFill>
                <a:schemeClr val="dk2"/>
              </a:solidFill>
            </a:endParaRPr>
          </a:p>
          <a:p>
            <a:pPr indent="-317500" lvl="0" marL="457200" rtl="0" algn="l">
              <a:lnSpc>
                <a:spcPct val="115000"/>
              </a:lnSpc>
              <a:spcBef>
                <a:spcPts val="1600"/>
              </a:spcBef>
              <a:spcAft>
                <a:spcPts val="1600"/>
              </a:spcAft>
              <a:buClr>
                <a:schemeClr val="dk2"/>
              </a:buClr>
              <a:buSzPts val="1400"/>
              <a:buChar char="●"/>
            </a:pPr>
            <a:r>
              <a:rPr lang="en">
                <a:solidFill>
                  <a:schemeClr val="dk2"/>
                </a:solidFill>
              </a:rPr>
              <a:t>Starvation: If readers are constantly arriving then a writer will never be able to proceed</a:t>
            </a:r>
            <a:r>
              <a:rPr b="1" lang="en">
                <a:solidFill>
                  <a:schemeClr val="dk2"/>
                </a:solidFill>
              </a:rPr>
              <a:t> (the ‘reading’ count never reduces to zero)</a:t>
            </a:r>
            <a:r>
              <a:rPr lang="en">
                <a:solidFill>
                  <a:schemeClr val="dk2"/>
                </a:solidFill>
              </a:rPr>
              <a:t>.</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attempt</a:t>
            </a:r>
            <a:endParaRPr/>
          </a:p>
        </p:txBody>
      </p:sp>
      <p:sp>
        <p:nvSpPr>
          <p:cNvPr id="115" name="Google Shape;115;p2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a bounded-wait for the writer. </a:t>
            </a:r>
            <a:endParaRPr/>
          </a:p>
          <a:p>
            <a:pPr indent="-317500" lvl="0" marL="457200" rtl="0" algn="l">
              <a:spcBef>
                <a:spcPts val="1600"/>
              </a:spcBef>
              <a:spcAft>
                <a:spcPts val="0"/>
              </a:spcAft>
              <a:buSzPts val="1400"/>
              <a:buChar char="●"/>
            </a:pPr>
            <a:r>
              <a:rPr lang="en"/>
              <a:t>If a writer arrives they will still need to wait for existing readers </a:t>
            </a:r>
            <a:endParaRPr/>
          </a:p>
          <a:p>
            <a:pPr indent="-317500" lvl="0" marL="457200" rtl="0" algn="l">
              <a:spcBef>
                <a:spcPts val="0"/>
              </a:spcBef>
              <a:spcAft>
                <a:spcPts val="0"/>
              </a:spcAft>
              <a:buSzPts val="1400"/>
              <a:buChar char="●"/>
            </a:pPr>
            <a:r>
              <a:rPr lang="en"/>
              <a:t>however future readers must be placed in a “holding pen” and wait for the writer to finish.</a:t>
            </a:r>
            <a:endParaRPr/>
          </a:p>
          <a:p>
            <a:pPr indent="0" lvl="0" marL="0" rtl="0" algn="l">
              <a:spcBef>
                <a:spcPts val="1600"/>
              </a:spcBef>
              <a:spcAft>
                <a:spcPts val="1600"/>
              </a:spcAft>
              <a:buNone/>
            </a:pPr>
            <a:r>
              <a:t/>
            </a:r>
            <a:endParaRPr/>
          </a:p>
        </p:txBody>
      </p:sp>
      <p:sp>
        <p:nvSpPr>
          <p:cNvPr id="116" name="Google Shape;116;p2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plan is when a writer arrives, and before waiting for current readers to finish, register our intent to write by incrementing a counter ‘writer’</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writer solution </a:t>
            </a:r>
            <a:endParaRPr/>
          </a:p>
        </p:txBody>
      </p:sp>
      <p:sp>
        <p:nvSpPr>
          <p:cNvPr id="122" name="Google Shape;122;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795E26"/>
                </a:solidFill>
                <a:highlight>
                  <a:srgbClr val="FFFFFF"/>
                </a:highlight>
                <a:latin typeface="Consolas"/>
                <a:ea typeface="Consolas"/>
                <a:cs typeface="Consolas"/>
                <a:sym typeface="Consolas"/>
              </a:rPr>
              <a:t>writer</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writers++</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AF00DB"/>
                </a:solidFill>
                <a:highlight>
                  <a:schemeClr val="accent6"/>
                </a:highlight>
                <a:latin typeface="Consolas"/>
                <a:ea typeface="Consolas"/>
                <a:cs typeface="Consolas"/>
                <a:sym typeface="Consolas"/>
              </a:rPr>
              <a:t>while</a:t>
            </a:r>
            <a:r>
              <a:rPr b="1" lang="en" sz="1200">
                <a:solidFill>
                  <a:schemeClr val="dk1"/>
                </a:solidFill>
                <a:highlight>
                  <a:schemeClr val="accent6"/>
                </a:highlight>
                <a:latin typeface="Consolas"/>
                <a:ea typeface="Consolas"/>
                <a:cs typeface="Consolas"/>
                <a:sym typeface="Consolas"/>
              </a:rPr>
              <a:t> (reading ||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cond_wait</a:t>
            </a:r>
            <a:r>
              <a:rPr b="1" lang="en" sz="1200">
                <a:solidFill>
                  <a:schemeClr val="dk1"/>
                </a:solidFill>
                <a:highlight>
                  <a:schemeClr val="accent6"/>
                </a:highlight>
                <a:latin typeface="Consolas"/>
                <a:ea typeface="Consolas"/>
                <a:cs typeface="Consolas"/>
                <a:sym typeface="Consolas"/>
              </a:rPr>
              <a:t>(&amp;cv, &amp;m)</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perform writing here</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writing--</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writers--</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cond_broadcast</a:t>
            </a:r>
            <a:r>
              <a:rPr b="1" lang="en" sz="1200">
                <a:solidFill>
                  <a:schemeClr val="dk1"/>
                </a:solidFill>
                <a:highlight>
                  <a:schemeClr val="accent6"/>
                </a:highlight>
                <a:latin typeface="Consolas"/>
                <a:ea typeface="Consolas"/>
                <a:cs typeface="Consolas"/>
                <a:sym typeface="Consolas"/>
              </a:rPr>
              <a:t>(&amp;cv)</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200">
              <a:solidFill>
                <a:srgbClr val="795E26"/>
              </a:solidFill>
              <a:highlight>
                <a:srgbClr val="FFFFFF"/>
              </a:highlight>
              <a:latin typeface="Consolas"/>
              <a:ea typeface="Consolas"/>
              <a:cs typeface="Consolas"/>
              <a:sym typeface="Consolas"/>
            </a:endParaRPr>
          </a:p>
        </p:txBody>
      </p:sp>
      <p:sp>
        <p:nvSpPr>
          <p:cNvPr id="123" name="Google Shape;123;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1600"/>
              </a:spcAft>
              <a:buSzPts val="1400"/>
              <a:buChar char="●"/>
            </a:pPr>
            <a:r>
              <a:rPr lang="en"/>
              <a:t>Readers wait for the writers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212900"/>
            <a:ext cx="8520600" cy="6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reader solution</a:t>
            </a:r>
            <a:endParaRPr/>
          </a:p>
        </p:txBody>
      </p:sp>
      <p:sp>
        <p:nvSpPr>
          <p:cNvPr id="129" name="Google Shape;129;p23"/>
          <p:cNvSpPr txBox="1"/>
          <p:nvPr>
            <p:ph idx="1" type="body"/>
          </p:nvPr>
        </p:nvSpPr>
        <p:spPr>
          <a:xfrm>
            <a:off x="311700" y="784400"/>
            <a:ext cx="7465200" cy="3649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read</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/*check if any writers waiting*/</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while</a:t>
            </a:r>
            <a:r>
              <a:rPr b="1" lang="en" sz="1200">
                <a:solidFill>
                  <a:schemeClr val="dk1"/>
                </a:solidFill>
                <a:highlight>
                  <a:srgbClr val="FFFFFF"/>
                </a:highlight>
                <a:latin typeface="Consolas"/>
                <a:ea typeface="Consolas"/>
                <a:cs typeface="Consolas"/>
                <a:sym typeface="Consolas"/>
              </a:rPr>
              <a:t>(writers)</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cond_wait</a:t>
            </a:r>
            <a:r>
              <a:rPr b="1" lang="en" sz="1200">
                <a:solidFill>
                  <a:schemeClr val="dk1"/>
                </a:solidFill>
                <a:highlight>
                  <a:srgbClr val="FFFFFF"/>
                </a:highlight>
                <a:latin typeface="Consolas"/>
                <a:ea typeface="Consolas"/>
                <a:cs typeface="Consolas"/>
                <a:sym typeface="Consolas"/>
              </a:rPr>
              <a:t>(&amp;cv,&amp;m)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00">
                <a:solidFill>
                  <a:schemeClr val="dk1"/>
                </a:solidFill>
                <a:highlight>
                  <a:schemeClr val="accent6"/>
                </a:highlight>
                <a:latin typeface="Consolas"/>
                <a:ea typeface="Consolas"/>
                <a:cs typeface="Consolas"/>
                <a:sym typeface="Consolas"/>
              </a:rPr>
              <a:t>   </a:t>
            </a:r>
            <a:r>
              <a:rPr b="1" lang="en" sz="1300">
                <a:solidFill>
                  <a:srgbClr val="008000"/>
                </a:solidFill>
                <a:highlight>
                  <a:schemeClr val="accent6"/>
                </a:highlight>
                <a:latin typeface="Consolas"/>
                <a:ea typeface="Consolas"/>
                <a:cs typeface="Consolas"/>
                <a:sym typeface="Consolas"/>
              </a:rPr>
              <a:t>/*</a:t>
            </a:r>
            <a:r>
              <a:rPr lang="en" sz="1000">
                <a:solidFill>
                  <a:schemeClr val="dk1"/>
                </a:solidFill>
                <a:highlight>
                  <a:schemeClr val="accent6"/>
                </a:highlight>
                <a:latin typeface="Consolas"/>
                <a:ea typeface="Consolas"/>
                <a:cs typeface="Consolas"/>
                <a:sym typeface="Consolas"/>
              </a:rPr>
              <a:t> </a:t>
            </a:r>
            <a:r>
              <a:rPr lang="en" sz="1000">
                <a:solidFill>
                  <a:srgbClr val="008000"/>
                </a:solidFill>
                <a:highlight>
                  <a:schemeClr val="accent6"/>
                </a:highlight>
                <a:latin typeface="Consolas"/>
                <a:ea typeface="Consolas"/>
                <a:cs typeface="Consolas"/>
                <a:sym typeface="Consolas"/>
              </a:rPr>
              <a:t> No need to wait while(writing here) because it only exits the above loop when writing is zero</a:t>
            </a:r>
            <a:r>
              <a:rPr b="1" lang="en" sz="1300">
                <a:solidFill>
                  <a:srgbClr val="008000"/>
                </a:solidFill>
                <a:highlight>
                  <a:schemeClr val="accent6"/>
                </a:highlight>
                <a:latin typeface="Consolas"/>
                <a:ea typeface="Consolas"/>
                <a:cs typeface="Consolas"/>
                <a:sym typeface="Consolas"/>
              </a:rPr>
              <a:t>*/</a:t>
            </a:r>
            <a:endParaRPr b="1" sz="1300">
              <a:solidFill>
                <a:srgbClr val="008000"/>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rgbClr val="AF00DB"/>
                </a:solidFill>
                <a:highlight>
                  <a:schemeClr val="accent6"/>
                </a:highlight>
                <a:latin typeface="Consolas"/>
                <a:ea typeface="Consolas"/>
                <a:cs typeface="Consolas"/>
                <a:sym typeface="Consolas"/>
              </a:rPr>
              <a:t>while</a:t>
            </a:r>
            <a:r>
              <a:rPr b="1" lang="en" sz="1200">
                <a:solidFill>
                  <a:schemeClr val="dk1"/>
                </a:solidFill>
                <a:highlight>
                  <a:schemeClr val="accent6"/>
                </a:highlight>
                <a:latin typeface="Consolas"/>
                <a:ea typeface="Consolas"/>
                <a:cs typeface="Consolas"/>
                <a:sym typeface="Consolas"/>
              </a:rPr>
              <a:t>(writing) </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chemeClr val="accent6"/>
                </a:highlight>
                <a:latin typeface="Consolas"/>
                <a:ea typeface="Consolas"/>
                <a:cs typeface="Consolas"/>
                <a:sym typeface="Consolas"/>
              </a:rPr>
              <a:t>       </a:t>
            </a:r>
            <a:r>
              <a:rPr b="1" lang="en" sz="1200">
                <a:solidFill>
                  <a:srgbClr val="795E26"/>
                </a:solidFill>
                <a:highlight>
                  <a:schemeClr val="accent6"/>
                </a:highlight>
                <a:latin typeface="Consolas"/>
                <a:ea typeface="Consolas"/>
                <a:cs typeface="Consolas"/>
                <a:sym typeface="Consolas"/>
              </a:rPr>
              <a:t>cond_wait</a:t>
            </a:r>
            <a:r>
              <a:rPr b="1" lang="en" sz="1200">
                <a:solidFill>
                  <a:schemeClr val="dk1"/>
                </a:solidFill>
                <a:highlight>
                  <a:schemeClr val="accent6"/>
                </a:highlight>
                <a:latin typeface="Consolas"/>
                <a:ea typeface="Consolas"/>
                <a:cs typeface="Consolas"/>
                <a:sym typeface="Consolas"/>
              </a:rPr>
              <a:t>(&amp;cv,&amp;m)</a:t>
            </a:r>
            <a:endParaRPr b="1" sz="1200">
              <a:solidFill>
                <a:schemeClr val="dk1"/>
              </a:solidFill>
              <a:highlight>
                <a:schemeClr val="accent6"/>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reading++</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rgbClr val="795E26"/>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 Read here!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reading--</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cond_signal</a:t>
            </a:r>
            <a:r>
              <a:rPr b="1" lang="en" sz="1200">
                <a:solidFill>
                  <a:schemeClr val="dk1"/>
                </a:solidFill>
                <a:highlight>
                  <a:srgbClr val="FFFFFF"/>
                </a:highlight>
                <a:latin typeface="Consolas"/>
                <a:ea typeface="Consolas"/>
                <a:cs typeface="Consolas"/>
                <a:sym typeface="Consolas"/>
              </a:rPr>
              <a:t>(&amp;cv)</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unlock</a:t>
            </a:r>
            <a:r>
              <a:rPr b="1" lang="en" sz="1200">
                <a:solidFill>
                  <a:schemeClr val="dk1"/>
                </a:solidFill>
                <a:highlight>
                  <a:srgbClr val="FFFFFF"/>
                </a:highlight>
                <a:latin typeface="Consolas"/>
                <a:ea typeface="Consolas"/>
                <a:cs typeface="Consolas"/>
                <a:sym typeface="Consolas"/>
              </a:rPr>
              <a:t>(&amp;m)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50000"/>
              </a:lnSpc>
              <a:spcBef>
                <a:spcPts val="1200"/>
              </a:spcBef>
              <a:spcAft>
                <a:spcPts val="1200"/>
              </a:spcAft>
              <a:buNone/>
            </a:pPr>
            <a:r>
              <a:t/>
            </a:r>
            <a:endParaRPr b="1" sz="1200">
              <a:solidFill>
                <a:srgbClr val="0000FF"/>
              </a:solidFill>
              <a:highlight>
                <a:srgbClr val="FFFFFF"/>
              </a:highlight>
              <a:latin typeface="Consolas"/>
              <a:ea typeface="Consolas"/>
              <a:cs typeface="Consolas"/>
              <a:sym typeface="Consolas"/>
            </a:endParaRPr>
          </a:p>
        </p:txBody>
      </p:sp>
      <p:sp>
        <p:nvSpPr>
          <p:cNvPr id="130" name="Google Shape;130;p2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Readers wait for the writers</a:t>
            </a:r>
            <a:endParaRPr/>
          </a:p>
          <a:p>
            <a:pPr indent="-304800" lvl="1" marL="914400" rtl="0" algn="l">
              <a:spcBef>
                <a:spcPts val="0"/>
              </a:spcBef>
              <a:spcAft>
                <a:spcPts val="0"/>
              </a:spcAft>
              <a:buSzPts val="1200"/>
              <a:buChar char="○"/>
            </a:pPr>
            <a:r>
              <a:rPr lang="en"/>
              <a:t>Writers have higher priority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consumer-producer problem</a:t>
            </a:r>
            <a:endParaRPr/>
          </a:p>
        </p:txBody>
      </p:sp>
      <p:sp>
        <p:nvSpPr>
          <p:cNvPr id="136" name="Google Shape;136;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 a finite-size buffer</a:t>
            </a:r>
            <a:endParaRPr/>
          </a:p>
          <a:p>
            <a:pPr indent="-342900" lvl="0" marL="457200" rtl="0" algn="l">
              <a:spcBef>
                <a:spcPts val="0"/>
              </a:spcBef>
              <a:spcAft>
                <a:spcPts val="0"/>
              </a:spcAft>
              <a:buSzPts val="1800"/>
              <a:buChar char="●"/>
            </a:pPr>
            <a:r>
              <a:rPr lang="en"/>
              <a:t> and two classes of threads, producers and consumers,</a:t>
            </a:r>
            <a:endParaRPr/>
          </a:p>
          <a:p>
            <a:pPr indent="-317500" lvl="1" marL="914400" rtl="0" algn="l">
              <a:spcBef>
                <a:spcPts val="0"/>
              </a:spcBef>
              <a:spcAft>
                <a:spcPts val="0"/>
              </a:spcAft>
              <a:buSzPts val="1400"/>
              <a:buChar char="○"/>
            </a:pPr>
            <a:r>
              <a:rPr lang="en"/>
              <a:t>producers: put items into the buffer</a:t>
            </a:r>
            <a:endParaRPr/>
          </a:p>
          <a:p>
            <a:pPr indent="-317500" lvl="1" marL="914400" rtl="0" algn="l">
              <a:spcBef>
                <a:spcPts val="0"/>
              </a:spcBef>
              <a:spcAft>
                <a:spcPts val="0"/>
              </a:spcAft>
              <a:buSzPts val="1400"/>
              <a:buChar char="○"/>
            </a:pPr>
            <a:r>
              <a:rPr lang="en"/>
              <a:t>consumers: take items out of the buffer </a:t>
            </a:r>
            <a:endParaRPr/>
          </a:p>
          <a:p>
            <a:pPr indent="-342900" lvl="0" marL="457200" rtl="0" algn="l">
              <a:spcBef>
                <a:spcPts val="0"/>
              </a:spcBef>
              <a:spcAft>
                <a:spcPts val="0"/>
              </a:spcAft>
              <a:buSzPts val="1800"/>
              <a:buChar char="●"/>
            </a:pPr>
            <a:r>
              <a:rPr lang="en"/>
              <a:t>A producer must wait until the buffer has space before it can put something in, </a:t>
            </a:r>
            <a:endParaRPr/>
          </a:p>
          <a:p>
            <a:pPr indent="-342900" lvl="0" marL="457200" rtl="0" algn="l">
              <a:spcBef>
                <a:spcPts val="0"/>
              </a:spcBef>
              <a:spcAft>
                <a:spcPts val="0"/>
              </a:spcAft>
              <a:buSzPts val="1800"/>
              <a:buChar char="●"/>
            </a:pPr>
            <a:r>
              <a:rPr lang="en"/>
              <a:t>and a consumer must wait until something is in the buffer before it can take something out.</a:t>
            </a:r>
            <a:endParaRPr/>
          </a:p>
          <a:p>
            <a:pPr indent="0" lvl="0" marL="0" rtl="0" algn="l">
              <a:spcBef>
                <a:spcPts val="1200"/>
              </a:spcBef>
              <a:spcAft>
                <a:spcPts val="1600"/>
              </a:spcAft>
              <a:buNone/>
            </a:pPr>
            <a:r>
              <a:rPr lang="en"/>
              <a:t>A </a:t>
            </a:r>
            <a:r>
              <a:rPr b="1" lang="en"/>
              <a:t>condition variable</a:t>
            </a:r>
            <a:r>
              <a:rPr lang="en"/>
              <a:t> represents a queue of threads waiting for some condition to be signaled.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Ring buffer</a:t>
            </a:r>
            <a:endParaRPr/>
          </a:p>
        </p:txBody>
      </p:sp>
      <p:sp>
        <p:nvSpPr>
          <p:cNvPr id="142" name="Google Shape;142;p2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 ring buffer is a simple, usually fixed-sized, storage mechanism </a:t>
            </a:r>
            <a:endParaRPr/>
          </a:p>
          <a:p>
            <a:pPr indent="-304800" lvl="1" marL="914400" rtl="0" algn="l">
              <a:spcBef>
                <a:spcPts val="0"/>
              </a:spcBef>
              <a:spcAft>
                <a:spcPts val="0"/>
              </a:spcAft>
              <a:buSzPts val="1200"/>
              <a:buChar char="○"/>
            </a:pPr>
            <a:r>
              <a:rPr lang="en"/>
              <a:t>where contiguous memory is treated as if it is circular, </a:t>
            </a:r>
            <a:endParaRPr/>
          </a:p>
          <a:p>
            <a:pPr indent="-304800" lvl="1" marL="914400" rtl="0" algn="l">
              <a:spcBef>
                <a:spcPts val="0"/>
              </a:spcBef>
              <a:spcAft>
                <a:spcPts val="0"/>
              </a:spcAft>
              <a:buSzPts val="1200"/>
              <a:buChar char="○"/>
            </a:pPr>
            <a:r>
              <a:rPr lang="en"/>
              <a:t>and two index counters keep track of the current beginning and end of the queue. </a:t>
            </a:r>
            <a:endParaRPr/>
          </a:p>
          <a:p>
            <a:pPr indent="-317500" lvl="0" marL="457200" rtl="0" algn="l">
              <a:spcBef>
                <a:spcPts val="0"/>
              </a:spcBef>
              <a:spcAft>
                <a:spcPts val="0"/>
              </a:spcAft>
              <a:buSzPts val="1400"/>
              <a:buChar char="●"/>
            </a:pPr>
            <a:r>
              <a:rPr lang="en"/>
              <a:t>As an array</a:t>
            </a:r>
            <a:endParaRPr/>
          </a:p>
          <a:p>
            <a:pPr indent="0" lvl="0" marL="0" rtl="0" algn="l">
              <a:lnSpc>
                <a:spcPct val="150000"/>
              </a:lnSpc>
              <a:spcBef>
                <a:spcPts val="1600"/>
              </a:spcBef>
              <a:spcAft>
                <a:spcPts val="0"/>
              </a:spcAft>
              <a:buNone/>
            </a:pPr>
            <a:r>
              <a:rPr b="1" lang="en" sz="1200">
                <a:solidFill>
                  <a:srgbClr val="0000FF"/>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r>
              <a:rPr b="1" lang="en" sz="1200">
                <a:solidFill>
                  <a:srgbClr val="001080"/>
                </a:solidFill>
                <a:highlight>
                  <a:srgbClr val="FFFFFF"/>
                </a:highlight>
                <a:latin typeface="Courier New"/>
                <a:ea typeface="Courier New"/>
                <a:cs typeface="Courier New"/>
                <a:sym typeface="Courier New"/>
              </a:rPr>
              <a:t>buffer</a:t>
            </a:r>
            <a:r>
              <a:rPr b="1" lang="en" sz="1200">
                <a:solidFill>
                  <a:schemeClr val="dk1"/>
                </a:solidFill>
                <a:highlight>
                  <a:srgbClr val="FFFFFF"/>
                </a:highlight>
                <a:latin typeface="Courier New"/>
                <a:ea typeface="Courier New"/>
                <a:cs typeface="Courier New"/>
                <a:sym typeface="Courier New"/>
              </a:rPr>
              <a:t>[</a:t>
            </a:r>
            <a:r>
              <a:rPr b="1" lang="en" sz="1200">
                <a:solidFill>
                  <a:srgbClr val="098658"/>
                </a:solidFill>
                <a:highlight>
                  <a:srgbClr val="FFFFFF"/>
                </a:highlight>
                <a:latin typeface="Courier New"/>
                <a:ea typeface="Courier New"/>
                <a:cs typeface="Courier New"/>
                <a:sym typeface="Courier New"/>
              </a:rPr>
              <a:t>16</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urier New"/>
                <a:ea typeface="Courier New"/>
                <a:cs typeface="Courier New"/>
                <a:sym typeface="Courier New"/>
              </a:rPr>
              <a:t>unsigned</a:t>
            </a:r>
            <a:r>
              <a:rPr b="1" lang="en" sz="1200">
                <a:solidFill>
                  <a:schemeClr val="dk1"/>
                </a:solidFill>
                <a:highlight>
                  <a:srgbClr val="FFFFFF"/>
                </a:highlight>
                <a:latin typeface="Courier New"/>
                <a:ea typeface="Courier New"/>
                <a:cs typeface="Courier New"/>
                <a:sym typeface="Courier New"/>
              </a:rPr>
              <a:t> </a:t>
            </a:r>
            <a:r>
              <a:rPr b="1" lang="en" sz="1200">
                <a:solidFill>
                  <a:srgbClr val="0000FF"/>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in = </a:t>
            </a:r>
            <a:r>
              <a:rPr b="1" lang="en" sz="1200">
                <a:solidFill>
                  <a:srgbClr val="098658"/>
                </a:solidFill>
                <a:highlight>
                  <a:srgbClr val="FFFFFF"/>
                </a:highlight>
                <a:latin typeface="Courier New"/>
                <a:ea typeface="Courier New"/>
                <a:cs typeface="Courier New"/>
                <a:sym typeface="Courier New"/>
              </a:rPr>
              <a:t>0</a:t>
            </a:r>
            <a:r>
              <a:rPr b="1" lang="en" sz="1200">
                <a:solidFill>
                  <a:schemeClr val="dk1"/>
                </a:solidFill>
                <a:highlight>
                  <a:srgbClr val="FFFFFF"/>
                </a:highlight>
                <a:latin typeface="Courier New"/>
                <a:ea typeface="Courier New"/>
                <a:cs typeface="Courier New"/>
                <a:sym typeface="Courier New"/>
              </a:rPr>
              <a:t>, out = </a:t>
            </a:r>
            <a:r>
              <a:rPr b="1" lang="en" sz="1200">
                <a:solidFill>
                  <a:srgbClr val="098658"/>
                </a:solidFill>
                <a:highlight>
                  <a:srgbClr val="FFFFFF"/>
                </a:highlight>
                <a:latin typeface="Courier New"/>
                <a:ea typeface="Courier New"/>
                <a:cs typeface="Courier New"/>
                <a:sym typeface="Courier New"/>
              </a:rPr>
              <a:t>0</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457200" rtl="0" algn="l">
              <a:spcBef>
                <a:spcPts val="0"/>
              </a:spcBef>
              <a:spcAft>
                <a:spcPts val="1600"/>
              </a:spcAft>
              <a:buNone/>
            </a:pPr>
            <a:r>
              <a:t/>
            </a:r>
            <a:endParaRPr/>
          </a:p>
        </p:txBody>
      </p:sp>
      <p:pic>
        <p:nvPicPr>
          <p:cNvPr id="143" name="Google Shape;143;p25"/>
          <p:cNvPicPr preferRelativeResize="0"/>
          <p:nvPr/>
        </p:nvPicPr>
        <p:blipFill>
          <a:blip r:embed="rId3">
            <a:alphaModFix/>
          </a:blip>
          <a:stretch>
            <a:fillRect/>
          </a:stretch>
        </p:blipFill>
        <p:spPr>
          <a:xfrm>
            <a:off x="4394650" y="299325"/>
            <a:ext cx="4749351" cy="3805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Ring buffer queue operations</a:t>
            </a:r>
            <a:endParaRPr/>
          </a:p>
        </p:txBody>
      </p:sp>
      <p:sp>
        <p:nvSpPr>
          <p:cNvPr id="149" name="Google Shape;149;p26"/>
          <p:cNvSpPr txBox="1"/>
          <p:nvPr>
            <p:ph idx="1" type="body"/>
          </p:nvPr>
        </p:nvSpPr>
        <p:spPr>
          <a:xfrm>
            <a:off x="311700" y="1152475"/>
            <a:ext cx="43275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buffer</a:t>
            </a:r>
            <a:r>
              <a:rPr b="1" lang="en" sz="1200">
                <a:solidFill>
                  <a:schemeClr val="dk1"/>
                </a:solidFill>
                <a:highlight>
                  <a:srgbClr val="FFFFFF"/>
                </a:highlight>
                <a:latin typeface="Consolas"/>
                <a:ea typeface="Consolas"/>
                <a:cs typeface="Consolas"/>
                <a:sym typeface="Consolas"/>
              </a:rPr>
              <a:t>[</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unsigned</a:t>
            </a: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enqueue</a:t>
            </a:r>
            <a:r>
              <a:rPr b="1" lang="en" sz="1200">
                <a:solidFill>
                  <a:schemeClr val="dk1"/>
                </a:solidFill>
                <a:highlight>
                  <a:srgbClr val="FFFFFF"/>
                </a:highlight>
                <a:latin typeface="Consolas"/>
                <a:ea typeface="Consolas"/>
                <a:cs typeface="Consolas"/>
                <a:sym typeface="Consolas"/>
              </a:rPr>
              <a:t>(</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value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buffer</a:t>
            </a:r>
            <a:r>
              <a:rPr b="1" lang="en" sz="1200">
                <a:solidFill>
                  <a:schemeClr val="dk1"/>
                </a:solidFill>
                <a:highlight>
                  <a:srgbClr val="FFFFFF"/>
                </a:highlight>
                <a:latin typeface="Consolas"/>
                <a:ea typeface="Consolas"/>
                <a:cs typeface="Consolas"/>
                <a:sym typeface="Consolas"/>
              </a:rPr>
              <a:t>[in] = value;</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in++; </a:t>
            </a:r>
            <a:r>
              <a:rPr b="1" lang="en" sz="1200">
                <a:solidFill>
                  <a:srgbClr val="008000"/>
                </a:solidFill>
                <a:highlight>
                  <a:srgbClr val="FFFFFF"/>
                </a:highlight>
                <a:latin typeface="Consolas"/>
                <a:ea typeface="Consolas"/>
                <a:cs typeface="Consolas"/>
                <a:sym typeface="Consolas"/>
              </a:rPr>
              <a:t>/* Advance the index for next time */</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if</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Wrap around! */</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50" name="Google Shape;150;p2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*result = </a:t>
            </a:r>
            <a:r>
              <a:rPr b="1" lang="en" sz="1200">
                <a:solidFill>
                  <a:srgbClr val="001080"/>
                </a:solidFill>
                <a:highlight>
                  <a:srgbClr val="FFFFFF"/>
                </a:highlight>
                <a:latin typeface="Consolas"/>
                <a:ea typeface="Consolas"/>
                <a:cs typeface="Consolas"/>
                <a:sym typeface="Consolas"/>
              </a:rPr>
              <a:t>buffer</a:t>
            </a:r>
            <a:r>
              <a:rPr b="1" lang="en" sz="1200">
                <a:solidFill>
                  <a:schemeClr val="dk1"/>
                </a:solidFill>
                <a:highlight>
                  <a:srgbClr val="FFFFFF"/>
                </a:highlight>
                <a:latin typeface="Consolas"/>
                <a:ea typeface="Consolas"/>
                <a:cs typeface="Consolas"/>
                <a:sym typeface="Consolas"/>
              </a:rPr>
              <a:t>[out];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out++;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if</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 result;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51" name="Google Shape;151;p26"/>
          <p:cNvSpPr txBox="1"/>
          <p:nvPr/>
        </p:nvSpPr>
        <p:spPr>
          <a:xfrm>
            <a:off x="1400725" y="3653125"/>
            <a:ext cx="6117600" cy="1125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No control for buffer overflow/underflow!</a:t>
            </a:r>
            <a:endParaRPr/>
          </a:p>
          <a:p>
            <a:pPr indent="-304800" lvl="0" marL="457200" rtl="0" algn="l">
              <a:lnSpc>
                <a:spcPct val="150000"/>
              </a:lnSpc>
              <a:spcBef>
                <a:spcPts val="0"/>
              </a:spcBef>
              <a:spcAft>
                <a:spcPts val="0"/>
              </a:spcAft>
              <a:buSzPts val="1200"/>
              <a:buFont typeface="Consolas"/>
              <a:buChar char="●"/>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if</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304800" lvl="1" marL="914400" rtl="0" algn="l">
              <a:lnSpc>
                <a:spcPct val="150000"/>
              </a:lnSpc>
              <a:spcBef>
                <a:spcPts val="0"/>
              </a:spcBef>
              <a:spcAft>
                <a:spcPts val="0"/>
              </a:spcAft>
              <a:buSzPts val="1200"/>
              <a:buFont typeface="Consolas"/>
              <a:buChar char="○"/>
            </a:pPr>
            <a:r>
              <a:rPr b="1" lang="en" sz="1200">
                <a:solidFill>
                  <a:schemeClr val="dk1"/>
                </a:solidFill>
                <a:highlight>
                  <a:srgbClr val="FFFFFF"/>
                </a:highlight>
                <a:latin typeface="Consolas"/>
                <a:ea typeface="Consolas"/>
                <a:cs typeface="Consolas"/>
                <a:sym typeface="Consolas"/>
              </a:rPr>
              <a:t>Using (</a:t>
            </a:r>
            <a:r>
              <a:rPr b="1" lang="en" sz="1200">
                <a:solidFill>
                  <a:schemeClr val="dk1"/>
                </a:solidFill>
                <a:highlight>
                  <a:srgbClr val="FFFFFF"/>
                </a:highlight>
                <a:latin typeface="Consolas"/>
                <a:ea typeface="Consolas"/>
                <a:cs typeface="Consolas"/>
                <a:sym typeface="Consolas"/>
              </a:rPr>
              <a:t>in %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may cause problems if in is too big</a:t>
            </a:r>
            <a:endParaRPr b="1" sz="1200">
              <a:solidFill>
                <a:schemeClr val="dk1"/>
              </a:solidFill>
              <a:highlight>
                <a:srgbClr val="FFFFFF"/>
              </a:highlight>
              <a:latin typeface="Consolas"/>
              <a:ea typeface="Consolas"/>
              <a:cs typeface="Consolas"/>
              <a:sym typeface="Consolas"/>
            </a:endParaRPr>
          </a:p>
          <a:p>
            <a:pPr indent="-304800" lvl="1" marL="914400" rtl="0" algn="l">
              <a:lnSpc>
                <a:spcPct val="150000"/>
              </a:lnSpc>
              <a:spcBef>
                <a:spcPts val="0"/>
              </a:spcBef>
              <a:spcAft>
                <a:spcPts val="0"/>
              </a:spcAft>
              <a:buClr>
                <a:schemeClr val="dk1"/>
              </a:buClr>
              <a:buSzPts val="1200"/>
              <a:buFont typeface="Consolas"/>
              <a:buChar char="○"/>
            </a:pPr>
            <a:r>
              <a:rPr b="1" lang="en" sz="1200">
                <a:solidFill>
                  <a:schemeClr val="dk1"/>
                </a:solidFill>
                <a:highlight>
                  <a:srgbClr val="FFFFFF"/>
                </a:highlight>
                <a:latin typeface="Consolas"/>
                <a:ea typeface="Consolas"/>
                <a:cs typeface="Consolas"/>
                <a:sym typeface="Consolas"/>
              </a:rPr>
              <a:t>b[ (in++) &amp; (N-1) ] = value;</a:t>
            </a:r>
            <a:endParaRPr b="1" sz="120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4953000" y="131250"/>
            <a:ext cx="3733500" cy="41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Multithread solution: </a:t>
            </a:r>
            <a:r>
              <a:rPr b="1" lang="en">
                <a:solidFill>
                  <a:srgbClr val="980000"/>
                </a:solidFill>
                <a:highlight>
                  <a:srgbClr val="F4CCCC"/>
                </a:highlight>
              </a:rPr>
              <a:t>incorrect</a:t>
            </a:r>
            <a:r>
              <a:rPr lang="en"/>
              <a:t> attempt</a:t>
            </a:r>
            <a:endParaRPr/>
          </a:p>
        </p:txBody>
      </p:sp>
      <p:sp>
        <p:nvSpPr>
          <p:cNvPr id="157" name="Google Shape;157;p27"/>
          <p:cNvSpPr txBox="1"/>
          <p:nvPr>
            <p:ph idx="1" type="body"/>
          </p:nvPr>
        </p:nvSpPr>
        <p:spPr>
          <a:xfrm>
            <a:off x="311700" y="179300"/>
            <a:ext cx="3999900" cy="4389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AF00DB"/>
                </a:solidFill>
                <a:highlight>
                  <a:srgbClr val="FFFFFF"/>
                </a:highlight>
                <a:latin typeface="Consolas"/>
                <a:ea typeface="Consolas"/>
                <a:cs typeface="Consolas"/>
                <a:sym typeface="Consolas"/>
              </a:rPr>
              <a:t>#define</a:t>
            </a:r>
            <a:r>
              <a:rPr b="1" lang="en" sz="1200">
                <a:solidFill>
                  <a:srgbClr val="0000FF"/>
                </a:solidFill>
                <a:highlight>
                  <a:srgbClr val="FFFFFF"/>
                </a:highlight>
                <a:latin typeface="Consolas"/>
                <a:ea typeface="Consolas"/>
                <a:cs typeface="Consolas"/>
                <a:sym typeface="Consolas"/>
              </a:rPr>
              <a:t> N </a:t>
            </a:r>
            <a:r>
              <a:rPr b="1" lang="en" sz="1200">
                <a:solidFill>
                  <a:srgbClr val="098658"/>
                </a:solidFill>
                <a:highlight>
                  <a:srgbClr val="FFFFFF"/>
                </a:highlight>
                <a:latin typeface="Consolas"/>
                <a:ea typeface="Consolas"/>
                <a:cs typeface="Consolas"/>
                <a:sym typeface="Consolas"/>
              </a:rPr>
              <a:t>16</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[N]</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0;</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267F99"/>
                </a:solidFill>
                <a:highlight>
                  <a:srgbClr val="FFFFFF"/>
                </a:highlight>
                <a:latin typeface="Consolas"/>
                <a:ea typeface="Consolas"/>
                <a:cs typeface="Consolas"/>
                <a:sym typeface="Consolas"/>
              </a:rPr>
              <a:t>p_m_t</a:t>
            </a:r>
            <a:r>
              <a:rPr b="1" lang="en" sz="1200">
                <a:solidFill>
                  <a:schemeClr val="dk1"/>
                </a:solidFill>
                <a:highlight>
                  <a:srgbClr val="FFFFFF"/>
                </a:highlight>
                <a:latin typeface="Consolas"/>
                <a:ea typeface="Consolas"/>
                <a:cs typeface="Consolas"/>
                <a:sym typeface="Consolas"/>
              </a:rPr>
              <a:t> lock; </a:t>
            </a:r>
            <a:r>
              <a:rPr b="1" lang="en" sz="1200">
                <a:solidFill>
                  <a:srgbClr val="267F99"/>
                </a:solidFill>
                <a:highlight>
                  <a:srgbClr val="FFFFFF"/>
                </a:highlight>
                <a:latin typeface="Consolas"/>
                <a:ea typeface="Consolas"/>
                <a:cs typeface="Consolas"/>
                <a:sym typeface="Consolas"/>
              </a:rPr>
              <a:t>sem_t</a:t>
            </a:r>
            <a:r>
              <a:rPr b="1" lang="en" sz="1200">
                <a:solidFill>
                  <a:schemeClr val="dk1"/>
                </a:solidFill>
                <a:highlight>
                  <a:srgbClr val="FFFFFF"/>
                </a:highlight>
                <a:latin typeface="Consolas"/>
                <a:ea typeface="Consolas"/>
                <a:cs typeface="Consolas"/>
                <a:sym typeface="Consolas"/>
              </a:rPr>
              <a:t> s1,s2;</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init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p_m_init</a:t>
            </a:r>
            <a:r>
              <a:rPr b="1" lang="en" sz="1200">
                <a:solidFill>
                  <a:schemeClr val="dk1"/>
                </a:solidFill>
                <a:highlight>
                  <a:srgbClr val="FFFFFF"/>
                </a:highlight>
                <a:latin typeface="Consolas"/>
                <a:ea typeface="Consolas"/>
                <a:cs typeface="Consolas"/>
                <a:sym typeface="Consolas"/>
              </a:rPr>
              <a:t>(&amp;lock, </a:t>
            </a:r>
            <a:r>
              <a:rPr b="1" lang="en" sz="1200">
                <a:solidFill>
                  <a:srgbClr val="0000FF"/>
                </a:solidFill>
                <a:highlight>
                  <a:srgbClr val="FFFFFF"/>
                </a:highlight>
                <a:latin typeface="Consolas"/>
                <a:ea typeface="Consolas"/>
                <a:cs typeface="Consolas"/>
                <a:sym typeface="Consolas"/>
              </a:rPr>
              <a:t>NULL</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(&amp;s1,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795E26"/>
                </a:solidFill>
                <a:highlight>
                  <a:srgbClr val="FFFFFF"/>
                </a:highlight>
                <a:latin typeface="Consolas"/>
                <a:ea typeface="Consolas"/>
                <a:cs typeface="Consolas"/>
                <a:sym typeface="Consolas"/>
              </a:rPr>
              <a:t>   sem_init</a:t>
            </a:r>
            <a:r>
              <a:rPr b="1" lang="en" sz="1200">
                <a:solidFill>
                  <a:schemeClr val="dk1"/>
                </a:solidFill>
                <a:highlight>
                  <a:srgbClr val="FFFFFF"/>
                </a:highlight>
                <a:latin typeface="Consolas"/>
                <a:ea typeface="Consolas"/>
                <a:cs typeface="Consolas"/>
                <a:sym typeface="Consolas"/>
              </a:rPr>
              <a:t>(&amp;s2,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enqueue</a:t>
            </a:r>
            <a:r>
              <a:rPr b="1" lang="en" sz="1200">
                <a:solidFill>
                  <a:schemeClr val="dk1"/>
                </a:solidFill>
                <a:highlight>
                  <a:srgbClr val="FFFFFF"/>
                </a:highlight>
                <a:latin typeface="Consolas"/>
                <a:ea typeface="Consolas"/>
                <a:cs typeface="Consolas"/>
                <a:sym typeface="Consolas"/>
              </a:rPr>
              <a:t>(</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value</a:t>
            </a:r>
            <a:r>
              <a:rPr b="1" lang="en" sz="1200">
                <a:solidFill>
                  <a:schemeClr val="dk1"/>
                </a:solidFill>
                <a:highlight>
                  <a:srgbClr val="FFFFFF"/>
                </a:highlight>
                <a:latin typeface="Consolas"/>
                <a:ea typeface="Consolas"/>
                <a:cs typeface="Consolas"/>
                <a:sym typeface="Consolas"/>
              </a:rPr>
              <a:t>) {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p_m_lock</a:t>
            </a:r>
            <a:r>
              <a:rPr b="1" lang="en" sz="1200">
                <a:solidFill>
                  <a:schemeClr val="dk1"/>
                </a:solidFill>
                <a:highlight>
                  <a:srgbClr val="FFFFFF"/>
                </a:highlight>
                <a:latin typeface="Consolas"/>
                <a:ea typeface="Consolas"/>
                <a:cs typeface="Consolas"/>
                <a:sym typeface="Consolas"/>
              </a:rPr>
              <a:t>(&amp;lock)</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 &amp;s1 )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 (in++)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 ] = value</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(&amp;s1)</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58" name="Google Shape;158;p27"/>
          <p:cNvSpPr txBox="1"/>
          <p:nvPr>
            <p:ph idx="1" type="body"/>
          </p:nvPr>
        </p:nvSpPr>
        <p:spPr>
          <a:xfrm>
            <a:off x="5499300" y="1198200"/>
            <a:ext cx="3320400" cy="3416400"/>
          </a:xfrm>
          <a:prstGeom prst="rect">
            <a:avLst/>
          </a:prstGeom>
        </p:spPr>
        <p:txBody>
          <a:bodyPr anchorCtr="0" anchor="t" bIns="91425" lIns="91425" spcFirstLastPara="1" rIns="91425" wrap="square" tIns="91425">
            <a:normAutofit fontScale="92500" lnSpcReduction="20000"/>
          </a:bodyPr>
          <a:lstStyle/>
          <a:p>
            <a:pPr indent="-310832" lvl="0" marL="457200" rtl="0" algn="l">
              <a:spcBef>
                <a:spcPts val="0"/>
              </a:spcBef>
              <a:spcAft>
                <a:spcPts val="0"/>
              </a:spcAft>
              <a:buSzPct val="100000"/>
              <a:buChar char="●"/>
            </a:pPr>
            <a:r>
              <a:rPr lang="en"/>
              <a:t>The enqueue method waits and posts on the same semaphore (s1) and similarly with enqueue and (s2) </a:t>
            </a:r>
            <a:endParaRPr/>
          </a:p>
          <a:p>
            <a:pPr indent="-299085" lvl="1" marL="914400" rtl="0" algn="l">
              <a:spcBef>
                <a:spcPts val="0"/>
              </a:spcBef>
              <a:spcAft>
                <a:spcPts val="0"/>
              </a:spcAft>
              <a:buSzPct val="100000"/>
              <a:buChar char="○"/>
            </a:pPr>
            <a:r>
              <a:rPr lang="en"/>
              <a:t>we decrement the value and then immediately increment the value, </a:t>
            </a:r>
            <a:endParaRPr/>
          </a:p>
          <a:p>
            <a:pPr indent="-299085" lvl="1" marL="914400" rtl="0" algn="l">
              <a:spcBef>
                <a:spcPts val="0"/>
              </a:spcBef>
              <a:spcAft>
                <a:spcPts val="0"/>
              </a:spcAft>
              <a:buSzPct val="100000"/>
              <a:buChar char="○"/>
            </a:pPr>
            <a:r>
              <a:rPr lang="en"/>
              <a:t>so by the end of the function the </a:t>
            </a:r>
            <a:r>
              <a:rPr b="1" lang="en"/>
              <a:t>semaphore value is unchanged!</a:t>
            </a:r>
            <a:endParaRPr b="1"/>
          </a:p>
          <a:p>
            <a:pPr indent="0" lvl="0" marL="457200" rtl="0" algn="l">
              <a:spcBef>
                <a:spcPts val="1600"/>
              </a:spcBef>
              <a:spcAft>
                <a:spcPts val="0"/>
              </a:spcAft>
              <a:buNone/>
            </a:pPr>
            <a:r>
              <a:t/>
            </a:r>
            <a:endParaRPr/>
          </a:p>
          <a:p>
            <a:pPr indent="-310832" lvl="0" marL="457200" rtl="0" algn="l">
              <a:spcBef>
                <a:spcPts val="1600"/>
              </a:spcBef>
              <a:spcAft>
                <a:spcPts val="0"/>
              </a:spcAft>
              <a:buSzPct val="100000"/>
              <a:buChar char="●"/>
            </a:pPr>
            <a:r>
              <a:rPr lang="en"/>
              <a:t>The initial value of s1 is 16, </a:t>
            </a:r>
            <a:endParaRPr/>
          </a:p>
          <a:p>
            <a:pPr indent="-299085" lvl="1" marL="914400" rtl="0" algn="l">
              <a:spcBef>
                <a:spcPts val="0"/>
              </a:spcBef>
              <a:spcAft>
                <a:spcPts val="0"/>
              </a:spcAft>
              <a:buSzPct val="100000"/>
              <a:buChar char="○"/>
            </a:pPr>
            <a:r>
              <a:rPr lang="en"/>
              <a:t>the semaphore will never be reduced to zero </a:t>
            </a:r>
            <a:endParaRPr/>
          </a:p>
          <a:p>
            <a:pPr indent="-299085" lvl="2" marL="1371600" rtl="0" algn="l">
              <a:spcBef>
                <a:spcPts val="0"/>
              </a:spcBef>
              <a:spcAft>
                <a:spcPts val="0"/>
              </a:spcAft>
              <a:buSzPct val="100000"/>
              <a:buChar char="■"/>
            </a:pPr>
            <a:r>
              <a:rPr lang="en"/>
              <a:t>enqueue will not block if the ring buffer is full</a:t>
            </a:r>
            <a:endParaRPr/>
          </a:p>
          <a:p>
            <a:pPr indent="-299085" lvl="2" marL="1371600" rtl="0" algn="l">
              <a:spcBef>
                <a:spcPts val="0"/>
              </a:spcBef>
              <a:spcAft>
                <a:spcPts val="0"/>
              </a:spcAft>
              <a:buSzPct val="100000"/>
              <a:buChar char="■"/>
            </a:pPr>
            <a:r>
              <a:rPr lang="en"/>
              <a:t>so overflow is possible.</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idx="1" type="body"/>
          </p:nvPr>
        </p:nvSpPr>
        <p:spPr>
          <a:xfrm>
            <a:off x="311700" y="131250"/>
            <a:ext cx="3999900" cy="4437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init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p_m_init</a:t>
            </a:r>
            <a:r>
              <a:rPr b="1" lang="en" sz="1200">
                <a:solidFill>
                  <a:schemeClr val="dk1"/>
                </a:solidFill>
                <a:highlight>
                  <a:srgbClr val="FFFFFF"/>
                </a:highlight>
                <a:latin typeface="Consolas"/>
                <a:ea typeface="Consolas"/>
                <a:cs typeface="Consolas"/>
                <a:sym typeface="Consolas"/>
              </a:rPr>
              <a:t>(&amp;lock, </a:t>
            </a:r>
            <a:r>
              <a:rPr b="1" lang="en" sz="1200">
                <a:solidFill>
                  <a:srgbClr val="0000FF"/>
                </a:solidFill>
                <a:highlight>
                  <a:srgbClr val="FFFFFF"/>
                </a:highlight>
                <a:latin typeface="Consolas"/>
                <a:ea typeface="Consolas"/>
                <a:cs typeface="Consolas"/>
                <a:sym typeface="Consolas"/>
              </a:rPr>
              <a:t>NULL</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(&amp;s1,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(&amp;s2,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p_m_lock</a:t>
            </a:r>
            <a:r>
              <a:rPr b="1" lang="en" sz="1200">
                <a:solidFill>
                  <a:schemeClr val="dk1"/>
                </a:solidFill>
                <a:highlight>
                  <a:srgbClr val="FFFFFF"/>
                </a:highlight>
                <a:latin typeface="Consolas"/>
                <a:ea typeface="Consolas"/>
                <a:cs typeface="Consolas"/>
                <a:sym typeface="Consolas"/>
              </a:rPr>
              <a:t>(&amp;lock)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   sem_wait</a:t>
            </a:r>
            <a:r>
              <a:rPr b="1" lang="en" sz="1200">
                <a:solidFill>
                  <a:schemeClr val="dk1"/>
                </a:solidFill>
                <a:highlight>
                  <a:srgbClr val="FFFFFF"/>
                </a:highlight>
                <a:latin typeface="Consolas"/>
                <a:ea typeface="Consolas"/>
                <a:cs typeface="Consolas"/>
                <a:sym typeface="Consolas"/>
              </a:rPr>
              <a:t>(&amp;s2)</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*result =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[(out++)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(&amp;s2)</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 result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64" name="Google Shape;164;p28"/>
          <p:cNvSpPr txBox="1"/>
          <p:nvPr>
            <p:ph idx="1" type="body"/>
          </p:nvPr>
        </p:nvSpPr>
        <p:spPr>
          <a:xfrm>
            <a:off x="4861300" y="906850"/>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The initial value of s2 is zero, so calls to dequeue will always block and never return!</a:t>
            </a:r>
            <a:endParaRPr/>
          </a:p>
          <a:p>
            <a:pPr indent="0" lvl="0" marL="457200" rtl="0" algn="l">
              <a:spcBef>
                <a:spcPts val="1600"/>
              </a:spcBef>
              <a:spcAft>
                <a:spcPts val="0"/>
              </a:spcAft>
              <a:buNone/>
            </a:pPr>
            <a:r>
              <a:t/>
            </a:r>
            <a:endParaRPr/>
          </a:p>
          <a:p>
            <a:pPr indent="-317500" lvl="0" marL="457200" rtl="0" algn="l">
              <a:spcBef>
                <a:spcPts val="1600"/>
              </a:spcBef>
              <a:spcAft>
                <a:spcPts val="0"/>
              </a:spcAft>
              <a:buSzPts val="1400"/>
              <a:buChar char="●"/>
            </a:pPr>
            <a:r>
              <a:rPr lang="en"/>
              <a:t>The order of mutex lock and sem_wait will need to be swapped; however, this example is so broken that this bug has no effect!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4762500" y="190500"/>
            <a:ext cx="4069800" cy="82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Another</a:t>
            </a:r>
            <a:r>
              <a:rPr lang="en"/>
              <a:t> </a:t>
            </a:r>
            <a:r>
              <a:rPr b="1" lang="en">
                <a:solidFill>
                  <a:srgbClr val="980000"/>
                </a:solidFill>
                <a:highlight>
                  <a:srgbClr val="F4CCCC"/>
                </a:highlight>
              </a:rPr>
              <a:t>incorrect</a:t>
            </a:r>
            <a:r>
              <a:rPr lang="en"/>
              <a:t> attempt</a:t>
            </a:r>
            <a:endParaRPr/>
          </a:p>
          <a:p>
            <a:pPr indent="0" lvl="0" marL="0" rtl="0" algn="l">
              <a:spcBef>
                <a:spcPts val="0"/>
              </a:spcBef>
              <a:spcAft>
                <a:spcPts val="0"/>
              </a:spcAft>
              <a:buNone/>
            </a:pPr>
            <a:r>
              <a:t/>
            </a:r>
            <a:endParaRPr/>
          </a:p>
        </p:txBody>
      </p:sp>
      <p:sp>
        <p:nvSpPr>
          <p:cNvPr id="170" name="Google Shape;170;p29"/>
          <p:cNvSpPr txBox="1"/>
          <p:nvPr>
            <p:ph idx="1" type="body"/>
          </p:nvPr>
        </p:nvSpPr>
        <p:spPr>
          <a:xfrm>
            <a:off x="311700" y="0"/>
            <a:ext cx="3999900" cy="456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init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(&amp;s1,</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(&amp;s2,</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795E26"/>
                </a:solidFill>
                <a:highlight>
                  <a:srgbClr val="FFFFFF"/>
                </a:highlight>
                <a:latin typeface="Consolas"/>
                <a:ea typeface="Consolas"/>
                <a:cs typeface="Consolas"/>
                <a:sym typeface="Consolas"/>
              </a:rPr>
              <a:t>enqueue</a:t>
            </a:r>
            <a:r>
              <a:rPr b="1" lang="en" sz="1200">
                <a:solidFill>
                  <a:schemeClr val="dk1"/>
                </a:solidFill>
                <a:highlight>
                  <a:srgbClr val="FFFFFF"/>
                </a:highlight>
                <a:latin typeface="Consolas"/>
                <a:ea typeface="Consolas"/>
                <a:cs typeface="Consolas"/>
                <a:sym typeface="Consolas"/>
              </a:rPr>
              <a:t>(</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value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(&amp;s2);</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 (in++)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 ] = value;</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(&amp;s1);</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(&amp;s1);</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*result =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[(out++)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(&amp;s2);</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 result;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71" name="Google Shape;171;p29"/>
          <p:cNvSpPr txBox="1"/>
          <p:nvPr>
            <p:ph idx="2" type="body"/>
          </p:nvPr>
        </p:nvSpPr>
        <p:spPr>
          <a:xfrm>
            <a:off x="5438975" y="1152475"/>
            <a:ext cx="3393300" cy="3416400"/>
          </a:xfrm>
          <a:prstGeom prst="rect">
            <a:avLst/>
          </a:prstGeom>
        </p:spPr>
        <p:txBody>
          <a:bodyPr anchorCtr="0" anchor="t" bIns="91425" lIns="91425" spcFirstLastPara="1" rIns="91425" wrap="square" tIns="91425">
            <a:normAutofit fontScale="85000" lnSpcReduction="20000"/>
          </a:bodyPr>
          <a:lstStyle/>
          <a:p>
            <a:pPr indent="-304165" lvl="0" marL="457200" rtl="0" algn="l">
              <a:spcBef>
                <a:spcPts val="0"/>
              </a:spcBef>
              <a:spcAft>
                <a:spcPts val="0"/>
              </a:spcAft>
              <a:buSzPct val="100000"/>
              <a:buChar char="●"/>
            </a:pPr>
            <a:r>
              <a:rPr lang="en"/>
              <a:t>The initial value of s2 is 0. </a:t>
            </a:r>
            <a:r>
              <a:rPr b="1" lang="en"/>
              <a:t>Enqueue</a:t>
            </a:r>
            <a:r>
              <a:rPr lang="en"/>
              <a:t> </a:t>
            </a:r>
            <a:r>
              <a:rPr b="1" lang="en"/>
              <a:t>will block on the first call </a:t>
            </a:r>
            <a:r>
              <a:rPr lang="en"/>
              <a:t>to sem_wait even though the buffer is empty!</a:t>
            </a:r>
            <a:endParaRPr/>
          </a:p>
          <a:p>
            <a:pPr indent="-304165" lvl="0" marL="457200" rtl="0" algn="l">
              <a:spcBef>
                <a:spcPts val="0"/>
              </a:spcBef>
              <a:spcAft>
                <a:spcPts val="0"/>
              </a:spcAft>
              <a:buSzPct val="100000"/>
              <a:buChar char="●"/>
            </a:pPr>
            <a:r>
              <a:rPr lang="en"/>
              <a:t>The initial value of s1 is 16. Dequeue </a:t>
            </a:r>
            <a:r>
              <a:rPr b="1" lang="en"/>
              <a:t>will not block on the first call</a:t>
            </a:r>
            <a:r>
              <a:rPr lang="en"/>
              <a:t> to sem_wait even though the buffer is empty - Underflow! The dequeue method will return invalid data.</a:t>
            </a:r>
            <a:endParaRPr/>
          </a:p>
          <a:p>
            <a:pPr indent="-304165" lvl="0" marL="457200" rtl="0" algn="l">
              <a:spcBef>
                <a:spcPts val="0"/>
              </a:spcBef>
              <a:spcAft>
                <a:spcPts val="0"/>
              </a:spcAft>
              <a:buSzPct val="100000"/>
              <a:buChar char="●"/>
            </a:pPr>
            <a:r>
              <a:rPr lang="en"/>
              <a:t>The code does not satisfy Mutual Exclusion. Two threads can modify in or out at the same time! The code appears to use mutex lock. Unfortunately, the lock was never initialized with pthread_mutex_init() or PTHREAD_MUTEX_INITIALIZER - so the lock may not work (pthread_mutex_lock may simply do nothing)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571500" y="445025"/>
            <a:ext cx="826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00FF00"/>
                </a:highlight>
              </a:rPr>
              <a:t>Correct</a:t>
            </a:r>
            <a:r>
              <a:rPr lang="en"/>
              <a:t> implementation: enqueue</a:t>
            </a:r>
            <a:endParaRPr/>
          </a:p>
        </p:txBody>
      </p:sp>
      <p:sp>
        <p:nvSpPr>
          <p:cNvPr id="177" name="Google Shape;177;p30"/>
          <p:cNvSpPr txBox="1"/>
          <p:nvPr>
            <p:ph idx="1" type="body"/>
          </p:nvPr>
        </p:nvSpPr>
        <p:spPr>
          <a:xfrm>
            <a:off x="244475" y="1255050"/>
            <a:ext cx="3845700" cy="3493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#include</a:t>
            </a:r>
            <a:r>
              <a:rPr b="1" lang="en" sz="1200">
                <a:solidFill>
                  <a:srgbClr val="0000FF"/>
                </a:solidFill>
                <a:highlight>
                  <a:srgbClr val="FFFFFF"/>
                </a:highlight>
                <a:latin typeface="Consolas"/>
                <a:ea typeface="Consolas"/>
                <a:cs typeface="Consolas"/>
                <a:sym typeface="Consolas"/>
              </a:rPr>
              <a:t> </a:t>
            </a:r>
            <a:r>
              <a:rPr b="1" lang="en" sz="1200">
                <a:solidFill>
                  <a:srgbClr val="A31515"/>
                </a:solidFill>
                <a:highlight>
                  <a:srgbClr val="FFFFFF"/>
                </a:highlight>
                <a:latin typeface="Consolas"/>
                <a:ea typeface="Consolas"/>
                <a:cs typeface="Consolas"/>
                <a:sym typeface="Consolas"/>
              </a:rPr>
              <a:t>&lt;pthread.h&gt;</a:t>
            </a:r>
            <a:endParaRPr b="1" sz="120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#include</a:t>
            </a:r>
            <a:r>
              <a:rPr b="1" lang="en" sz="1200">
                <a:solidFill>
                  <a:srgbClr val="0000FF"/>
                </a:solidFill>
                <a:highlight>
                  <a:srgbClr val="FFFFFF"/>
                </a:highlight>
                <a:latin typeface="Consolas"/>
                <a:ea typeface="Consolas"/>
                <a:cs typeface="Consolas"/>
                <a:sym typeface="Consolas"/>
              </a:rPr>
              <a:t> </a:t>
            </a:r>
            <a:r>
              <a:rPr b="1" lang="en" sz="1200">
                <a:solidFill>
                  <a:srgbClr val="A31515"/>
                </a:solidFill>
                <a:highlight>
                  <a:srgbClr val="FFFFFF"/>
                </a:highlight>
                <a:latin typeface="Consolas"/>
                <a:ea typeface="Consolas"/>
                <a:cs typeface="Consolas"/>
                <a:sym typeface="Consolas"/>
              </a:rPr>
              <a:t>&lt;semaphore.h&gt;</a:t>
            </a:r>
            <a:endParaRPr b="1" sz="120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#define</a:t>
            </a:r>
            <a:r>
              <a:rPr b="1" lang="en" sz="1200">
                <a:solidFill>
                  <a:srgbClr val="0000FF"/>
                </a:solidFill>
                <a:highlight>
                  <a:srgbClr val="FFFFFF"/>
                </a:highlight>
                <a:latin typeface="Consolas"/>
                <a:ea typeface="Consolas"/>
                <a:cs typeface="Consolas"/>
                <a:sym typeface="Consolas"/>
              </a:rPr>
              <a:t> N (</a:t>
            </a:r>
            <a:r>
              <a:rPr b="1" lang="en" sz="1200">
                <a:solidFill>
                  <a:srgbClr val="098658"/>
                </a:solidFill>
                <a:highlight>
                  <a:srgbClr val="FFFFFF"/>
                </a:highlight>
                <a:latin typeface="Consolas"/>
                <a:ea typeface="Consolas"/>
                <a:cs typeface="Consolas"/>
                <a:sym typeface="Consolas"/>
              </a:rPr>
              <a:t>16</a:t>
            </a:r>
            <a:r>
              <a:rPr b="1" lang="en" sz="1200">
                <a:solidFill>
                  <a:srgbClr val="0000FF"/>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N must be 2^i</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[N]</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0</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267F99"/>
                </a:solidFill>
                <a:highlight>
                  <a:srgbClr val="FFFFFF"/>
                </a:highlight>
                <a:latin typeface="Consolas"/>
                <a:ea typeface="Consolas"/>
                <a:cs typeface="Consolas"/>
                <a:sym typeface="Consolas"/>
              </a:rPr>
              <a:t>p_m_t</a:t>
            </a:r>
            <a:r>
              <a:rPr b="1" lang="en" sz="1200">
                <a:solidFill>
                  <a:schemeClr val="dk1"/>
                </a:solidFill>
                <a:highlight>
                  <a:srgbClr val="FFFFFF"/>
                </a:highlight>
                <a:latin typeface="Consolas"/>
                <a:ea typeface="Consolas"/>
                <a:cs typeface="Consolas"/>
                <a:sym typeface="Consolas"/>
              </a:rPr>
              <a:t> lock = PTHREAD_MUTEX_INITIALIZER;</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267F99"/>
                </a:solidFill>
                <a:highlight>
                  <a:srgbClr val="FFFFFF"/>
                </a:highlight>
                <a:latin typeface="Consolas"/>
                <a:ea typeface="Consolas"/>
                <a:cs typeface="Consolas"/>
                <a:sym typeface="Consolas"/>
              </a:rPr>
              <a:t>sem_t</a:t>
            </a:r>
            <a:r>
              <a:rPr b="1" lang="en" sz="1200">
                <a:solidFill>
                  <a:schemeClr val="dk1"/>
                </a:solidFill>
                <a:highlight>
                  <a:srgbClr val="FFFFFF"/>
                </a:highlight>
                <a:latin typeface="Consolas"/>
                <a:ea typeface="Consolas"/>
                <a:cs typeface="Consolas"/>
                <a:sym typeface="Consolas"/>
              </a:rPr>
              <a:t> countsem, spacesem;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init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(&amp;countsem,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(&amp;spacesem,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78" name="Google Shape;178;p30"/>
          <p:cNvSpPr txBox="1"/>
          <p:nvPr>
            <p:ph idx="2" type="body"/>
          </p:nvPr>
        </p:nvSpPr>
        <p:spPr>
          <a:xfrm>
            <a:off x="4249700" y="1174900"/>
            <a:ext cx="46815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795E26"/>
                </a:solidFill>
                <a:highlight>
                  <a:srgbClr val="FFFFFF"/>
                </a:highlight>
                <a:latin typeface="Consolas"/>
                <a:ea typeface="Consolas"/>
                <a:cs typeface="Consolas"/>
                <a:sym typeface="Consolas"/>
              </a:rPr>
              <a:t>enqueue</a:t>
            </a:r>
            <a:r>
              <a:rPr b="1" lang="en" sz="1200">
                <a:solidFill>
                  <a:schemeClr val="dk1"/>
                </a:solidFill>
                <a:highlight>
                  <a:srgbClr val="FFFFFF"/>
                </a:highlight>
                <a:latin typeface="Consolas"/>
                <a:ea typeface="Consolas"/>
                <a:cs typeface="Consolas"/>
                <a:sym typeface="Consolas"/>
              </a:rPr>
              <a:t>(</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value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wait if there is no space left:*/</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 &amp;spacesem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 (in++)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 ] = value</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increment the count of the number of items*/</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(&amp;countsem)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571500" y="445025"/>
            <a:ext cx="826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00FF00"/>
                </a:highlight>
              </a:rPr>
              <a:t>Correct</a:t>
            </a:r>
            <a:r>
              <a:rPr lang="en"/>
              <a:t> implementation: </a:t>
            </a:r>
            <a:r>
              <a:rPr lang="en"/>
              <a:t>dequeue</a:t>
            </a:r>
            <a:endParaRPr/>
          </a:p>
        </p:txBody>
      </p:sp>
      <p:sp>
        <p:nvSpPr>
          <p:cNvPr id="184" name="Google Shape;184;p31"/>
          <p:cNvSpPr txBox="1"/>
          <p:nvPr>
            <p:ph idx="1" type="body"/>
          </p:nvPr>
        </p:nvSpPr>
        <p:spPr>
          <a:xfrm>
            <a:off x="244475" y="1255050"/>
            <a:ext cx="3845700" cy="3493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#include</a:t>
            </a:r>
            <a:r>
              <a:rPr b="1" lang="en" sz="1200">
                <a:solidFill>
                  <a:srgbClr val="0000FF"/>
                </a:solidFill>
                <a:highlight>
                  <a:srgbClr val="FFFFFF"/>
                </a:highlight>
                <a:latin typeface="Consolas"/>
                <a:ea typeface="Consolas"/>
                <a:cs typeface="Consolas"/>
                <a:sym typeface="Consolas"/>
              </a:rPr>
              <a:t> </a:t>
            </a:r>
            <a:r>
              <a:rPr b="1" lang="en" sz="1200">
                <a:solidFill>
                  <a:srgbClr val="A31515"/>
                </a:solidFill>
                <a:highlight>
                  <a:srgbClr val="FFFFFF"/>
                </a:highlight>
                <a:latin typeface="Consolas"/>
                <a:ea typeface="Consolas"/>
                <a:cs typeface="Consolas"/>
                <a:sym typeface="Consolas"/>
              </a:rPr>
              <a:t>&lt;pthread.h&gt;</a:t>
            </a:r>
            <a:endParaRPr b="1" sz="120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#include</a:t>
            </a:r>
            <a:r>
              <a:rPr b="1" lang="en" sz="1200">
                <a:solidFill>
                  <a:srgbClr val="0000FF"/>
                </a:solidFill>
                <a:highlight>
                  <a:srgbClr val="FFFFFF"/>
                </a:highlight>
                <a:latin typeface="Consolas"/>
                <a:ea typeface="Consolas"/>
                <a:cs typeface="Consolas"/>
                <a:sym typeface="Consolas"/>
              </a:rPr>
              <a:t> </a:t>
            </a:r>
            <a:r>
              <a:rPr b="1" lang="en" sz="1200">
                <a:solidFill>
                  <a:srgbClr val="A31515"/>
                </a:solidFill>
                <a:highlight>
                  <a:srgbClr val="FFFFFF"/>
                </a:highlight>
                <a:latin typeface="Consolas"/>
                <a:ea typeface="Consolas"/>
                <a:cs typeface="Consolas"/>
                <a:sym typeface="Consolas"/>
              </a:rPr>
              <a:t>&lt;semaphore.h&gt;</a:t>
            </a:r>
            <a:endParaRPr b="1" sz="120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AF00DB"/>
                </a:solidFill>
                <a:highlight>
                  <a:srgbClr val="FFFFFF"/>
                </a:highlight>
                <a:latin typeface="Consolas"/>
                <a:ea typeface="Consolas"/>
                <a:cs typeface="Consolas"/>
                <a:sym typeface="Consolas"/>
              </a:rPr>
              <a:t>#define</a:t>
            </a:r>
            <a:r>
              <a:rPr b="1" lang="en" sz="1200">
                <a:solidFill>
                  <a:srgbClr val="0000FF"/>
                </a:solidFill>
                <a:highlight>
                  <a:srgbClr val="FFFFFF"/>
                </a:highlight>
                <a:latin typeface="Consolas"/>
                <a:ea typeface="Consolas"/>
                <a:cs typeface="Consolas"/>
                <a:sym typeface="Consolas"/>
              </a:rPr>
              <a:t> N (</a:t>
            </a:r>
            <a:r>
              <a:rPr b="1" lang="en" sz="1200">
                <a:solidFill>
                  <a:srgbClr val="098658"/>
                </a:solidFill>
                <a:highlight>
                  <a:srgbClr val="FFFFFF"/>
                </a:highlight>
                <a:latin typeface="Consolas"/>
                <a:ea typeface="Consolas"/>
                <a:cs typeface="Consolas"/>
                <a:sym typeface="Consolas"/>
              </a:rPr>
              <a:t>16</a:t>
            </a:r>
            <a:r>
              <a:rPr b="1" lang="en" sz="1200">
                <a:solidFill>
                  <a:srgbClr val="0000FF"/>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N must be 2^i</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[N]</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in =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out = </a:t>
            </a:r>
            <a:r>
              <a:rPr b="1" lang="en" sz="1200">
                <a:solidFill>
                  <a:srgbClr val="098658"/>
                </a:solidFill>
                <a:highlight>
                  <a:srgbClr val="FFFFFF"/>
                </a:highlight>
                <a:latin typeface="Consolas"/>
                <a:ea typeface="Consolas"/>
                <a:cs typeface="Consolas"/>
                <a:sym typeface="Consolas"/>
              </a:rPr>
              <a:t>0</a:t>
            </a:r>
            <a:endParaRPr b="1" sz="1200">
              <a:solidFill>
                <a:srgbClr val="098658"/>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267F99"/>
                </a:solidFill>
                <a:highlight>
                  <a:srgbClr val="FFFFFF"/>
                </a:highlight>
                <a:latin typeface="Consolas"/>
                <a:ea typeface="Consolas"/>
                <a:cs typeface="Consolas"/>
                <a:sym typeface="Consolas"/>
              </a:rPr>
              <a:t>p_m_t</a:t>
            </a:r>
            <a:r>
              <a:rPr b="1" lang="en" sz="1200">
                <a:solidFill>
                  <a:schemeClr val="dk1"/>
                </a:solidFill>
                <a:highlight>
                  <a:srgbClr val="FFFFFF"/>
                </a:highlight>
                <a:latin typeface="Consolas"/>
                <a:ea typeface="Consolas"/>
                <a:cs typeface="Consolas"/>
                <a:sym typeface="Consolas"/>
              </a:rPr>
              <a:t> lock = PTHREAD_MUTEX_INITIALIZER;</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267F99"/>
                </a:solidFill>
                <a:highlight>
                  <a:srgbClr val="FFFFFF"/>
                </a:highlight>
                <a:latin typeface="Consolas"/>
                <a:ea typeface="Consolas"/>
                <a:cs typeface="Consolas"/>
                <a:sym typeface="Consolas"/>
              </a:rPr>
              <a:t>sem_t</a:t>
            </a:r>
            <a:r>
              <a:rPr b="1" lang="en" sz="1200">
                <a:solidFill>
                  <a:schemeClr val="dk1"/>
                </a:solidFill>
                <a:highlight>
                  <a:srgbClr val="FFFFFF"/>
                </a:highlight>
                <a:latin typeface="Consolas"/>
                <a:ea typeface="Consolas"/>
                <a:cs typeface="Consolas"/>
                <a:sym typeface="Consolas"/>
              </a:rPr>
              <a:t> countsem, spacesem;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init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(&amp;countsem,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sem_init</a:t>
            </a:r>
            <a:r>
              <a:rPr b="1" lang="en" sz="1200">
                <a:solidFill>
                  <a:schemeClr val="dk1"/>
                </a:solidFill>
                <a:highlight>
                  <a:srgbClr val="FFFFFF"/>
                </a:highlight>
                <a:latin typeface="Consolas"/>
                <a:ea typeface="Consolas"/>
                <a:cs typeface="Consolas"/>
                <a:sym typeface="Consolas"/>
              </a:rPr>
              <a:t>(&amp;spacesem,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 </a:t>
            </a:r>
            <a:r>
              <a:rPr b="1" lang="en" sz="1200">
                <a:solidFill>
                  <a:srgbClr val="098658"/>
                </a:solidFill>
                <a:highlight>
                  <a:srgbClr val="FFFFFF"/>
                </a:highlight>
                <a:latin typeface="Consolas"/>
                <a:ea typeface="Consolas"/>
                <a:cs typeface="Consolas"/>
                <a:sym typeface="Consolas"/>
              </a:rPr>
              <a:t>16</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85" name="Google Shape;185;p31"/>
          <p:cNvSpPr txBox="1"/>
          <p:nvPr>
            <p:ph idx="2" type="body"/>
          </p:nvPr>
        </p:nvSpPr>
        <p:spPr>
          <a:xfrm>
            <a:off x="4249700" y="1174900"/>
            <a:ext cx="46815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Wait if there are no items in the buffer*/</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(&amp;countsem);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*result =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[(out++)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Increment the count of the number of spaces*/</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(&amp;spacesem);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 result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200">
              <a:latin typeface="Consolas"/>
              <a:ea typeface="Consolas"/>
              <a:cs typeface="Consolas"/>
              <a:sym typeface="Consolas"/>
            </a:endParaRPr>
          </a:p>
          <a:p>
            <a:pPr indent="0" lvl="0" marL="0" rtl="0" algn="l">
              <a:spcBef>
                <a:spcPts val="1600"/>
              </a:spcBef>
              <a:spcAft>
                <a:spcPts val="1600"/>
              </a:spcAft>
              <a:buNone/>
            </a:pPr>
            <a:r>
              <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Exercises</a:t>
            </a:r>
            <a:endParaRPr/>
          </a:p>
        </p:txBody>
      </p:sp>
      <p:sp>
        <p:nvSpPr>
          <p:cNvPr id="191" name="Google Shape;191;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What would happen if the order of </a:t>
            </a:r>
            <a:r>
              <a:rPr b="1" lang="en"/>
              <a:t>sem_wait </a:t>
            </a:r>
            <a:r>
              <a:rPr lang="en"/>
              <a:t>and </a:t>
            </a:r>
            <a:r>
              <a:rPr b="1" lang="en"/>
              <a:t>pthread_mutex_lock</a:t>
            </a:r>
            <a:r>
              <a:rPr lang="en"/>
              <a:t> calls were swapped?</a:t>
            </a:r>
            <a:endParaRPr/>
          </a:p>
          <a:p>
            <a:pPr indent="0" lvl="0" marL="457200" rtl="0" algn="l">
              <a:spcBef>
                <a:spcPts val="1600"/>
              </a:spcBef>
              <a:spcAft>
                <a:spcPts val="0"/>
              </a:spcAft>
              <a:buNone/>
            </a:pPr>
            <a:r>
              <a:t/>
            </a:r>
            <a:endParaRPr/>
          </a:p>
          <a:p>
            <a:pPr indent="-317500" lvl="0" marL="457200" rtl="0" algn="l">
              <a:spcBef>
                <a:spcPts val="1600"/>
              </a:spcBef>
              <a:spcAft>
                <a:spcPts val="0"/>
              </a:spcAft>
              <a:buSzPts val="1400"/>
              <a:buChar char="●"/>
            </a:pPr>
            <a:r>
              <a:rPr lang="en"/>
              <a:t>What would happen if the order of </a:t>
            </a:r>
            <a:r>
              <a:rPr b="1" lang="en"/>
              <a:t>pthread_mutex_unlock</a:t>
            </a:r>
            <a:r>
              <a:rPr lang="en"/>
              <a:t> and </a:t>
            </a:r>
            <a:r>
              <a:rPr b="1" lang="en"/>
              <a:t>sem_post</a:t>
            </a:r>
            <a:r>
              <a:rPr lang="en"/>
              <a:t> calls were swapped?</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1600"/>
              </a:spcAft>
              <a:buNone/>
            </a:pPr>
            <a:r>
              <a:t/>
            </a:r>
            <a:endParaRPr/>
          </a:p>
        </p:txBody>
      </p:sp>
      <p:sp>
        <p:nvSpPr>
          <p:cNvPr id="192" name="Google Shape;192;p32"/>
          <p:cNvSpPr txBox="1"/>
          <p:nvPr/>
        </p:nvSpPr>
        <p:spPr>
          <a:xfrm>
            <a:off x="4572000" y="1017725"/>
            <a:ext cx="4311600" cy="3000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Wait if there are no items in the buffer*/</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sem_wait</a:t>
            </a:r>
            <a:r>
              <a:rPr b="1" lang="en" sz="1200">
                <a:solidFill>
                  <a:schemeClr val="dk1"/>
                </a:solidFill>
                <a:highlight>
                  <a:srgbClr val="FFFFFF"/>
                </a:highlight>
                <a:latin typeface="Consolas"/>
                <a:ea typeface="Consolas"/>
                <a:cs typeface="Consolas"/>
                <a:sym typeface="Consolas"/>
              </a:rPr>
              <a:t>(&amp;countsem);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*result =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[(out++) &amp; (N-</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p_m_unlock</a:t>
            </a:r>
            <a:r>
              <a:rPr b="1" lang="en" sz="1200">
                <a:solidFill>
                  <a:schemeClr val="dk1"/>
                </a:solidFill>
                <a:highlight>
                  <a:srgbClr val="FFFFFF"/>
                </a:highlight>
                <a:latin typeface="Consolas"/>
                <a:ea typeface="Consolas"/>
                <a:cs typeface="Consolas"/>
                <a:sym typeface="Consolas"/>
              </a:rPr>
              <a:t>(&amp;lock);</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8000"/>
                </a:solidFill>
                <a:highlight>
                  <a:srgbClr val="FFFFFF"/>
                </a:highlight>
                <a:latin typeface="Consolas"/>
                <a:ea typeface="Consolas"/>
                <a:cs typeface="Consolas"/>
                <a:sym typeface="Consolas"/>
              </a:rPr>
              <a:t>/* Increment the count of the number of spaces*/</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sem_post</a:t>
            </a:r>
            <a:r>
              <a:rPr b="1" lang="en" sz="1200">
                <a:solidFill>
                  <a:schemeClr val="dk1"/>
                </a:solidFill>
                <a:highlight>
                  <a:srgbClr val="FFFFFF"/>
                </a:highlight>
                <a:latin typeface="Consolas"/>
                <a:ea typeface="Consolas"/>
                <a:cs typeface="Consolas"/>
                <a:sym typeface="Consolas"/>
              </a:rPr>
              <a:t>(&amp;spacesem);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 result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Ring buffer as a consumer-producer with cvs</a:t>
            </a:r>
            <a:endParaRPr/>
          </a:p>
        </p:txBody>
      </p:sp>
      <p:sp>
        <p:nvSpPr>
          <p:cNvPr id="198" name="Google Shape;198;p3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typedef</a:t>
            </a: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struct</a:t>
            </a: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char</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buf</a:t>
            </a:r>
            <a:r>
              <a:rPr b="1" lang="en" sz="1200">
                <a:solidFill>
                  <a:schemeClr val="dk1"/>
                </a:solidFill>
                <a:highlight>
                  <a:srgbClr val="FFFFFF"/>
                </a:highlight>
                <a:latin typeface="Consolas"/>
                <a:ea typeface="Consolas"/>
                <a:cs typeface="Consolas"/>
                <a:sym typeface="Consolas"/>
              </a:rPr>
              <a:t>[BSIZE];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occupied;           </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in;             </a:t>
            </a:r>
            <a:r>
              <a:rPr b="1" lang="en" sz="1200">
                <a:solidFill>
                  <a:srgbClr val="008000"/>
                </a:solidFill>
                <a:highlight>
                  <a:srgbClr val="FFFFFF"/>
                </a:highlight>
                <a:latin typeface="Consolas"/>
                <a:ea typeface="Consolas"/>
                <a:cs typeface="Consolas"/>
                <a:sym typeface="Consolas"/>
              </a:rPr>
              <a:t>/*index of in*/</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int</a:t>
            </a:r>
            <a:r>
              <a:rPr b="1" lang="en" sz="1200">
                <a:solidFill>
                  <a:schemeClr val="dk1"/>
                </a:solidFill>
                <a:highlight>
                  <a:srgbClr val="FFFFFF"/>
                </a:highlight>
                <a:latin typeface="Consolas"/>
                <a:ea typeface="Consolas"/>
                <a:cs typeface="Consolas"/>
                <a:sym typeface="Consolas"/>
              </a:rPr>
              <a:t> out;            </a:t>
            </a:r>
            <a:r>
              <a:rPr b="1" lang="en" sz="1200">
                <a:solidFill>
                  <a:srgbClr val="008000"/>
                </a:solidFill>
                <a:highlight>
                  <a:srgbClr val="FFFFFF"/>
                </a:highlight>
                <a:latin typeface="Consolas"/>
                <a:ea typeface="Consolas"/>
                <a:cs typeface="Consolas"/>
                <a:sym typeface="Consolas"/>
              </a:rPr>
              <a:t>/*index of out*/</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pthread_mutex_t</a:t>
            </a:r>
            <a:r>
              <a:rPr b="1" lang="en" sz="1200">
                <a:solidFill>
                  <a:schemeClr val="dk1"/>
                </a:solidFill>
                <a:highlight>
                  <a:srgbClr val="FFFFFF"/>
                </a:highlight>
                <a:latin typeface="Consolas"/>
                <a:ea typeface="Consolas"/>
                <a:cs typeface="Consolas"/>
                <a:sym typeface="Consolas"/>
              </a:rPr>
              <a:t> mutex;  </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pthread_cond_t</a:t>
            </a:r>
            <a:r>
              <a:rPr b="1" lang="en" sz="1200">
                <a:solidFill>
                  <a:schemeClr val="dk1"/>
                </a:solidFill>
                <a:highlight>
                  <a:srgbClr val="FFFFFF"/>
                </a:highlight>
                <a:latin typeface="Consolas"/>
                <a:ea typeface="Consolas"/>
                <a:cs typeface="Consolas"/>
                <a:sym typeface="Consolas"/>
              </a:rPr>
              <a:t> more; </a:t>
            </a:r>
            <a:r>
              <a:rPr b="1" lang="en" sz="1200">
                <a:solidFill>
                  <a:srgbClr val="008000"/>
                </a:solidFill>
                <a:highlight>
                  <a:srgbClr val="FFFFFF"/>
                </a:highlight>
                <a:latin typeface="Consolas"/>
                <a:ea typeface="Consolas"/>
                <a:cs typeface="Consolas"/>
                <a:sym typeface="Consolas"/>
              </a:rPr>
              <a:t>/*there is item*/</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pthread_cond_t</a:t>
            </a:r>
            <a:r>
              <a:rPr b="1" lang="en" sz="1200">
                <a:solidFill>
                  <a:schemeClr val="dk1"/>
                </a:solidFill>
                <a:highlight>
                  <a:srgbClr val="FFFFFF"/>
                </a:highlight>
                <a:latin typeface="Consolas"/>
                <a:ea typeface="Consolas"/>
                <a:cs typeface="Consolas"/>
                <a:sym typeface="Consolas"/>
              </a:rPr>
              <a:t> less;    </a:t>
            </a:r>
            <a:r>
              <a:rPr b="1" lang="en" sz="1200">
                <a:solidFill>
                  <a:srgbClr val="008000"/>
                </a:solidFill>
                <a:highlight>
                  <a:srgbClr val="FFFFFF"/>
                </a:highlight>
                <a:latin typeface="Consolas"/>
                <a:ea typeface="Consolas"/>
                <a:cs typeface="Consolas"/>
                <a:sym typeface="Consolas"/>
              </a:rPr>
              <a:t>/*there is room*/</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267F99"/>
                </a:solidFill>
                <a:highlight>
                  <a:srgbClr val="FFFFFF"/>
                </a:highlight>
                <a:latin typeface="Consolas"/>
                <a:ea typeface="Consolas"/>
                <a:cs typeface="Consolas"/>
                <a:sym typeface="Consolas"/>
              </a:rPr>
              <a:t>buffer_t</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199" name="Google Shape;199;p33"/>
          <p:cNvSpPr txBox="1"/>
          <p:nvPr>
            <p:ph idx="2" type="body"/>
          </p:nvPr>
        </p:nvSpPr>
        <p:spPr>
          <a:xfrm>
            <a:off x="4224625" y="1152475"/>
            <a:ext cx="46077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void</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enqueue</a:t>
            </a:r>
            <a:r>
              <a:rPr b="1" lang="en" sz="1200">
                <a:solidFill>
                  <a:schemeClr val="dk1"/>
                </a:solidFill>
                <a:highlight>
                  <a:srgbClr val="FFFFFF"/>
                </a:highlight>
                <a:latin typeface="Consolas"/>
                <a:ea typeface="Consolas"/>
                <a:cs typeface="Consolas"/>
                <a:sym typeface="Consolas"/>
              </a:rPr>
              <a:t>(</a:t>
            </a:r>
            <a:r>
              <a:rPr b="1" lang="en" sz="1200">
                <a:solidFill>
                  <a:srgbClr val="267F99"/>
                </a:solidFill>
                <a:highlight>
                  <a:srgbClr val="FFFFFF"/>
                </a:highlight>
                <a:latin typeface="Consolas"/>
                <a:ea typeface="Consolas"/>
                <a:cs typeface="Consolas"/>
                <a:sym typeface="Consolas"/>
              </a:rPr>
              <a:t>buffer_t</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char</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item</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pthread_mutex_lock</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while</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occupied</a:t>
            </a:r>
            <a:r>
              <a:rPr b="1" lang="en" sz="1200">
                <a:solidFill>
                  <a:schemeClr val="dk1"/>
                </a:solidFill>
                <a:highlight>
                  <a:srgbClr val="FFFFFF"/>
                </a:highlight>
                <a:latin typeface="Consolas"/>
                <a:ea typeface="Consolas"/>
                <a:cs typeface="Consolas"/>
                <a:sym typeface="Consolas"/>
              </a:rPr>
              <a:t> &gt;= BSIZE)</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pthread_cond_wait</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less</a:t>
            </a:r>
            <a:r>
              <a:rPr b="1" lang="en" sz="1200">
                <a:solidFill>
                  <a:schemeClr val="dk1"/>
                </a:solidFill>
                <a:highlight>
                  <a:srgbClr val="FFFFFF"/>
                </a:highlight>
                <a:latin typeface="Consolas"/>
                <a:ea typeface="Consolas"/>
                <a:cs typeface="Consolas"/>
                <a:sym typeface="Consolas"/>
              </a:rPr>
              <a:t>, &amp;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assert</a:t>
            </a:r>
            <a:r>
              <a:rPr b="1" lang="en" sz="1200">
                <a:solidFill>
                  <a:schemeClr val="dk1"/>
                </a:solidFill>
                <a:highlight>
                  <a:srgbClr val="FFFFFF"/>
                </a:highlight>
                <a:latin typeface="Consolas"/>
                <a:ea typeface="Consolas"/>
                <a:cs typeface="Consolas"/>
                <a:sym typeface="Consolas"/>
              </a:rPr>
              <a:t>(</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occupied</a:t>
            </a:r>
            <a:r>
              <a:rPr b="1" lang="en" sz="1200">
                <a:solidFill>
                  <a:schemeClr val="dk1"/>
                </a:solidFill>
                <a:highlight>
                  <a:srgbClr val="FFFFFF"/>
                </a:highlight>
                <a:latin typeface="Consolas"/>
                <a:ea typeface="Consolas"/>
                <a:cs typeface="Consolas"/>
                <a:sym typeface="Consolas"/>
              </a:rPr>
              <a:t> &lt; BSIZE);</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buf</a:t>
            </a:r>
            <a:r>
              <a:rPr b="1" lang="en" sz="1200">
                <a:solidFill>
                  <a:schemeClr val="dk1"/>
                </a:solidFill>
                <a:highlight>
                  <a:srgbClr val="FFFFFF"/>
                </a:highlight>
                <a:latin typeface="Consolas"/>
                <a:ea typeface="Consolas"/>
                <a:cs typeface="Consolas"/>
                <a:sym typeface="Consolas"/>
              </a:rPr>
              <a:t>[</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in</a:t>
            </a:r>
            <a:r>
              <a:rPr b="1" lang="en" sz="1200">
                <a:solidFill>
                  <a:schemeClr val="dk1"/>
                </a:solidFill>
                <a:highlight>
                  <a:srgbClr val="FFFFFF"/>
                </a:highlight>
                <a:latin typeface="Consolas"/>
                <a:ea typeface="Consolas"/>
                <a:cs typeface="Consolas"/>
                <a:sym typeface="Consolas"/>
              </a:rPr>
              <a:t>++] = item;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in</a:t>
            </a:r>
            <a:r>
              <a:rPr b="1" lang="en" sz="1200">
                <a:solidFill>
                  <a:schemeClr val="dk1"/>
                </a:solidFill>
                <a:highlight>
                  <a:srgbClr val="FFFFFF"/>
                </a:highlight>
                <a:latin typeface="Consolas"/>
                <a:ea typeface="Consolas"/>
                <a:cs typeface="Consolas"/>
                <a:sym typeface="Consolas"/>
              </a:rPr>
              <a:t> &amp;= BSIZE-</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occupied</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pthread_cond_signal</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more</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pthread_mutex_unlock</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solidFill>
                <a:srgbClr val="0000FF"/>
              </a:solidFill>
              <a:highlight>
                <a:srgbClr val="FFFFFF"/>
              </a:highlight>
              <a:latin typeface="Consolas"/>
              <a:ea typeface="Consolas"/>
              <a:cs typeface="Consolas"/>
              <a:sym typeface="Consolas"/>
            </a:endParaRPr>
          </a:p>
        </p:txBody>
      </p:sp>
      <p:sp>
        <p:nvSpPr>
          <p:cNvPr id="200" name="Google Shape;200;p33"/>
          <p:cNvSpPr txBox="1"/>
          <p:nvPr/>
        </p:nvSpPr>
        <p:spPr>
          <a:xfrm>
            <a:off x="1759325" y="4751275"/>
            <a:ext cx="7295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chemeClr val="dk1"/>
                </a:solidFill>
                <a:highlight>
                  <a:srgbClr val="FFFFFF"/>
                </a:highlight>
                <a:latin typeface="Courier New"/>
                <a:ea typeface="Courier New"/>
                <a:cs typeface="Courier New"/>
                <a:sym typeface="Courier New"/>
              </a:rPr>
              <a:t>https://docs.oracle.com/cd/E19455-01/806-5257/6je9h032r/index.html#sync-ex-33</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idx="1" type="body"/>
          </p:nvPr>
        </p:nvSpPr>
        <p:spPr>
          <a:xfrm>
            <a:off x="380025" y="380950"/>
            <a:ext cx="4965000" cy="4188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rgbClr val="0000FF"/>
                </a:solidFill>
                <a:highlight>
                  <a:srgbClr val="FFFFFF"/>
                </a:highlight>
                <a:latin typeface="Consolas"/>
                <a:ea typeface="Consolas"/>
                <a:cs typeface="Consolas"/>
                <a:sym typeface="Consolas"/>
              </a:rPr>
              <a:t>char</a:t>
            </a: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dequeue</a:t>
            </a:r>
            <a:r>
              <a:rPr b="1" lang="en" sz="1200">
                <a:solidFill>
                  <a:schemeClr val="dk1"/>
                </a:solidFill>
                <a:highlight>
                  <a:srgbClr val="FFFFFF"/>
                </a:highlight>
                <a:latin typeface="Consolas"/>
                <a:ea typeface="Consolas"/>
                <a:cs typeface="Consolas"/>
                <a:sym typeface="Consolas"/>
              </a:rPr>
              <a:t>(</a:t>
            </a:r>
            <a:r>
              <a:rPr b="1" lang="en" sz="1200">
                <a:solidFill>
                  <a:srgbClr val="267F99"/>
                </a:solidFill>
                <a:highlight>
                  <a:srgbClr val="FFFFFF"/>
                </a:highlight>
                <a:latin typeface="Consolas"/>
                <a:ea typeface="Consolas"/>
                <a:cs typeface="Consolas"/>
                <a:sym typeface="Consolas"/>
              </a:rPr>
              <a:t>buffer_t</a:t>
            </a: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00FF"/>
                </a:solidFill>
                <a:highlight>
                  <a:srgbClr val="FFFFFF"/>
                </a:highlight>
                <a:latin typeface="Consolas"/>
                <a:ea typeface="Consolas"/>
                <a:cs typeface="Consolas"/>
                <a:sym typeface="Consolas"/>
              </a:rPr>
              <a:t>char</a:t>
            </a:r>
            <a:r>
              <a:rPr b="1" lang="en" sz="1200">
                <a:solidFill>
                  <a:schemeClr val="dk1"/>
                </a:solidFill>
                <a:highlight>
                  <a:srgbClr val="FFFFFF"/>
                </a:highlight>
                <a:latin typeface="Consolas"/>
                <a:ea typeface="Consolas"/>
                <a:cs typeface="Consolas"/>
                <a:sym typeface="Consolas"/>
              </a:rPr>
              <a:t> item;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pthread_mutex_lock</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while</a:t>
            </a:r>
            <a:r>
              <a:rPr b="1" lang="en" sz="1200">
                <a:solidFill>
                  <a:schemeClr val="dk1"/>
                </a:solidFill>
                <a:highlight>
                  <a:srgbClr val="FFFFFF"/>
                </a:highlight>
                <a:latin typeface="Consolas"/>
                <a:ea typeface="Consolas"/>
                <a:cs typeface="Consolas"/>
                <a:sym typeface="Consolas"/>
              </a:rPr>
              <a:t>(</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occupied</a:t>
            </a:r>
            <a:r>
              <a:rPr b="1" lang="en" sz="1200">
                <a:solidFill>
                  <a:schemeClr val="dk1"/>
                </a:solidFill>
                <a:highlight>
                  <a:srgbClr val="FFFFFF"/>
                </a:highlight>
                <a:latin typeface="Consolas"/>
                <a:ea typeface="Consolas"/>
                <a:cs typeface="Consolas"/>
                <a:sym typeface="Consolas"/>
              </a:rPr>
              <a:t> &lt;= </a:t>
            </a:r>
            <a:r>
              <a:rPr b="1" lang="en" sz="1200">
                <a:solidFill>
                  <a:srgbClr val="098658"/>
                </a:solidFill>
                <a:highlight>
                  <a:srgbClr val="FFFFFF"/>
                </a:highlight>
                <a:latin typeface="Consolas"/>
                <a:ea typeface="Consolas"/>
                <a:cs typeface="Consolas"/>
                <a:sym typeface="Consolas"/>
              </a:rPr>
              <a:t>0</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pthread_cond_wait</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more</a:t>
            </a:r>
            <a:r>
              <a:rPr b="1" lang="en" sz="1200">
                <a:solidFill>
                  <a:schemeClr val="dk1"/>
                </a:solidFill>
                <a:highlight>
                  <a:srgbClr val="FFFFFF"/>
                </a:highlight>
                <a:latin typeface="Consolas"/>
                <a:ea typeface="Consolas"/>
                <a:cs typeface="Consolas"/>
                <a:sym typeface="Consolas"/>
              </a:rPr>
              <a:t>, &amp;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rgbClr val="008000"/>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item =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buf</a:t>
            </a:r>
            <a:r>
              <a:rPr b="1" lang="en" sz="1200">
                <a:solidFill>
                  <a:schemeClr val="dk1"/>
                </a:solidFill>
                <a:highlight>
                  <a:srgbClr val="FFFFFF"/>
                </a:highlight>
                <a:latin typeface="Consolas"/>
                <a:ea typeface="Consolas"/>
                <a:cs typeface="Consolas"/>
                <a:sym typeface="Consolas"/>
              </a:rPr>
              <a:t>[</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out</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out</a:t>
            </a:r>
            <a:r>
              <a:rPr b="1" lang="en" sz="1200">
                <a:solidFill>
                  <a:schemeClr val="dk1"/>
                </a:solidFill>
                <a:highlight>
                  <a:srgbClr val="FFFFFF"/>
                </a:highlight>
                <a:latin typeface="Consolas"/>
                <a:ea typeface="Consolas"/>
                <a:cs typeface="Consolas"/>
                <a:sym typeface="Consolas"/>
              </a:rPr>
              <a:t> &amp;= BSIZE-</a:t>
            </a:r>
            <a:r>
              <a:rPr b="1" lang="en" sz="1200">
                <a:solidFill>
                  <a:srgbClr val="098658"/>
                </a:solidFill>
                <a:highlight>
                  <a:srgbClr val="FFFFFF"/>
                </a:highlight>
                <a:latin typeface="Consolas"/>
                <a:ea typeface="Consolas"/>
                <a:cs typeface="Consolas"/>
                <a:sym typeface="Consolas"/>
              </a:rPr>
              <a:t>1</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occupied</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pthread_cond_signal</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less</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795E26"/>
                </a:solidFill>
                <a:highlight>
                  <a:srgbClr val="FFFFFF"/>
                </a:highlight>
                <a:latin typeface="Consolas"/>
                <a:ea typeface="Consolas"/>
                <a:cs typeface="Consolas"/>
                <a:sym typeface="Consolas"/>
              </a:rPr>
              <a:t>pthread_mutex_unlock</a:t>
            </a:r>
            <a:r>
              <a:rPr b="1" lang="en" sz="1200">
                <a:solidFill>
                  <a:schemeClr val="dk1"/>
                </a:solidFill>
                <a:highlight>
                  <a:srgbClr val="FFFFFF"/>
                </a:highlight>
                <a:latin typeface="Consolas"/>
                <a:ea typeface="Consolas"/>
                <a:cs typeface="Consolas"/>
                <a:sym typeface="Consolas"/>
              </a:rPr>
              <a:t>(&amp;</a:t>
            </a:r>
            <a:r>
              <a:rPr b="1" lang="en" sz="1200">
                <a:solidFill>
                  <a:srgbClr val="001080"/>
                </a:solidFill>
                <a:highlight>
                  <a:srgbClr val="FFFFFF"/>
                </a:highlight>
                <a:latin typeface="Consolas"/>
                <a:ea typeface="Consolas"/>
                <a:cs typeface="Consolas"/>
                <a:sym typeface="Consolas"/>
              </a:rPr>
              <a:t>b</a:t>
            </a:r>
            <a:r>
              <a:rPr b="1" lang="en" sz="1200">
                <a:solidFill>
                  <a:schemeClr val="dk1"/>
                </a:solidFill>
                <a:highlight>
                  <a:srgbClr val="FFFFFF"/>
                </a:highlight>
                <a:latin typeface="Consolas"/>
                <a:ea typeface="Consolas"/>
                <a:cs typeface="Consolas"/>
                <a:sym typeface="Consolas"/>
              </a:rPr>
              <a:t>-&gt;</a:t>
            </a:r>
            <a:r>
              <a:rPr b="1" lang="en" sz="1200">
                <a:solidFill>
                  <a:srgbClr val="001080"/>
                </a:solidFill>
                <a:highlight>
                  <a:srgbClr val="FFFFFF"/>
                </a:highlight>
                <a:latin typeface="Consolas"/>
                <a:ea typeface="Consolas"/>
                <a:cs typeface="Consolas"/>
                <a:sym typeface="Consolas"/>
              </a:rPr>
              <a:t>mutex</a:t>
            </a: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   </a:t>
            </a:r>
            <a:r>
              <a:rPr b="1" lang="en" sz="1200">
                <a:solidFill>
                  <a:srgbClr val="AF00DB"/>
                </a:solidFill>
                <a:highlight>
                  <a:srgbClr val="FFFFFF"/>
                </a:highlight>
                <a:latin typeface="Consolas"/>
                <a:ea typeface="Consolas"/>
                <a:cs typeface="Consolas"/>
                <a:sym typeface="Consolas"/>
              </a:rPr>
              <a:t>return</a:t>
            </a:r>
            <a:r>
              <a:rPr b="1" lang="en" sz="1200">
                <a:solidFill>
                  <a:schemeClr val="dk1"/>
                </a:solidFill>
                <a:highlight>
                  <a:srgbClr val="FFFFFF"/>
                </a:highlight>
                <a:latin typeface="Consolas"/>
                <a:ea typeface="Consolas"/>
                <a:cs typeface="Consolas"/>
                <a:sym typeface="Consolas"/>
              </a:rPr>
              <a:t>(item);</a:t>
            </a:r>
            <a:endParaRPr b="1" sz="120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highlight>
                  <a:srgbClr val="FFFFFF"/>
                </a:highlight>
                <a:latin typeface="Consolas"/>
                <a:ea typeface="Consolas"/>
                <a:cs typeface="Consolas"/>
                <a:sym typeface="Consolas"/>
              </a:rPr>
              <a:t>}</a:t>
            </a:r>
            <a:endParaRPr b="1" sz="1200">
              <a:solidFill>
                <a:schemeClr val="dk1"/>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b="1" sz="1200">
              <a:latin typeface="Consolas"/>
              <a:ea typeface="Consolas"/>
              <a:cs typeface="Consolas"/>
              <a:sym typeface="Consolas"/>
            </a:endParaRPr>
          </a:p>
        </p:txBody>
      </p:sp>
      <p:sp>
        <p:nvSpPr>
          <p:cNvPr id="206" name="Google Shape;206;p3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Dequeue is a consumer</a:t>
            </a:r>
            <a:endParaRPr/>
          </a:p>
          <a:p>
            <a:pPr indent="0" lvl="0" marL="0" rtl="0" algn="l">
              <a:spcBef>
                <a:spcPts val="1600"/>
              </a:spcBef>
              <a:spcAft>
                <a:spcPts val="1600"/>
              </a:spcAft>
              <a:buNone/>
            </a:pPr>
            <a:r>
              <a:rPr lang="en"/>
              <a:t>Enqueue is a producer</a:t>
            </a:r>
            <a:endParaRPr/>
          </a:p>
        </p:txBody>
      </p:sp>
      <p:sp>
        <p:nvSpPr>
          <p:cNvPr id="207" name="Google Shape;207;p34"/>
          <p:cNvSpPr txBox="1"/>
          <p:nvPr/>
        </p:nvSpPr>
        <p:spPr>
          <a:xfrm>
            <a:off x="1759325" y="4751275"/>
            <a:ext cx="7295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chemeClr val="dk1"/>
                </a:solidFill>
                <a:highlight>
                  <a:srgbClr val="FFFFFF"/>
                </a:highlight>
                <a:latin typeface="Courier New"/>
                <a:ea typeface="Courier New"/>
                <a:cs typeface="Courier New"/>
                <a:sym typeface="Courier New"/>
              </a:rPr>
              <a:t>https://docs.oracle.com/cd/E19455-01/806-5257/6je9h032r/index.html#sync-ex-33</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a:t>
            </a:r>
            <a:endParaRPr/>
          </a:p>
        </p:txBody>
      </p:sp>
      <p:sp>
        <p:nvSpPr>
          <p:cNvPr id="213" name="Google Shape;213;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en" sz="2550">
                <a:solidFill>
                  <a:srgbClr val="1F497D"/>
                </a:solidFill>
                <a:highlight>
                  <a:srgbClr val="FFFFFF"/>
                </a:highlight>
              </a:rPr>
              <a:t>Deadlock</a:t>
            </a:r>
            <a:r>
              <a:rPr lang="en" sz="2550">
                <a:solidFill>
                  <a:srgbClr val="1F497D"/>
                </a:solidFill>
                <a:highlight>
                  <a:srgbClr val="FFFFFF"/>
                </a:highlight>
              </a:rPr>
              <a:t> </a:t>
            </a:r>
            <a:r>
              <a:rPr lang="en" sz="2550">
                <a:solidFill>
                  <a:schemeClr val="dk1"/>
                </a:solidFill>
                <a:highlight>
                  <a:srgbClr val="FFFFFF"/>
                </a:highlight>
              </a:rPr>
              <a:t>describes a situation where two or more threads are blocked forever, waiting for each other.</a:t>
            </a:r>
            <a:endParaRPr/>
          </a:p>
        </p:txBody>
      </p:sp>
      <p:sp>
        <p:nvSpPr>
          <p:cNvPr id="214" name="Google Shape;214;p35"/>
          <p:cNvSpPr txBox="1"/>
          <p:nvPr>
            <p:ph idx="2" type="body"/>
          </p:nvPr>
        </p:nvSpPr>
        <p:spPr>
          <a:xfrm>
            <a:off x="4751300" y="526675"/>
            <a:ext cx="4080900" cy="4042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a:t>Example</a:t>
            </a:r>
            <a:endParaRPr/>
          </a:p>
          <a:p>
            <a:pPr indent="-298450" lvl="1" marL="914400" rtl="0" algn="l">
              <a:spcBef>
                <a:spcPts val="1200"/>
              </a:spcBef>
              <a:spcAft>
                <a:spcPts val="0"/>
              </a:spcAft>
              <a:buSzPts val="1100"/>
              <a:buAutoNum type="alphaLcPeriod"/>
            </a:pPr>
            <a:r>
              <a:rPr lang="en"/>
              <a:t>Thread 1 holds lock A and requests lock B</a:t>
            </a:r>
            <a:endParaRPr/>
          </a:p>
          <a:p>
            <a:pPr indent="-298450" lvl="1" marL="914400" rtl="0" algn="l">
              <a:spcBef>
                <a:spcPts val="0"/>
              </a:spcBef>
              <a:spcAft>
                <a:spcPts val="0"/>
              </a:spcAft>
              <a:buSzPts val="1100"/>
              <a:buAutoNum type="alphaLcPeriod"/>
            </a:pPr>
            <a:r>
              <a:rPr lang="en"/>
              <a:t>Thread 2 holds lock B and requests lock A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Deadlock occurs when</a:t>
            </a:r>
            <a:endParaRPr/>
          </a:p>
          <a:p>
            <a:pPr indent="-298450" lvl="0" marL="457200" rtl="0" algn="l">
              <a:spcBef>
                <a:spcPts val="1200"/>
              </a:spcBef>
              <a:spcAft>
                <a:spcPts val="0"/>
              </a:spcAft>
              <a:buSzPts val="1100"/>
              <a:buChar char="●"/>
            </a:pPr>
            <a:r>
              <a:rPr lang="en"/>
              <a:t>Threads that are already holding locks request new locks</a:t>
            </a:r>
            <a:endParaRPr/>
          </a:p>
          <a:p>
            <a:pPr indent="-298450" lvl="0" marL="457200" rtl="0" algn="l">
              <a:spcBef>
                <a:spcPts val="0"/>
              </a:spcBef>
              <a:spcAft>
                <a:spcPts val="0"/>
              </a:spcAft>
              <a:buSzPts val="1100"/>
              <a:buChar char="●"/>
            </a:pPr>
            <a:r>
              <a:rPr lang="en"/>
              <a:t>The requests for new locks are made concurrently</a:t>
            </a:r>
            <a:endParaRPr/>
          </a:p>
          <a:p>
            <a:pPr indent="-298450" lvl="0" marL="457200" rtl="0" algn="l">
              <a:spcBef>
                <a:spcPts val="0"/>
              </a:spcBef>
              <a:spcAft>
                <a:spcPts val="0"/>
              </a:spcAft>
              <a:buSzPts val="1100"/>
              <a:buChar char="●"/>
            </a:pPr>
            <a:r>
              <a:rPr lang="en"/>
              <a:t>Two or more threads form a circular chain in which each thread waits for a lock which is held by the next thread in the chain</a:t>
            </a:r>
            <a:endParaRPr/>
          </a:p>
          <a:p>
            <a:pPr indent="0" lvl="0" marL="0" rtl="0" algn="l">
              <a:spcBef>
                <a:spcPts val="1200"/>
              </a:spcBef>
              <a:spcAft>
                <a:spcPts val="0"/>
              </a:spcAft>
              <a:buNone/>
            </a:pPr>
            <a:r>
              <a:t/>
            </a:r>
            <a:endParaRPr/>
          </a:p>
          <a:p>
            <a:pPr indent="0" lvl="0" marL="0" rtl="0" algn="l">
              <a:spcBef>
                <a:spcPts val="12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r>
              <a:rPr lang="en"/>
              <a:t>ivelock</a:t>
            </a:r>
            <a:endParaRPr/>
          </a:p>
        </p:txBody>
      </p:sp>
      <p:sp>
        <p:nvSpPr>
          <p:cNvPr id="220" name="Google Shape;220;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550">
                <a:solidFill>
                  <a:schemeClr val="dk1"/>
                </a:solidFill>
                <a:highlight>
                  <a:srgbClr val="FFFFFF"/>
                </a:highlight>
              </a:rPr>
              <a:t>A thread often acts in response to the action of another thread. If the other thread's action is also a response to the action of another thread, then </a:t>
            </a:r>
            <a:r>
              <a:rPr i="1" lang="en" sz="2550">
                <a:solidFill>
                  <a:srgbClr val="1F497D"/>
                </a:solidFill>
                <a:highlight>
                  <a:srgbClr val="FFFFFF"/>
                </a:highlight>
              </a:rPr>
              <a:t>livelock</a:t>
            </a:r>
            <a:r>
              <a:rPr lang="en" sz="2550">
                <a:solidFill>
                  <a:srgbClr val="1F497D"/>
                </a:solidFill>
                <a:highlight>
                  <a:srgbClr val="FFFFFF"/>
                </a:highlight>
              </a:rPr>
              <a:t> </a:t>
            </a:r>
            <a:r>
              <a:rPr lang="en" sz="2550">
                <a:solidFill>
                  <a:schemeClr val="dk1"/>
                </a:solidFill>
                <a:highlight>
                  <a:srgbClr val="FFFFFF"/>
                </a:highlight>
              </a:rPr>
              <a:t>may result.  </a:t>
            </a:r>
            <a:endParaRPr/>
          </a:p>
        </p:txBody>
      </p:sp>
      <p:sp>
        <p:nvSpPr>
          <p:cNvPr id="221" name="Google Shape;221;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Starvation</a:t>
            </a:r>
            <a:endParaRPr/>
          </a:p>
        </p:txBody>
      </p:sp>
      <p:sp>
        <p:nvSpPr>
          <p:cNvPr id="227" name="Google Shape;227;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en" sz="2550">
                <a:solidFill>
                  <a:srgbClr val="1F497D"/>
                </a:solidFill>
                <a:highlight>
                  <a:srgbClr val="FFFFFF"/>
                </a:highlight>
              </a:rPr>
              <a:t>Starvation</a:t>
            </a:r>
            <a:r>
              <a:rPr lang="en" sz="2550">
                <a:solidFill>
                  <a:srgbClr val="1F497D"/>
                </a:solidFill>
                <a:highlight>
                  <a:srgbClr val="FFFFFF"/>
                </a:highlight>
              </a:rPr>
              <a:t> </a:t>
            </a:r>
            <a:r>
              <a:rPr lang="en" sz="2550">
                <a:solidFill>
                  <a:schemeClr val="dk1"/>
                </a:solidFill>
                <a:highlight>
                  <a:srgbClr val="FFFFFF"/>
                </a:highlight>
              </a:rPr>
              <a:t>describes a situation where a thread is unable to gain regular access to shared resources and is unable to make progress.</a:t>
            </a:r>
            <a:endParaRPr/>
          </a:p>
        </p:txBody>
      </p:sp>
      <p:sp>
        <p:nvSpPr>
          <p:cNvPr id="228" name="Google Shape;228;p3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 Resource allocation graphs</a:t>
            </a:r>
            <a:endParaRPr/>
          </a:p>
        </p:txBody>
      </p:sp>
      <p:sp>
        <p:nvSpPr>
          <p:cNvPr id="234" name="Google Shape;234;p3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there is a cycle in the Resource Allocation Graph and each resource in the cycle provides only one instance, then the processes will deadlock.</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rPr lang="en"/>
              <a:t>We can detect a deadlock by traversing the graph and searching for a cycle using a graph traversal algorithm, such as the Depth First Search (DFS). </a:t>
            </a:r>
            <a:endParaRPr/>
          </a:p>
          <a:p>
            <a:pPr indent="0" lvl="0" marL="0" rtl="0" algn="l">
              <a:spcBef>
                <a:spcPts val="1600"/>
              </a:spcBef>
              <a:spcAft>
                <a:spcPts val="1600"/>
              </a:spcAft>
              <a:buNone/>
            </a:pPr>
            <a:r>
              <a:t/>
            </a:r>
            <a:endParaRPr/>
          </a:p>
        </p:txBody>
      </p:sp>
      <p:pic>
        <p:nvPicPr>
          <p:cNvPr descr="Resource allocation&#10;graph&lt;span label=&quot;ragfigure&quot;&gt;&lt;/span&gt;" id="235" name="Google Shape;235;p38"/>
          <p:cNvPicPr preferRelativeResize="0"/>
          <p:nvPr/>
        </p:nvPicPr>
        <p:blipFill>
          <a:blip r:embed="rId3">
            <a:alphaModFix/>
          </a:blip>
          <a:stretch>
            <a:fillRect/>
          </a:stretch>
        </p:blipFill>
        <p:spPr>
          <a:xfrm>
            <a:off x="152400" y="1295400"/>
            <a:ext cx="4419600" cy="311158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 Resource allocation graphs</a:t>
            </a:r>
            <a:endParaRPr/>
          </a:p>
        </p:txBody>
      </p:sp>
      <p:sp>
        <p:nvSpPr>
          <p:cNvPr id="241" name="Google Shape;241;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there is a cycle in the Resource Allocation Graph and each resource in the cycle provides only one instance, then the processes will deadlock.</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We can detect a deadlock by traversing the graph and searching for a cycle using a graph traversal algorithm, such as the Depth First Search (DFS). </a:t>
            </a:r>
            <a:endParaRPr/>
          </a:p>
          <a:p>
            <a:pPr indent="0" lvl="0" marL="0" rtl="0" algn="l">
              <a:spcBef>
                <a:spcPts val="1600"/>
              </a:spcBef>
              <a:spcAft>
                <a:spcPts val="1600"/>
              </a:spcAft>
              <a:buNone/>
            </a:pPr>
            <a:r>
              <a:t/>
            </a:r>
            <a:endParaRPr/>
          </a:p>
        </p:txBody>
      </p:sp>
      <p:pic>
        <p:nvPicPr>
          <p:cNvPr id="242" name="Google Shape;242;p39"/>
          <p:cNvPicPr preferRelativeResize="0"/>
          <p:nvPr/>
        </p:nvPicPr>
        <p:blipFill>
          <a:blip r:embed="rId3">
            <a:alphaModFix/>
          </a:blip>
          <a:stretch>
            <a:fillRect/>
          </a:stretch>
        </p:blipFill>
        <p:spPr>
          <a:xfrm>
            <a:off x="79875" y="1143000"/>
            <a:ext cx="4492125" cy="316169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Coffman conditions</a:t>
            </a:r>
            <a:endParaRPr/>
          </a:p>
        </p:txBody>
      </p:sp>
      <p:sp>
        <p:nvSpPr>
          <p:cNvPr id="248" name="Google Shape;248;p40"/>
          <p:cNvSpPr txBox="1"/>
          <p:nvPr>
            <p:ph idx="1" type="body"/>
          </p:nvPr>
        </p:nvSpPr>
        <p:spPr>
          <a:xfrm>
            <a:off x="311700" y="1152475"/>
            <a:ext cx="286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Deadlock can happen if and only if the four Coffman conditions are satisfied.</a:t>
            </a:r>
            <a:endParaRPr/>
          </a:p>
          <a:p>
            <a:pPr indent="0" lvl="0" marL="0" rtl="0" algn="l">
              <a:spcBef>
                <a:spcPts val="1600"/>
              </a:spcBef>
              <a:spcAft>
                <a:spcPts val="0"/>
              </a:spcAft>
              <a:buClr>
                <a:schemeClr val="dk1"/>
              </a:buClr>
              <a:buSzPts val="1100"/>
              <a:buFont typeface="Arial"/>
              <a:buNone/>
            </a:pPr>
            <a:r>
              <a:rPr lang="en"/>
              <a:t> </a:t>
            </a:r>
            <a:endParaRPr/>
          </a:p>
          <a:p>
            <a:pPr indent="0" lvl="0" marL="0" rtl="0" algn="l">
              <a:spcBef>
                <a:spcPts val="1600"/>
              </a:spcBef>
              <a:spcAft>
                <a:spcPts val="1600"/>
              </a:spcAft>
              <a:buNone/>
            </a:pPr>
            <a:r>
              <a:t/>
            </a:r>
            <a:endParaRPr/>
          </a:p>
        </p:txBody>
      </p:sp>
      <p:sp>
        <p:nvSpPr>
          <p:cNvPr id="249" name="Google Shape;249;p40"/>
          <p:cNvSpPr txBox="1"/>
          <p:nvPr>
            <p:ph idx="2" type="body"/>
          </p:nvPr>
        </p:nvSpPr>
        <p:spPr>
          <a:xfrm>
            <a:off x="3646375" y="630875"/>
            <a:ext cx="5186100" cy="433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Mutual Exclusion: </a:t>
            </a:r>
            <a:r>
              <a:rPr lang="en"/>
              <a:t>No two processes can obtain a resource at the same time.</a:t>
            </a:r>
            <a:endParaRPr/>
          </a:p>
          <a:p>
            <a:pPr indent="-317500" lvl="0" marL="457200" rtl="0" algn="l">
              <a:spcBef>
                <a:spcPts val="0"/>
              </a:spcBef>
              <a:spcAft>
                <a:spcPts val="0"/>
              </a:spcAft>
              <a:buSzPts val="1400"/>
              <a:buAutoNum type="arabicPeriod"/>
            </a:pPr>
            <a:r>
              <a:rPr b="1" lang="en"/>
              <a:t>Circular Wait: </a:t>
            </a:r>
            <a:r>
              <a:rPr lang="en"/>
              <a:t>There exists a cycle in the Resource Allocation Graph:</a:t>
            </a:r>
            <a:endParaRPr/>
          </a:p>
          <a:p>
            <a:pPr indent="-304800" lvl="1" marL="914400" rtl="0" algn="l">
              <a:spcBef>
                <a:spcPts val="0"/>
              </a:spcBef>
              <a:spcAft>
                <a:spcPts val="0"/>
              </a:spcAft>
              <a:buSzPts val="1200"/>
              <a:buAutoNum type="alphaLcPeriod"/>
            </a:pPr>
            <a:r>
              <a:rPr lang="en"/>
              <a:t>there exists a set of processes {P1,P2,. . . } such that P1 is waiting for resources held by P2, which is waiting for P3,. . . , which is waiting for P1.</a:t>
            </a:r>
            <a:endParaRPr/>
          </a:p>
          <a:p>
            <a:pPr indent="-317500" lvl="0" marL="457200" rtl="0" algn="l">
              <a:spcBef>
                <a:spcPts val="0"/>
              </a:spcBef>
              <a:spcAft>
                <a:spcPts val="0"/>
              </a:spcAft>
              <a:buSzPts val="1400"/>
              <a:buAutoNum type="arabicPeriod"/>
            </a:pPr>
            <a:r>
              <a:rPr b="1" lang="en"/>
              <a:t>Hold and Wait: </a:t>
            </a:r>
            <a:r>
              <a:rPr lang="en"/>
              <a:t>Once a resource is obtained, a process keeps the resource locked. </a:t>
            </a:r>
            <a:endParaRPr/>
          </a:p>
          <a:p>
            <a:pPr indent="-317500" lvl="0" marL="457200" rtl="0" algn="l">
              <a:spcBef>
                <a:spcPts val="0"/>
              </a:spcBef>
              <a:spcAft>
                <a:spcPts val="0"/>
              </a:spcAft>
              <a:buSzPts val="1400"/>
              <a:buAutoNum type="arabicPeriod"/>
            </a:pPr>
            <a:r>
              <a:rPr b="1" lang="en"/>
              <a:t>No Pre-emption:</a:t>
            </a:r>
            <a:r>
              <a:rPr lang="en"/>
              <a:t> Nothing can force the process to give up a resource.</a:t>
            </a:r>
            <a:endParaRPr/>
          </a:p>
          <a:p>
            <a:pPr indent="0" lvl="0" marL="457200" rtl="0" algn="l">
              <a:spcBef>
                <a:spcPts val="1600"/>
              </a:spcBef>
              <a:spcAft>
                <a:spcPts val="0"/>
              </a:spcAft>
              <a:buNone/>
            </a:pPr>
            <a:r>
              <a:rPr lang="en"/>
              <a:t>Proof in the book</a:t>
            </a:r>
            <a:endParaRPr/>
          </a:p>
          <a:p>
            <a:pPr indent="0" lvl="0" marL="457200" rtl="0" algn="l">
              <a:spcBef>
                <a:spcPts val="1600"/>
              </a:spcBef>
              <a:spcAft>
                <a:spcPts val="1600"/>
              </a:spcAft>
              <a:buNone/>
            </a:pPr>
            <a:r>
              <a:rPr lang="en"/>
              <a:t>See also simulations in </a:t>
            </a:r>
            <a:r>
              <a:rPr lang="en" u="sng">
                <a:solidFill>
                  <a:schemeClr val="hlink"/>
                </a:solidFill>
                <a:hlinkClick r:id="rId3"/>
              </a:rPr>
              <a:t>https://en.wikipedia.org/wiki/Deadlock#Individually_necessary_and_jointly_sufficient_conditions_for_deadlock</a:t>
            </a:r>
            <a:r>
              <a:rPr lang="en"/>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Approaches to solve deadlock</a:t>
            </a:r>
            <a:endParaRPr/>
          </a:p>
        </p:txBody>
      </p:sp>
      <p:sp>
        <p:nvSpPr>
          <p:cNvPr id="255" name="Google Shape;255;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Ostrich algorithm:</a:t>
            </a:r>
            <a:r>
              <a:rPr lang="en"/>
              <a:t> </a:t>
            </a:r>
            <a:endParaRPr/>
          </a:p>
          <a:p>
            <a:pPr indent="0" lvl="0" marL="0" rtl="0" algn="l">
              <a:spcBef>
                <a:spcPts val="1600"/>
              </a:spcBef>
              <a:spcAft>
                <a:spcPts val="0"/>
              </a:spcAft>
              <a:buNone/>
            </a:pPr>
            <a:r>
              <a:rPr lang="en"/>
              <a:t>ignore the deadlock, prevent processes from context-switching </a:t>
            </a:r>
            <a:endParaRPr/>
          </a:p>
          <a:p>
            <a:pPr indent="0" lvl="0" marL="0" rtl="0" algn="l">
              <a:spcBef>
                <a:spcPts val="1600"/>
              </a:spcBef>
              <a:spcAft>
                <a:spcPts val="0"/>
              </a:spcAft>
              <a:buNone/>
            </a:pPr>
            <a:r>
              <a:rPr lang="en"/>
              <a:t>"to stick one's head in the sand and pretend there is no problem". </a:t>
            </a:r>
            <a:endParaRPr/>
          </a:p>
          <a:p>
            <a:pPr indent="0" lvl="0" marL="0" rtl="0" algn="l">
              <a:spcBef>
                <a:spcPts val="1600"/>
              </a:spcBef>
              <a:spcAft>
                <a:spcPts val="0"/>
              </a:spcAft>
              <a:buNone/>
            </a:pPr>
            <a:r>
              <a:rPr lang="en"/>
              <a:t>Used in most operating systems</a:t>
            </a:r>
            <a:endParaRPr/>
          </a:p>
          <a:p>
            <a:pPr indent="0" lvl="0" marL="0" rtl="0" algn="l">
              <a:spcBef>
                <a:spcPts val="1600"/>
              </a:spcBef>
              <a:spcAft>
                <a:spcPts val="0"/>
              </a:spcAft>
              <a:buNone/>
            </a:pPr>
            <a:r>
              <a:t/>
            </a:r>
            <a:endParaRPr/>
          </a:p>
          <a:p>
            <a:pPr indent="0" lvl="0" marL="457200" rtl="0" algn="l">
              <a:spcBef>
                <a:spcPts val="1600"/>
              </a:spcBef>
              <a:spcAft>
                <a:spcPts val="1600"/>
              </a:spcAft>
              <a:buNone/>
            </a:pPr>
            <a:r>
              <a:t/>
            </a:r>
            <a:endParaRPr/>
          </a:p>
        </p:txBody>
      </p:sp>
      <p:sp>
        <p:nvSpPr>
          <p:cNvPr id="256" name="Google Shape;256;p4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Banker’s algorithm</a:t>
            </a:r>
            <a:endParaRPr b="1"/>
          </a:p>
          <a:p>
            <a:pPr indent="0" lvl="0" marL="0" rtl="0" algn="l">
              <a:spcBef>
                <a:spcPts val="1600"/>
              </a:spcBef>
              <a:spcAft>
                <a:spcPts val="0"/>
              </a:spcAft>
              <a:buNone/>
            </a:pPr>
            <a:r>
              <a:rPr lang="en" u="sng">
                <a:solidFill>
                  <a:schemeClr val="hlink"/>
                </a:solidFill>
                <a:hlinkClick r:id="rId3"/>
              </a:rPr>
              <a:t>https://en.wikipedia.org/wiki/Banker%27s_algorithm</a:t>
            </a:r>
            <a:endParaRPr/>
          </a:p>
          <a:p>
            <a:pPr indent="-295275" lvl="0" marL="685800" rtl="0" algn="l">
              <a:spcBef>
                <a:spcPts val="1600"/>
              </a:spcBef>
              <a:spcAft>
                <a:spcPts val="0"/>
              </a:spcAft>
              <a:buClr>
                <a:srgbClr val="202122"/>
              </a:buClr>
              <a:buSzPts val="1050"/>
              <a:buChar char="●"/>
            </a:pPr>
            <a:r>
              <a:rPr lang="en" sz="1050">
                <a:solidFill>
                  <a:srgbClr val="202122"/>
                </a:solidFill>
                <a:highlight>
                  <a:srgbClr val="FFFFFF"/>
                </a:highlight>
              </a:rPr>
              <a:t>How much of each resource each process could possibly request ("MAX")</a:t>
            </a:r>
            <a:endParaRPr sz="1050">
              <a:solidFill>
                <a:srgbClr val="202122"/>
              </a:solidFill>
              <a:highlight>
                <a:srgbClr val="FFFFFF"/>
              </a:highlight>
            </a:endParaRPr>
          </a:p>
          <a:p>
            <a:pPr indent="-295275" lvl="0" marL="685800" rtl="0" algn="l">
              <a:spcBef>
                <a:spcPts val="0"/>
              </a:spcBef>
              <a:spcAft>
                <a:spcPts val="0"/>
              </a:spcAft>
              <a:buClr>
                <a:srgbClr val="202122"/>
              </a:buClr>
              <a:buSzPts val="1050"/>
              <a:buChar char="●"/>
            </a:pPr>
            <a:r>
              <a:rPr lang="en" sz="1050">
                <a:solidFill>
                  <a:srgbClr val="202122"/>
                </a:solidFill>
                <a:highlight>
                  <a:srgbClr val="FFFFFF"/>
                </a:highlight>
              </a:rPr>
              <a:t>How much of each resource each process is currently holding ("ALLOCATED")</a:t>
            </a:r>
            <a:endParaRPr sz="1050">
              <a:solidFill>
                <a:srgbClr val="202122"/>
              </a:solidFill>
              <a:highlight>
                <a:srgbClr val="FFFFFF"/>
              </a:highlight>
            </a:endParaRPr>
          </a:p>
          <a:p>
            <a:pPr indent="-295275" lvl="0" marL="685800" rtl="0" algn="l">
              <a:spcBef>
                <a:spcPts val="0"/>
              </a:spcBef>
              <a:spcAft>
                <a:spcPts val="0"/>
              </a:spcAft>
              <a:buClr>
                <a:srgbClr val="202122"/>
              </a:buClr>
              <a:buSzPts val="1050"/>
              <a:buChar char="●"/>
            </a:pPr>
            <a:r>
              <a:rPr lang="en" sz="1050">
                <a:solidFill>
                  <a:srgbClr val="202122"/>
                </a:solidFill>
                <a:highlight>
                  <a:srgbClr val="FFFFFF"/>
                </a:highlight>
              </a:rPr>
              <a:t>How much of each resource the system currently has available ("AVAILABLE")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Dining philosopher problem </a:t>
            </a:r>
            <a:endParaRPr/>
          </a:p>
          <a:p>
            <a:pPr indent="0" lvl="0" marL="0" rtl="0" algn="l">
              <a:spcBef>
                <a:spcPts val="0"/>
              </a:spcBef>
              <a:spcAft>
                <a:spcPts val="0"/>
              </a:spcAft>
              <a:buNone/>
            </a:pPr>
            <a:r>
              <a:t/>
            </a:r>
            <a:endParaRPr/>
          </a:p>
        </p:txBody>
      </p:sp>
      <p:sp>
        <p:nvSpPr>
          <p:cNvPr id="262" name="Google Shape;262;p42"/>
          <p:cNvSpPr txBox="1"/>
          <p:nvPr>
            <p:ph idx="1" type="body"/>
          </p:nvPr>
        </p:nvSpPr>
        <p:spPr>
          <a:xfrm>
            <a:off x="311700" y="1152475"/>
            <a:ext cx="25935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Five philosophers, numbered zero to four, are sitting at a round table, thinking. </a:t>
            </a:r>
            <a:endParaRPr/>
          </a:p>
          <a:p>
            <a:pPr indent="0" lvl="0" marL="0" rtl="0" algn="l">
              <a:spcBef>
                <a:spcPts val="1600"/>
              </a:spcBef>
              <a:spcAft>
                <a:spcPts val="0"/>
              </a:spcAft>
              <a:buNone/>
            </a:pPr>
            <a:r>
              <a:rPr lang="en"/>
              <a:t>As time passes, different individuals become hungry and decide to eat. </a:t>
            </a:r>
            <a:endParaRPr/>
          </a:p>
          <a:p>
            <a:pPr indent="0" lvl="0" marL="0" rtl="0" algn="l">
              <a:spcBef>
                <a:spcPts val="1600"/>
              </a:spcBef>
              <a:spcAft>
                <a:spcPts val="0"/>
              </a:spcAft>
              <a:buNone/>
            </a:pPr>
            <a:r>
              <a:rPr lang="en"/>
              <a:t>There is a platter of noodles on the table but each philosopher only has one chopstick to use. </a:t>
            </a:r>
            <a:endParaRPr/>
          </a:p>
          <a:p>
            <a:pPr indent="0" lvl="0" marL="0" rtl="0" algn="l">
              <a:spcBef>
                <a:spcPts val="1600"/>
              </a:spcBef>
              <a:spcAft>
                <a:spcPts val="0"/>
              </a:spcAft>
              <a:buNone/>
            </a:pPr>
            <a:r>
              <a:rPr lang="en"/>
              <a:t>In order to eat, they must share chopsticks. </a:t>
            </a:r>
            <a:endParaRPr/>
          </a:p>
          <a:p>
            <a:pPr indent="0" lvl="0" marL="0" rtl="0" algn="l">
              <a:spcBef>
                <a:spcPts val="1600"/>
              </a:spcBef>
              <a:spcAft>
                <a:spcPts val="1600"/>
              </a:spcAft>
              <a:buNone/>
            </a:pPr>
            <a:r>
              <a:rPr lang="en"/>
              <a:t>The chopstick to the left of each philosopher (as they sit facing the table) has the same number as that philosopher. </a:t>
            </a:r>
            <a:endParaRPr/>
          </a:p>
        </p:txBody>
      </p:sp>
      <p:pic>
        <p:nvPicPr>
          <p:cNvPr id="263" name="Google Shape;263;p42"/>
          <p:cNvPicPr preferRelativeResize="0"/>
          <p:nvPr/>
        </p:nvPicPr>
        <p:blipFill>
          <a:blip r:embed="rId3">
            <a:alphaModFix/>
          </a:blip>
          <a:stretch>
            <a:fillRect/>
          </a:stretch>
        </p:blipFill>
        <p:spPr>
          <a:xfrm>
            <a:off x="3827050" y="1139651"/>
            <a:ext cx="4776650" cy="3138550"/>
          </a:xfrm>
          <a:prstGeom prst="rect">
            <a:avLst/>
          </a:prstGeom>
          <a:noFill/>
          <a:ln>
            <a:noFill/>
          </a:ln>
        </p:spPr>
      </p:pic>
      <p:sp>
        <p:nvSpPr>
          <p:cNvPr id="264" name="Google Shape;264;p42"/>
          <p:cNvSpPr txBox="1"/>
          <p:nvPr/>
        </p:nvSpPr>
        <p:spPr>
          <a:xfrm>
            <a:off x="3489375" y="4776950"/>
            <a:ext cx="6137400" cy="4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https://docs.oracle.com/cd/E19205-01/820-0619/geosb/index.html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298450" lvl="0" marL="457200" rtl="0" algn="l">
              <a:spcBef>
                <a:spcPts val="1200"/>
              </a:spcBef>
              <a:spcAft>
                <a:spcPts val="0"/>
              </a:spcAft>
              <a:buClr>
                <a:schemeClr val="dk1"/>
              </a:buClr>
              <a:buSzPts val="1100"/>
              <a:buChar char="●"/>
            </a:pPr>
            <a:r>
              <a:rPr lang="en"/>
              <a:t>think until the left fork is available; when it is, pick it up</a:t>
            </a:r>
            <a:endParaRPr/>
          </a:p>
          <a:p>
            <a:pPr indent="-298450" lvl="0" marL="457200" rtl="0" algn="l">
              <a:spcBef>
                <a:spcPts val="0"/>
              </a:spcBef>
              <a:spcAft>
                <a:spcPts val="0"/>
              </a:spcAft>
              <a:buClr>
                <a:schemeClr val="dk1"/>
              </a:buClr>
              <a:buSzPts val="1100"/>
              <a:buChar char="●"/>
            </a:pPr>
            <a:r>
              <a:rPr lang="en"/>
              <a:t>think until the right fork is available; when it is, pick it up</a:t>
            </a:r>
            <a:endParaRPr/>
          </a:p>
          <a:p>
            <a:pPr indent="-298450" lvl="0" marL="457200" rtl="0" algn="l">
              <a:spcBef>
                <a:spcPts val="0"/>
              </a:spcBef>
              <a:spcAft>
                <a:spcPts val="0"/>
              </a:spcAft>
              <a:buClr>
                <a:schemeClr val="dk1"/>
              </a:buClr>
              <a:buSzPts val="1100"/>
              <a:buChar char="●"/>
            </a:pPr>
            <a:r>
              <a:rPr lang="en"/>
              <a:t>eat for a fixed amount of time</a:t>
            </a:r>
            <a:endParaRPr/>
          </a:p>
          <a:p>
            <a:pPr indent="-298450" lvl="0" marL="457200" rtl="0" algn="l">
              <a:spcBef>
                <a:spcPts val="0"/>
              </a:spcBef>
              <a:spcAft>
                <a:spcPts val="0"/>
              </a:spcAft>
              <a:buClr>
                <a:schemeClr val="dk1"/>
              </a:buClr>
              <a:buSzPts val="1100"/>
              <a:buChar char="●"/>
            </a:pPr>
            <a:r>
              <a:rPr lang="en"/>
              <a:t>put the right fork down</a:t>
            </a:r>
            <a:endParaRPr/>
          </a:p>
          <a:p>
            <a:pPr indent="-298450" lvl="0" marL="457200" rtl="0" algn="l">
              <a:spcBef>
                <a:spcPts val="0"/>
              </a:spcBef>
              <a:spcAft>
                <a:spcPts val="0"/>
              </a:spcAft>
              <a:buClr>
                <a:schemeClr val="dk1"/>
              </a:buClr>
              <a:buSzPts val="1100"/>
              <a:buChar char="●"/>
            </a:pPr>
            <a:r>
              <a:rPr lang="en"/>
              <a:t>put the left fork down</a:t>
            </a:r>
            <a:endParaRPr/>
          </a:p>
          <a:p>
            <a:pPr indent="-298450" lvl="0" marL="457200" rtl="0" algn="l">
              <a:spcBef>
                <a:spcPts val="0"/>
              </a:spcBef>
              <a:spcAft>
                <a:spcPts val="0"/>
              </a:spcAft>
              <a:buClr>
                <a:schemeClr val="dk1"/>
              </a:buClr>
              <a:buSzPts val="1100"/>
              <a:buChar char="●"/>
            </a:pPr>
            <a:r>
              <a:rPr lang="en"/>
              <a:t>think for a fixed amount of time</a:t>
            </a:r>
            <a:endParaRPr/>
          </a:p>
          <a:p>
            <a:pPr indent="-298450" lvl="0" marL="457200" rtl="0" algn="l">
              <a:spcBef>
                <a:spcPts val="0"/>
              </a:spcBef>
              <a:spcAft>
                <a:spcPts val="0"/>
              </a:spcAft>
              <a:buClr>
                <a:schemeClr val="dk1"/>
              </a:buClr>
              <a:buSzPts val="1100"/>
              <a:buChar char="●"/>
            </a:pPr>
            <a:r>
              <a:rPr lang="en"/>
              <a:t>repeat</a:t>
            </a:r>
            <a:endParaRPr/>
          </a:p>
          <a:p>
            <a:pPr indent="0" lvl="0" marL="0" rtl="0" algn="l">
              <a:spcBef>
                <a:spcPts val="1200"/>
              </a:spcBef>
              <a:spcAft>
                <a:spcPts val="1600"/>
              </a:spcAft>
              <a:buNone/>
            </a:pPr>
            <a:r>
              <a:t/>
            </a:r>
            <a:endParaRPr/>
          </a:p>
        </p:txBody>
      </p:sp>
      <p:sp>
        <p:nvSpPr>
          <p:cNvPr id="271" name="Google Shape;271;p4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Dining philosopher problem </a:t>
            </a:r>
            <a:endParaRPr/>
          </a:p>
        </p:txBody>
      </p:sp>
      <p:sp>
        <p:nvSpPr>
          <p:cNvPr id="277" name="Google Shape;277;p4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philosopher(){</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while(true){</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	think()</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	pick(left_</a:t>
            </a:r>
            <a:r>
              <a:rPr b="1" lang="en">
                <a:latin typeface="Consolas"/>
                <a:ea typeface="Consolas"/>
                <a:cs typeface="Consolas"/>
                <a:sym typeface="Consolas"/>
              </a:rPr>
              <a:t>chopstick</a:t>
            </a:r>
            <a:r>
              <a:rPr b="1" lang="en">
                <a:latin typeface="Consolas"/>
                <a:ea typeface="Consolas"/>
                <a:cs typeface="Consolas"/>
                <a:sym typeface="Consolas"/>
              </a:rPr>
              <a:t>)</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	pick(right_</a:t>
            </a:r>
            <a:r>
              <a:rPr b="1" lang="en">
                <a:latin typeface="Consolas"/>
                <a:ea typeface="Consolas"/>
                <a:cs typeface="Consolas"/>
                <a:sym typeface="Consolas"/>
              </a:rPr>
              <a:t>chopstick</a:t>
            </a:r>
            <a:r>
              <a:rPr b="1" lang="en">
                <a:latin typeface="Consolas"/>
                <a:ea typeface="Consolas"/>
                <a:cs typeface="Consolas"/>
                <a:sym typeface="Consolas"/>
              </a:rPr>
              <a:t>)</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	eat()</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	putdown_</a:t>
            </a:r>
            <a:r>
              <a:rPr b="1" lang="en">
                <a:latin typeface="Consolas"/>
                <a:ea typeface="Consolas"/>
                <a:cs typeface="Consolas"/>
                <a:sym typeface="Consolas"/>
              </a:rPr>
              <a:t>chopstick</a:t>
            </a:r>
            <a:r>
              <a:rPr b="1" lang="en">
                <a:latin typeface="Consolas"/>
                <a:ea typeface="Consolas"/>
                <a:cs typeface="Consolas"/>
                <a:sym typeface="Consolas"/>
              </a:rPr>
              <a:t>s()</a:t>
            </a:r>
            <a:endParaRPr b="1">
              <a:latin typeface="Consolas"/>
              <a:ea typeface="Consolas"/>
              <a:cs typeface="Consolas"/>
              <a:sym typeface="Consolas"/>
            </a:endParaRPr>
          </a:p>
          <a:p>
            <a:pPr indent="0" lvl="0" marL="457200" rtl="0" algn="l">
              <a:spcBef>
                <a:spcPts val="1600"/>
              </a:spcBef>
              <a:spcAft>
                <a:spcPts val="0"/>
              </a:spcAft>
              <a:buNone/>
            </a:pPr>
            <a:r>
              <a:rPr b="1" lang="en">
                <a:latin typeface="Consolas"/>
                <a:ea typeface="Consolas"/>
                <a:cs typeface="Consolas"/>
                <a:sym typeface="Consolas"/>
              </a:rPr>
              <a:t>}</a:t>
            </a:r>
            <a:endParaRPr b="1">
              <a:latin typeface="Consolas"/>
              <a:ea typeface="Consolas"/>
              <a:cs typeface="Consolas"/>
              <a:sym typeface="Consolas"/>
            </a:endParaRPr>
          </a:p>
          <a:p>
            <a:pPr indent="0" lvl="0" marL="0" rtl="0" algn="l">
              <a:spcBef>
                <a:spcPts val="1600"/>
              </a:spcBef>
              <a:spcAft>
                <a:spcPts val="1600"/>
              </a:spcAft>
              <a:buNone/>
            </a:pPr>
            <a:r>
              <a:rPr b="1" lang="en">
                <a:latin typeface="Consolas"/>
                <a:ea typeface="Consolas"/>
                <a:cs typeface="Consolas"/>
                <a:sym typeface="Consolas"/>
              </a:rPr>
              <a:t>}</a:t>
            </a:r>
            <a:endParaRPr b="1">
              <a:latin typeface="Consolas"/>
              <a:ea typeface="Consolas"/>
              <a:cs typeface="Consolas"/>
              <a:sym typeface="Consolas"/>
            </a:endParaRPr>
          </a:p>
        </p:txBody>
      </p:sp>
      <p:pic>
        <p:nvPicPr>
          <p:cNvPr id="278" name="Google Shape;278;p44"/>
          <p:cNvPicPr preferRelativeResize="0"/>
          <p:nvPr/>
        </p:nvPicPr>
        <p:blipFill>
          <a:blip r:embed="rId3">
            <a:alphaModFix/>
          </a:blip>
          <a:stretch>
            <a:fillRect/>
          </a:stretch>
        </p:blipFill>
        <p:spPr>
          <a:xfrm>
            <a:off x="4113403" y="1143000"/>
            <a:ext cx="4570950" cy="3216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191050" y="399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Dining philosopher problem </a:t>
            </a:r>
            <a:endParaRPr/>
          </a:p>
        </p:txBody>
      </p:sp>
      <p:sp>
        <p:nvSpPr>
          <p:cNvPr id="284" name="Google Shape;284;p45"/>
          <p:cNvSpPr txBox="1"/>
          <p:nvPr>
            <p:ph idx="1" type="body"/>
          </p:nvPr>
        </p:nvSpPr>
        <p:spPr>
          <a:xfrm>
            <a:off x="259375" y="612650"/>
            <a:ext cx="5870100" cy="3956100"/>
          </a:xfrm>
          <a:prstGeom prst="rect">
            <a:avLst/>
          </a:prstGeom>
        </p:spPr>
        <p:txBody>
          <a:bodyPr anchorCtr="0" anchor="t" bIns="91425" lIns="91425" spcFirstLastPara="1" rIns="91425" wrap="square" tIns="91425">
            <a:noAutofit/>
          </a:bodyPr>
          <a:lstStyle/>
          <a:p>
            <a:pPr indent="0" lvl="0" marL="0" rtl="0" algn="l">
              <a:lnSpc>
                <a:spcPct val="133333"/>
              </a:lnSpc>
              <a:spcBef>
                <a:spcPts val="0"/>
              </a:spcBef>
              <a:spcAft>
                <a:spcPts val="0"/>
              </a:spcAft>
              <a:buClr>
                <a:schemeClr val="dk1"/>
              </a:buClr>
              <a:buSzPts val="1100"/>
              <a:buFont typeface="Arial"/>
              <a:buNone/>
            </a:pPr>
            <a:r>
              <a:rPr lang="en" sz="1350">
                <a:solidFill>
                  <a:srgbClr val="0000FF"/>
                </a:solidFill>
                <a:highlight>
                  <a:srgbClr val="FFFFFF"/>
                </a:highlight>
                <a:latin typeface="Consolas"/>
                <a:ea typeface="Consolas"/>
                <a:cs typeface="Consolas"/>
                <a:sym typeface="Consolas"/>
              </a:rPr>
              <a:t>void</a:t>
            </a: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philosopher1</a:t>
            </a:r>
            <a:r>
              <a:rPr lang="en" sz="1350">
                <a:solidFill>
                  <a:schemeClr val="dk1"/>
                </a:solidFill>
                <a:highlight>
                  <a:srgbClr val="FFFFFF"/>
                </a:highlight>
                <a:latin typeface="Consolas"/>
                <a:ea typeface="Consolas"/>
                <a:cs typeface="Consolas"/>
                <a:sym typeface="Consolas"/>
              </a:rPr>
              <a:t>(</a:t>
            </a:r>
            <a:r>
              <a:rPr lang="en" sz="1350">
                <a:solidFill>
                  <a:srgbClr val="0000FF"/>
                </a:solidFill>
                <a:highlight>
                  <a:srgbClr val="FFFFFF"/>
                </a:highlight>
                <a:latin typeface="Consolas"/>
                <a:ea typeface="Consolas"/>
                <a:cs typeface="Consolas"/>
                <a:sym typeface="Consolas"/>
              </a:rPr>
              <a:t>void</a:t>
            </a:r>
            <a:r>
              <a:rPr lang="en" sz="1350">
                <a:solidFill>
                  <a:schemeClr val="dk1"/>
                </a:solidFill>
                <a:highlight>
                  <a:srgbClr val="FFFFFF"/>
                </a:highlight>
                <a:latin typeface="Consolas"/>
                <a:ea typeface="Consolas"/>
                <a:cs typeface="Consolas"/>
                <a:sym typeface="Consolas"/>
              </a:rPr>
              <a:t> *</a:t>
            </a:r>
            <a:r>
              <a:rPr lang="en" sz="1350">
                <a:solidFill>
                  <a:srgbClr val="808080"/>
                </a:solidFill>
                <a:highlight>
                  <a:srgbClr val="FFFFFF"/>
                </a:highlight>
                <a:latin typeface="Consolas"/>
                <a:ea typeface="Consolas"/>
                <a:cs typeface="Consolas"/>
                <a:sym typeface="Consolas"/>
              </a:rPr>
              <a:t>arg</a:t>
            </a: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00FF"/>
                </a:solidFill>
                <a:highlight>
                  <a:srgbClr val="FFFFFF"/>
                </a:highlight>
                <a:latin typeface="Consolas"/>
                <a:ea typeface="Consolas"/>
                <a:cs typeface="Consolas"/>
                <a:sym typeface="Consolas"/>
              </a:rPr>
              <a:t>long</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 (</a:t>
            </a:r>
            <a:r>
              <a:rPr lang="en" sz="1350">
                <a:solidFill>
                  <a:srgbClr val="0000FF"/>
                </a:solidFill>
                <a:highlight>
                  <a:srgbClr val="FFFFFF"/>
                </a:highlight>
                <a:latin typeface="Consolas"/>
                <a:ea typeface="Consolas"/>
                <a:cs typeface="Consolas"/>
                <a:sym typeface="Consolas"/>
              </a:rPr>
              <a:t>long</a:t>
            </a:r>
            <a:r>
              <a:rPr lang="en" sz="1350">
                <a:solidFill>
                  <a:schemeClr val="dk1"/>
                </a:solidFill>
                <a:highlight>
                  <a:srgbClr val="FFFFFF"/>
                </a:highlight>
                <a:latin typeface="Consolas"/>
                <a:ea typeface="Consolas"/>
                <a:cs typeface="Consolas"/>
                <a:sym typeface="Consolas"/>
              </a:rPr>
              <a:t>)</a:t>
            </a:r>
            <a:r>
              <a:rPr lang="en" sz="1350">
                <a:solidFill>
                  <a:srgbClr val="808080"/>
                </a:solidFill>
                <a:highlight>
                  <a:srgbClr val="FFFFFF"/>
                </a:highlight>
                <a:latin typeface="Consolas"/>
                <a:ea typeface="Consolas"/>
                <a:cs typeface="Consolas"/>
                <a:sym typeface="Consolas"/>
              </a:rPr>
              <a:t>arg</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2B91AF"/>
                </a:solidFill>
                <a:highlight>
                  <a:srgbClr val="FFFFFF"/>
                </a:highlight>
                <a:latin typeface="Consolas"/>
                <a:ea typeface="Consolas"/>
                <a:cs typeface="Consolas"/>
                <a:sym typeface="Consolas"/>
              </a:rPr>
              <a:t>pthread_mutex_t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left</a:t>
            </a:r>
            <a:r>
              <a:rPr lang="en" sz="1350">
                <a:solidFill>
                  <a:schemeClr val="dk1"/>
                </a:solidFill>
                <a:highlight>
                  <a:srgbClr val="FFFFFF"/>
                </a:highlight>
                <a:latin typeface="Consolas"/>
                <a:ea typeface="Consolas"/>
                <a:cs typeface="Consolas"/>
                <a:sym typeface="Consolas"/>
              </a:rPr>
              <a:t> = &amp;chopsticks[</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2B91AF"/>
                </a:solidFill>
                <a:highlight>
                  <a:srgbClr val="FFFFFF"/>
                </a:highlight>
                <a:latin typeface="Consolas"/>
                <a:ea typeface="Consolas"/>
                <a:cs typeface="Consolas"/>
                <a:sym typeface="Consolas"/>
              </a:rPr>
              <a:t>pthread_mutex_t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 = &amp;chopsticks[(</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 </a:t>
            </a:r>
            <a:r>
              <a:rPr lang="en" sz="1350">
                <a:solidFill>
                  <a:srgbClr val="098658"/>
                </a:solidFill>
                <a:highlight>
                  <a:srgbClr val="FFFFFF"/>
                </a:highlight>
                <a:latin typeface="Consolas"/>
                <a:ea typeface="Consolas"/>
                <a:cs typeface="Consolas"/>
                <a:sym typeface="Consolas"/>
              </a:rPr>
              <a:t>1</a:t>
            </a:r>
            <a:r>
              <a:rPr lang="en" sz="1350">
                <a:solidFill>
                  <a:schemeClr val="dk1"/>
                </a:solidFill>
                <a:highlight>
                  <a:srgbClr val="FFFFFF"/>
                </a:highlight>
                <a:latin typeface="Consolas"/>
                <a:ea typeface="Consolas"/>
                <a:cs typeface="Consolas"/>
                <a:sym typeface="Consolas"/>
              </a:rPr>
              <a:t>) % </a:t>
            </a:r>
            <a:r>
              <a:rPr lang="en" sz="1350">
                <a:solidFill>
                  <a:srgbClr val="098658"/>
                </a:solidFill>
                <a:highlight>
                  <a:srgbClr val="FFFFFF"/>
                </a:highlight>
                <a:latin typeface="Consolas"/>
                <a:ea typeface="Consolas"/>
                <a:cs typeface="Consolas"/>
                <a:sym typeface="Consolas"/>
              </a:rPr>
              <a:t>5</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8F08C4"/>
                </a:solidFill>
                <a:highlight>
                  <a:srgbClr val="FFFFFF"/>
                </a:highlight>
                <a:latin typeface="Consolas"/>
                <a:ea typeface="Consolas"/>
                <a:cs typeface="Consolas"/>
                <a:sym typeface="Consolas"/>
              </a:rPr>
              <a:t>while</a:t>
            </a:r>
            <a:r>
              <a:rPr lang="en" sz="1350">
                <a:solidFill>
                  <a:schemeClr val="dk1"/>
                </a:solidFill>
                <a:highlight>
                  <a:srgbClr val="FFFFFF"/>
                </a:highlight>
                <a:latin typeface="Consolas"/>
                <a:ea typeface="Consolas"/>
                <a:cs typeface="Consolas"/>
                <a:sym typeface="Consolas"/>
              </a:rPr>
              <a:t> (</a:t>
            </a:r>
            <a:r>
              <a:rPr lang="en" sz="1350">
                <a:solidFill>
                  <a:srgbClr val="098658"/>
                </a:solidFill>
                <a:highlight>
                  <a:srgbClr val="FFFFFF"/>
                </a:highlight>
                <a:latin typeface="Consolas"/>
                <a:ea typeface="Consolas"/>
                <a:cs typeface="Consolas"/>
                <a:sym typeface="Consolas"/>
              </a:rPr>
              <a:t>1</a:t>
            </a: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thinking!</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rgbClr val="008000"/>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hungry!</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left</a:t>
            </a:r>
            <a:r>
              <a:rPr lang="en" sz="1350">
                <a:solidFill>
                  <a:schemeClr val="dk1"/>
                </a:solidFill>
                <a:highlight>
                  <a:srgbClr val="FFFFFF"/>
                </a:highlight>
                <a:latin typeface="Consolas"/>
                <a:ea typeface="Consolas"/>
                <a:cs typeface="Consolas"/>
                <a:sym typeface="Consolas"/>
              </a:rPr>
              <a:t>);</a:t>
            </a:r>
            <a:endParaRPr sz="1350">
              <a:solidFill>
                <a:srgbClr val="008000"/>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8000"/>
                </a:solidFill>
                <a:highlight>
                  <a:srgbClr val="FFFFFF"/>
                </a:highlight>
                <a:latin typeface="Consolas"/>
                <a:ea typeface="Consolas"/>
                <a:cs typeface="Consolas"/>
                <a:sym typeface="Consolas"/>
              </a:rPr>
              <a:t>/*eat(left, right);*/</a:t>
            </a:r>
            <a:endParaRPr sz="1350">
              <a:solidFill>
                <a:srgbClr val="008000"/>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eating</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pthread_mutex_unlock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pthread_mutex_unlock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left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done!</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deadlock occurs?</a:t>
            </a:r>
            <a:endParaRPr/>
          </a:p>
        </p:txBody>
      </p:sp>
      <p:sp>
        <p:nvSpPr>
          <p:cNvPr id="290" name="Google Shape;290;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if everyone picks up their left chopstick and is waiting on their right chopstick?</a:t>
            </a:r>
            <a:endParaRPr/>
          </a:p>
          <a:p>
            <a:pPr indent="0" lvl="0" marL="0" rtl="0" algn="l">
              <a:spcBef>
                <a:spcPts val="1600"/>
              </a:spcBef>
              <a:spcAft>
                <a:spcPts val="1600"/>
              </a:spcAft>
              <a:buNone/>
            </a:pPr>
            <a:r>
              <a:t/>
            </a:r>
            <a:endParaRPr/>
          </a:p>
        </p:txBody>
      </p:sp>
      <p:sp>
        <p:nvSpPr>
          <p:cNvPr id="291" name="Google Shape;291;p46"/>
          <p:cNvSpPr txBox="1"/>
          <p:nvPr/>
        </p:nvSpPr>
        <p:spPr>
          <a:xfrm>
            <a:off x="954150" y="4568875"/>
            <a:ext cx="7704900" cy="32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rPr>
              <a:t>resource allocation graph that shows how the system could be deadlocked</a:t>
            </a:r>
            <a:endParaRPr sz="1200">
              <a:solidFill>
                <a:schemeClr val="dk1"/>
              </a:solidFill>
            </a:endParaRPr>
          </a:p>
        </p:txBody>
      </p:sp>
      <p:pic>
        <p:nvPicPr>
          <p:cNvPr id="292" name="Google Shape;292;p46"/>
          <p:cNvPicPr preferRelativeResize="0"/>
          <p:nvPr/>
        </p:nvPicPr>
        <p:blipFill>
          <a:blip r:embed="rId3">
            <a:alphaModFix/>
          </a:blip>
          <a:stretch>
            <a:fillRect/>
          </a:stretch>
        </p:blipFill>
        <p:spPr>
          <a:xfrm>
            <a:off x="679075" y="1947424"/>
            <a:ext cx="7855324" cy="2381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5157625" y="-25225"/>
            <a:ext cx="3589200" cy="67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Break hold and wait</a:t>
            </a:r>
            <a:endParaRPr/>
          </a:p>
        </p:txBody>
      </p:sp>
      <p:sp>
        <p:nvSpPr>
          <p:cNvPr id="298" name="Google Shape;298;p47"/>
          <p:cNvSpPr txBox="1"/>
          <p:nvPr>
            <p:ph idx="1" type="body"/>
          </p:nvPr>
        </p:nvSpPr>
        <p:spPr>
          <a:xfrm>
            <a:off x="5369200" y="2707875"/>
            <a:ext cx="3642600" cy="2299800"/>
          </a:xfrm>
          <a:prstGeom prst="rect">
            <a:avLst/>
          </a:prstGeom>
          <a:solidFill>
            <a:srgbClr val="FCE5CD"/>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600"/>
              <a:t>scenario-2: </a:t>
            </a:r>
            <a:r>
              <a:rPr lang="en" sz="1600"/>
              <a:t>all the philosophers pick up their left at the same time</a:t>
            </a:r>
            <a:endParaRPr sz="1600"/>
          </a:p>
          <a:p>
            <a:pPr indent="-330200" lvl="0" marL="914400" rtl="0" algn="l">
              <a:spcBef>
                <a:spcPts val="1600"/>
              </a:spcBef>
              <a:spcAft>
                <a:spcPts val="0"/>
              </a:spcAft>
              <a:buSzPts val="1600"/>
              <a:buChar char="●"/>
            </a:pPr>
            <a:r>
              <a:rPr lang="en" sz="1600"/>
              <a:t>try to grab their right, </a:t>
            </a:r>
            <a:endParaRPr sz="1600"/>
          </a:p>
          <a:p>
            <a:pPr indent="-330200" lvl="0" marL="914400" rtl="0" algn="l">
              <a:spcBef>
                <a:spcPts val="0"/>
              </a:spcBef>
              <a:spcAft>
                <a:spcPts val="0"/>
              </a:spcAft>
              <a:buSzPts val="1600"/>
              <a:buChar char="●"/>
            </a:pPr>
            <a:r>
              <a:rPr lang="en" sz="1600"/>
              <a:t>put their left down, </a:t>
            </a:r>
            <a:endParaRPr sz="1600"/>
          </a:p>
          <a:p>
            <a:pPr indent="-330200" lvl="0" marL="914400" rtl="0" algn="l">
              <a:spcBef>
                <a:spcPts val="0"/>
              </a:spcBef>
              <a:spcAft>
                <a:spcPts val="0"/>
              </a:spcAft>
              <a:buSzPts val="1600"/>
              <a:buChar char="●"/>
            </a:pPr>
            <a:r>
              <a:rPr lang="en" sz="1600"/>
              <a:t>pick up their left, try to grab their right and so on. </a:t>
            </a:r>
            <a:endParaRPr sz="1600"/>
          </a:p>
          <a:p>
            <a:pPr indent="-330200" lvl="0" marL="914400" rtl="0" algn="l">
              <a:spcBef>
                <a:spcPts val="0"/>
              </a:spcBef>
              <a:spcAft>
                <a:spcPts val="0"/>
              </a:spcAft>
              <a:buSzPts val="1600"/>
              <a:buChar char="➔"/>
            </a:pPr>
            <a:r>
              <a:rPr b="1" lang="en" sz="1600"/>
              <a:t>LIVELOCK</a:t>
            </a:r>
            <a:endParaRPr sz="1600"/>
          </a:p>
        </p:txBody>
      </p:sp>
      <p:sp>
        <p:nvSpPr>
          <p:cNvPr id="299" name="Google Shape;299;p47"/>
          <p:cNvSpPr txBox="1"/>
          <p:nvPr/>
        </p:nvSpPr>
        <p:spPr>
          <a:xfrm>
            <a:off x="0" y="0"/>
            <a:ext cx="5266500" cy="59106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1350">
                <a:solidFill>
                  <a:srgbClr val="0000FF"/>
                </a:solidFill>
                <a:highlight>
                  <a:srgbClr val="FFFFFF"/>
                </a:highlight>
                <a:latin typeface="Consolas"/>
                <a:ea typeface="Consolas"/>
                <a:cs typeface="Consolas"/>
                <a:sym typeface="Consolas"/>
              </a:rPr>
              <a:t>void</a:t>
            </a: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philosopher2</a:t>
            </a:r>
            <a:r>
              <a:rPr lang="en" sz="1350">
                <a:solidFill>
                  <a:schemeClr val="dk1"/>
                </a:solidFill>
                <a:highlight>
                  <a:srgbClr val="FFFFFF"/>
                </a:highlight>
                <a:latin typeface="Consolas"/>
                <a:ea typeface="Consolas"/>
                <a:cs typeface="Consolas"/>
                <a:sym typeface="Consolas"/>
              </a:rPr>
              <a:t>(</a:t>
            </a:r>
            <a:r>
              <a:rPr lang="en" sz="1350">
                <a:solidFill>
                  <a:srgbClr val="0000FF"/>
                </a:solidFill>
                <a:highlight>
                  <a:srgbClr val="FFFFFF"/>
                </a:highlight>
                <a:latin typeface="Consolas"/>
                <a:ea typeface="Consolas"/>
                <a:cs typeface="Consolas"/>
                <a:sym typeface="Consolas"/>
              </a:rPr>
              <a:t>void</a:t>
            </a:r>
            <a:r>
              <a:rPr lang="en" sz="1350">
                <a:solidFill>
                  <a:schemeClr val="dk1"/>
                </a:solidFill>
                <a:highlight>
                  <a:srgbClr val="FFFFFF"/>
                </a:highlight>
                <a:latin typeface="Consolas"/>
                <a:ea typeface="Consolas"/>
                <a:cs typeface="Consolas"/>
                <a:sym typeface="Consolas"/>
              </a:rPr>
              <a:t> *</a:t>
            </a:r>
            <a:r>
              <a:rPr lang="en" sz="1350">
                <a:solidFill>
                  <a:srgbClr val="808080"/>
                </a:solidFill>
                <a:highlight>
                  <a:srgbClr val="FFFFFF"/>
                </a:highlight>
                <a:latin typeface="Consolas"/>
                <a:ea typeface="Consolas"/>
                <a:cs typeface="Consolas"/>
                <a:sym typeface="Consolas"/>
              </a:rPr>
              <a:t>arg</a:t>
            </a: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00FF"/>
                </a:solidFill>
                <a:highlight>
                  <a:srgbClr val="FFFFFF"/>
                </a:highlight>
                <a:latin typeface="Consolas"/>
                <a:ea typeface="Consolas"/>
                <a:cs typeface="Consolas"/>
                <a:sym typeface="Consolas"/>
              </a:rPr>
              <a:t>long</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 (</a:t>
            </a:r>
            <a:r>
              <a:rPr lang="en" sz="1350">
                <a:solidFill>
                  <a:srgbClr val="0000FF"/>
                </a:solidFill>
                <a:highlight>
                  <a:srgbClr val="FFFFFF"/>
                </a:highlight>
                <a:latin typeface="Consolas"/>
                <a:ea typeface="Consolas"/>
                <a:cs typeface="Consolas"/>
                <a:sym typeface="Consolas"/>
              </a:rPr>
              <a:t>long</a:t>
            </a:r>
            <a:r>
              <a:rPr lang="en" sz="1350">
                <a:solidFill>
                  <a:schemeClr val="dk1"/>
                </a:solidFill>
                <a:highlight>
                  <a:srgbClr val="FFFFFF"/>
                </a:highlight>
                <a:latin typeface="Consolas"/>
                <a:ea typeface="Consolas"/>
                <a:cs typeface="Consolas"/>
                <a:sym typeface="Consolas"/>
              </a:rPr>
              <a:t>)</a:t>
            </a:r>
            <a:r>
              <a:rPr lang="en" sz="1350">
                <a:solidFill>
                  <a:srgbClr val="808080"/>
                </a:solidFill>
                <a:highlight>
                  <a:srgbClr val="FFFFFF"/>
                </a:highlight>
                <a:latin typeface="Consolas"/>
                <a:ea typeface="Consolas"/>
                <a:cs typeface="Consolas"/>
                <a:sym typeface="Consolas"/>
              </a:rPr>
              <a:t>arg</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2B91AF"/>
                </a:solidFill>
                <a:highlight>
                  <a:srgbClr val="FFFFFF"/>
                </a:highlight>
                <a:latin typeface="Consolas"/>
                <a:ea typeface="Consolas"/>
                <a:cs typeface="Consolas"/>
                <a:sym typeface="Consolas"/>
              </a:rPr>
              <a:t>pthread_mutex_t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left</a:t>
            </a:r>
            <a:r>
              <a:rPr lang="en" sz="1350">
                <a:solidFill>
                  <a:schemeClr val="dk1"/>
                </a:solidFill>
                <a:highlight>
                  <a:srgbClr val="FFFFFF"/>
                </a:highlight>
                <a:latin typeface="Consolas"/>
                <a:ea typeface="Consolas"/>
                <a:cs typeface="Consolas"/>
                <a:sym typeface="Consolas"/>
              </a:rPr>
              <a:t> = &amp;chopsticks[</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2B91AF"/>
                </a:solidFill>
                <a:highlight>
                  <a:srgbClr val="FFFFFF"/>
                </a:highlight>
                <a:latin typeface="Consolas"/>
                <a:ea typeface="Consolas"/>
                <a:cs typeface="Consolas"/>
                <a:sym typeface="Consolas"/>
              </a:rPr>
              <a:t>pthread_mutex_t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 = &amp;chopsticks[(</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 </a:t>
            </a:r>
            <a:r>
              <a:rPr lang="en" sz="1350">
                <a:solidFill>
                  <a:srgbClr val="098658"/>
                </a:solidFill>
                <a:highlight>
                  <a:srgbClr val="FFFFFF"/>
                </a:highlight>
                <a:latin typeface="Consolas"/>
                <a:ea typeface="Consolas"/>
                <a:cs typeface="Consolas"/>
                <a:sym typeface="Consolas"/>
              </a:rPr>
              <a:t>1</a:t>
            </a:r>
            <a:r>
              <a:rPr lang="en" sz="1350">
                <a:solidFill>
                  <a:schemeClr val="dk1"/>
                </a:solidFill>
                <a:highlight>
                  <a:srgbClr val="FFFFFF"/>
                </a:highlight>
                <a:latin typeface="Consolas"/>
                <a:ea typeface="Consolas"/>
                <a:cs typeface="Consolas"/>
                <a:sym typeface="Consolas"/>
              </a:rPr>
              <a:t>) % </a:t>
            </a:r>
            <a:r>
              <a:rPr lang="en" sz="1350">
                <a:solidFill>
                  <a:srgbClr val="098658"/>
                </a:solidFill>
                <a:highlight>
                  <a:srgbClr val="FFFFFF"/>
                </a:highlight>
                <a:latin typeface="Consolas"/>
                <a:ea typeface="Consolas"/>
                <a:cs typeface="Consolas"/>
                <a:sym typeface="Consolas"/>
              </a:rPr>
              <a:t>5</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8F08C4"/>
                </a:solidFill>
                <a:highlight>
                  <a:srgbClr val="FFFFFF"/>
                </a:highlight>
                <a:latin typeface="Consolas"/>
                <a:ea typeface="Consolas"/>
                <a:cs typeface="Consolas"/>
                <a:sym typeface="Consolas"/>
              </a:rPr>
              <a:t>while</a:t>
            </a:r>
            <a:r>
              <a:rPr lang="en" sz="1350">
                <a:solidFill>
                  <a:schemeClr val="dk1"/>
                </a:solidFill>
                <a:highlight>
                  <a:srgbClr val="FFFFFF"/>
                </a:highlight>
                <a:latin typeface="Consolas"/>
                <a:ea typeface="Consolas"/>
                <a:cs typeface="Consolas"/>
                <a:sym typeface="Consolas"/>
              </a:rPr>
              <a:t> (</a:t>
            </a:r>
            <a:r>
              <a:rPr lang="en" sz="1350">
                <a:solidFill>
                  <a:srgbClr val="098658"/>
                </a:solidFill>
                <a:highlight>
                  <a:srgbClr val="FFFFFF"/>
                </a:highlight>
                <a:latin typeface="Consolas"/>
                <a:ea typeface="Consolas"/>
                <a:cs typeface="Consolas"/>
                <a:sym typeface="Consolas"/>
              </a:rPr>
              <a:t>1</a:t>
            </a: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8000"/>
                </a:solidFill>
                <a:highlight>
                  <a:srgbClr val="FFFFFF"/>
                </a:highlight>
                <a:latin typeface="Consolas"/>
                <a:ea typeface="Consolas"/>
                <a:cs typeface="Consolas"/>
                <a:sym typeface="Consolas"/>
              </a:rPr>
              <a:t>/*think()*/</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l</a:t>
            </a:r>
            <a:r>
              <a:rPr lang="en" sz="1350">
                <a:solidFill>
                  <a:schemeClr val="dk1"/>
                </a:solidFill>
                <a:highlight>
                  <a:srgbClr val="FFFFFF"/>
                </a:highlight>
                <a:latin typeface="Consolas"/>
                <a:ea typeface="Consolas"/>
                <a:cs typeface="Consolas"/>
                <a:sym typeface="Consolas"/>
              </a:rPr>
              <a:t> = </a:t>
            </a:r>
            <a:r>
              <a:rPr lang="en" sz="1350">
                <a:solidFill>
                  <a:srgbClr val="74531F"/>
                </a:solidFill>
                <a:highlight>
                  <a:schemeClr val="accent6"/>
                </a:highlight>
                <a:latin typeface="Consolas"/>
                <a:ea typeface="Consolas"/>
                <a:cs typeface="Consolas"/>
                <a:sym typeface="Consolas"/>
              </a:rPr>
              <a:t>pthread_mutex_trylock</a:t>
            </a:r>
            <a:r>
              <a:rPr lang="en" sz="1350">
                <a:solidFill>
                  <a:schemeClr val="dk1"/>
                </a:solidFill>
                <a:highlight>
                  <a:schemeClr val="accent6"/>
                </a:highlight>
                <a:latin typeface="Consolas"/>
                <a:ea typeface="Consolas"/>
                <a:cs typeface="Consolas"/>
                <a:sym typeface="Consolas"/>
              </a:rPr>
              <a:t>(</a:t>
            </a:r>
            <a:r>
              <a:rPr lang="en" sz="1350">
                <a:solidFill>
                  <a:srgbClr val="1F377F"/>
                </a:solidFill>
                <a:highlight>
                  <a:schemeClr val="accent6"/>
                </a:highlight>
                <a:latin typeface="Consolas"/>
                <a:ea typeface="Consolas"/>
                <a:cs typeface="Consolas"/>
                <a:sym typeface="Consolas"/>
              </a:rPr>
              <a:t>left</a:t>
            </a:r>
            <a:r>
              <a:rPr lang="en" sz="1350">
                <a:solidFill>
                  <a:schemeClr val="dk1"/>
                </a:solidFill>
                <a:highlight>
                  <a:schemeClr val="accent6"/>
                </a:highlight>
                <a:latin typeface="Consolas"/>
                <a:ea typeface="Consolas"/>
                <a:cs typeface="Consolas"/>
                <a:sym typeface="Consolas"/>
              </a:rPr>
              <a:t>);</a:t>
            </a:r>
            <a:endParaRPr sz="1350">
              <a:solidFill>
                <a:schemeClr val="dk1"/>
              </a:solidFill>
              <a:highlight>
                <a:schemeClr val="accent6"/>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chemeClr val="dk1"/>
                </a:solidFill>
                <a:highlight>
                  <a:schemeClr val="accent6"/>
                </a:highlight>
                <a:latin typeface="Consolas"/>
                <a:ea typeface="Consolas"/>
                <a:cs typeface="Consolas"/>
                <a:sym typeface="Consolas"/>
              </a:rPr>
              <a:t> </a:t>
            </a:r>
            <a:r>
              <a:rPr lang="en" sz="1350">
                <a:solidFill>
                  <a:srgbClr val="8F08C4"/>
                </a:solidFill>
                <a:highlight>
                  <a:schemeClr val="accent6"/>
                </a:highlight>
                <a:latin typeface="Consolas"/>
                <a:ea typeface="Consolas"/>
                <a:cs typeface="Consolas"/>
                <a:sym typeface="Consolas"/>
              </a:rPr>
              <a:t>if</a:t>
            </a:r>
            <a:r>
              <a:rPr lang="en" sz="1350">
                <a:solidFill>
                  <a:schemeClr val="dk1"/>
                </a:solidFill>
                <a:highlight>
                  <a:schemeClr val="accent6"/>
                </a:highlight>
                <a:latin typeface="Consolas"/>
                <a:ea typeface="Consolas"/>
                <a:cs typeface="Consolas"/>
                <a:sym typeface="Consolas"/>
              </a:rPr>
              <a:t> (!</a:t>
            </a:r>
            <a:r>
              <a:rPr lang="en" sz="1350">
                <a:solidFill>
                  <a:srgbClr val="1F377F"/>
                </a:solidFill>
                <a:highlight>
                  <a:schemeClr val="accent6"/>
                </a:highlight>
                <a:latin typeface="Consolas"/>
                <a:ea typeface="Consolas"/>
                <a:cs typeface="Consolas"/>
                <a:sym typeface="Consolas"/>
              </a:rPr>
              <a:t>l</a:t>
            </a:r>
            <a:r>
              <a:rPr lang="en" sz="1350">
                <a:solidFill>
                  <a:schemeClr val="dk1"/>
                </a:solidFill>
                <a:highlight>
                  <a:schemeClr val="accent6"/>
                </a:highlight>
                <a:latin typeface="Consolas"/>
                <a:ea typeface="Consolas"/>
                <a:cs typeface="Consolas"/>
                <a:sym typeface="Consolas"/>
              </a:rPr>
              <a:t>) { </a:t>
            </a:r>
            <a:r>
              <a:rPr lang="en" sz="1350">
                <a:solidFill>
                  <a:srgbClr val="74531F"/>
                </a:solidFill>
                <a:highlight>
                  <a:schemeClr val="accent6"/>
                </a:highlight>
                <a:latin typeface="Consolas"/>
                <a:ea typeface="Consolas"/>
                <a:cs typeface="Consolas"/>
                <a:sym typeface="Consolas"/>
              </a:rPr>
              <a:t>sleep</a:t>
            </a:r>
            <a:r>
              <a:rPr lang="en" sz="1350">
                <a:solidFill>
                  <a:schemeClr val="dk1"/>
                </a:solidFill>
                <a:highlight>
                  <a:schemeClr val="accent6"/>
                </a:highlight>
                <a:latin typeface="Consolas"/>
                <a:ea typeface="Consolas"/>
                <a:cs typeface="Consolas"/>
                <a:sym typeface="Consolas"/>
              </a:rPr>
              <a:t>(</a:t>
            </a:r>
            <a:r>
              <a:rPr lang="en" sz="1350">
                <a:solidFill>
                  <a:srgbClr val="098658"/>
                </a:solidFill>
                <a:highlight>
                  <a:schemeClr val="accent6"/>
                </a:highlight>
                <a:latin typeface="Consolas"/>
                <a:ea typeface="Consolas"/>
                <a:cs typeface="Consolas"/>
                <a:sym typeface="Consolas"/>
              </a:rPr>
              <a:t>1</a:t>
            </a:r>
            <a:r>
              <a:rPr lang="en" sz="1350">
                <a:solidFill>
                  <a:schemeClr val="dk1"/>
                </a:solidFill>
                <a:highlight>
                  <a:schemeClr val="accent6"/>
                </a:highlight>
                <a:latin typeface="Consolas"/>
                <a:ea typeface="Consolas"/>
                <a:cs typeface="Consolas"/>
                <a:sym typeface="Consolas"/>
              </a:rPr>
              <a:t>);  </a:t>
            </a:r>
            <a:r>
              <a:rPr lang="en" sz="1350">
                <a:solidFill>
                  <a:srgbClr val="8F08C4"/>
                </a:solidFill>
                <a:highlight>
                  <a:schemeClr val="accent6"/>
                </a:highlight>
                <a:latin typeface="Consolas"/>
                <a:ea typeface="Consolas"/>
                <a:cs typeface="Consolas"/>
                <a:sym typeface="Consolas"/>
              </a:rPr>
              <a:t>continue</a:t>
            </a:r>
            <a:r>
              <a:rPr lang="en" sz="1350">
                <a:solidFill>
                  <a:schemeClr val="dk1"/>
                </a:solidFill>
                <a:highlight>
                  <a:schemeClr val="accent6"/>
                </a:highlight>
                <a:latin typeface="Consolas"/>
                <a:ea typeface="Consolas"/>
                <a:cs typeface="Consolas"/>
                <a:sym typeface="Consolas"/>
              </a:rPr>
              <a:t>;}</a:t>
            </a:r>
            <a:endParaRPr sz="1350">
              <a:solidFill>
                <a:schemeClr val="dk1"/>
              </a:solidFill>
              <a:highlight>
                <a:schemeClr val="accent6"/>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r</a:t>
            </a:r>
            <a:r>
              <a:rPr lang="en" sz="1350">
                <a:solidFill>
                  <a:schemeClr val="dk1"/>
                </a:solidFill>
                <a:highlight>
                  <a:srgbClr val="FFFFFF"/>
                </a:highlight>
                <a:latin typeface="Consolas"/>
                <a:ea typeface="Consolas"/>
                <a:cs typeface="Consolas"/>
                <a:sym typeface="Consolas"/>
              </a:rPr>
              <a:t> = </a:t>
            </a:r>
            <a:r>
              <a:rPr lang="en" sz="1350">
                <a:solidFill>
                  <a:srgbClr val="74531F"/>
                </a:solidFill>
                <a:highlight>
                  <a:srgbClr val="FFFFFF"/>
                </a:highlight>
                <a:latin typeface="Consolas"/>
                <a:ea typeface="Consolas"/>
                <a:cs typeface="Consolas"/>
                <a:sym typeface="Consolas"/>
              </a:rPr>
              <a:t>pthread_mutex_trylock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None/>
            </a:pPr>
            <a:r>
              <a:rPr lang="en" sz="1350">
                <a:solidFill>
                  <a:schemeClr val="dk1"/>
                </a:solidFill>
                <a:highlight>
                  <a:srgbClr val="FFFFFF"/>
                </a:highlight>
                <a:latin typeface="Consolas"/>
                <a:ea typeface="Consolas"/>
                <a:cs typeface="Consolas"/>
                <a:sym typeface="Consolas"/>
              </a:rPr>
              <a:t>   </a:t>
            </a:r>
            <a:r>
              <a:rPr lang="en" sz="1350">
                <a:solidFill>
                  <a:srgbClr val="8F08C4"/>
                </a:solidFill>
                <a:highlight>
                  <a:srgbClr val="FFFFFF"/>
                </a:highlight>
                <a:latin typeface="Consolas"/>
                <a:ea typeface="Consolas"/>
                <a:cs typeface="Consolas"/>
                <a:sym typeface="Consolas"/>
              </a:rPr>
              <a:t>if</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r</a:t>
            </a: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457200" lvl="0" marL="0" rtl="0" algn="l">
              <a:lnSpc>
                <a:spcPct val="133333"/>
              </a:lnSpc>
              <a:spcBef>
                <a:spcPts val="0"/>
              </a:spcBef>
              <a:spcAft>
                <a:spcPts val="0"/>
              </a:spcAft>
              <a:buClr>
                <a:schemeClr val="dk1"/>
              </a:buClr>
              <a:buSzPts val="1100"/>
              <a:buFont typeface="Arial"/>
              <a:buNone/>
            </a:pPr>
            <a:r>
              <a:rPr lang="en" sz="1350">
                <a:solidFill>
                  <a:srgbClr val="74531F"/>
                </a:solidFill>
                <a:highlight>
                  <a:schemeClr val="accent6"/>
                </a:highlight>
                <a:latin typeface="Consolas"/>
                <a:ea typeface="Consolas"/>
                <a:cs typeface="Consolas"/>
                <a:sym typeface="Consolas"/>
              </a:rPr>
              <a:t>pthread_mutex_unlock</a:t>
            </a:r>
            <a:r>
              <a:rPr lang="en" sz="1350">
                <a:solidFill>
                  <a:schemeClr val="dk1"/>
                </a:solidFill>
                <a:highlight>
                  <a:schemeClr val="accent6"/>
                </a:highlight>
                <a:latin typeface="Consolas"/>
                <a:ea typeface="Consolas"/>
                <a:cs typeface="Consolas"/>
                <a:sym typeface="Consolas"/>
              </a:rPr>
              <a:t>(</a:t>
            </a:r>
            <a:r>
              <a:rPr lang="en" sz="1350">
                <a:solidFill>
                  <a:srgbClr val="1F377F"/>
                </a:solidFill>
                <a:highlight>
                  <a:schemeClr val="accent6"/>
                </a:highlight>
                <a:latin typeface="Consolas"/>
                <a:ea typeface="Consolas"/>
                <a:cs typeface="Consolas"/>
                <a:sym typeface="Consolas"/>
              </a:rPr>
              <a:t>left</a:t>
            </a:r>
            <a:r>
              <a:rPr lang="en" sz="1350">
                <a:solidFill>
                  <a:schemeClr val="dk1"/>
                </a:solidFill>
                <a:highlight>
                  <a:schemeClr val="accent6"/>
                </a:highlight>
                <a:latin typeface="Consolas"/>
                <a:ea typeface="Consolas"/>
                <a:cs typeface="Consolas"/>
                <a:sym typeface="Consolas"/>
              </a:rPr>
              <a:t>);</a:t>
            </a:r>
            <a:endParaRPr sz="1350">
              <a:solidFill>
                <a:schemeClr val="dk1"/>
              </a:solidFill>
              <a:highlight>
                <a:schemeClr val="accent6"/>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sleep</a:t>
            </a:r>
            <a:r>
              <a:rPr lang="en" sz="1350">
                <a:solidFill>
                  <a:schemeClr val="dk1"/>
                </a:solidFill>
                <a:highlight>
                  <a:srgbClr val="FFFFFF"/>
                </a:highlight>
                <a:latin typeface="Consolas"/>
                <a:ea typeface="Consolas"/>
                <a:cs typeface="Consolas"/>
                <a:sym typeface="Consolas"/>
              </a:rPr>
              <a:t>(</a:t>
            </a:r>
            <a:r>
              <a:rPr lang="en" sz="1350">
                <a:solidFill>
                  <a:srgbClr val="098658"/>
                </a:solidFill>
                <a:highlight>
                  <a:srgbClr val="FFFFFF"/>
                </a:highlight>
                <a:latin typeface="Consolas"/>
                <a:ea typeface="Consolas"/>
                <a:cs typeface="Consolas"/>
                <a:sym typeface="Consolas"/>
              </a:rPr>
              <a:t>1</a:t>
            </a:r>
            <a:r>
              <a:rPr lang="en" sz="1350">
                <a:solidFill>
                  <a:schemeClr val="dk1"/>
                </a:solidFill>
                <a:highlight>
                  <a:srgbClr val="FFFFFF"/>
                </a:highlight>
                <a:latin typeface="Consolas"/>
                <a:ea typeface="Consolas"/>
                <a:cs typeface="Consolas"/>
                <a:sym typeface="Consolas"/>
              </a:rPr>
              <a:t>);   </a:t>
            </a:r>
            <a:r>
              <a:rPr lang="en" sz="1350">
                <a:solidFill>
                  <a:srgbClr val="8F08C4"/>
                </a:solidFill>
                <a:highlight>
                  <a:srgbClr val="FFFFFF"/>
                </a:highlight>
                <a:latin typeface="Consolas"/>
                <a:ea typeface="Consolas"/>
                <a:cs typeface="Consolas"/>
                <a:sym typeface="Consolas"/>
              </a:rPr>
              <a:t>continue</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008000"/>
                </a:solidFill>
                <a:highlight>
                  <a:srgbClr val="FFFFFF"/>
                </a:highlight>
                <a:latin typeface="Consolas"/>
                <a:ea typeface="Consolas"/>
                <a:cs typeface="Consolas"/>
                <a:sym typeface="Consolas"/>
              </a:rPr>
              <a:t>// sleep(1); /*eat(left, right);*/</a:t>
            </a:r>
            <a:endParaRPr sz="1350">
              <a:solidFill>
                <a:srgbClr val="008000"/>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eating</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pthread_mutex_unlock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left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pthread_mutex_unlock</a:t>
            </a:r>
            <a:r>
              <a:rPr lang="en" sz="1350">
                <a:solidFill>
                  <a:schemeClr val="dk1"/>
                </a:solidFill>
                <a:highlight>
                  <a:srgbClr val="FFFFFF"/>
                </a:highlight>
                <a:latin typeface="Consolas"/>
                <a:ea typeface="Consolas"/>
                <a:cs typeface="Consolas"/>
                <a:sym typeface="Consolas"/>
              </a:rPr>
              <a:t>(</a:t>
            </a:r>
            <a:r>
              <a:rPr lang="en" sz="1350">
                <a:solidFill>
                  <a:srgbClr val="1F377F"/>
                </a:solidFill>
                <a:highlight>
                  <a:srgbClr val="FFFFFF"/>
                </a:highlight>
                <a:latin typeface="Consolas"/>
                <a:ea typeface="Consolas"/>
                <a:cs typeface="Consolas"/>
                <a:sym typeface="Consolas"/>
              </a:rPr>
              <a:t>right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r>
              <a:rPr lang="en" sz="1350">
                <a:solidFill>
                  <a:srgbClr val="74531F"/>
                </a:solidFill>
                <a:highlight>
                  <a:srgbClr val="FFFFFF"/>
                </a:highlight>
                <a:latin typeface="Consolas"/>
                <a:ea typeface="Consolas"/>
                <a:cs typeface="Consolas"/>
                <a:sym typeface="Consolas"/>
              </a:rPr>
              <a:t>printf</a:t>
            </a:r>
            <a:r>
              <a:rPr lang="en" sz="1350">
                <a:solidFill>
                  <a:schemeClr val="dk1"/>
                </a:solidFill>
                <a:highlight>
                  <a:srgbClr val="FFFFFF"/>
                </a:highlight>
                <a:latin typeface="Consolas"/>
                <a:ea typeface="Consolas"/>
                <a:cs typeface="Consolas"/>
                <a:sym typeface="Consolas"/>
              </a:rPr>
              <a:t>(</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id </a:t>
            </a:r>
            <a:r>
              <a:rPr lang="en" sz="1350">
                <a:solidFill>
                  <a:srgbClr val="1F377F"/>
                </a:solidFill>
                <a:highlight>
                  <a:srgbClr val="FFFFFF"/>
                </a:highlight>
                <a:latin typeface="Consolas"/>
                <a:ea typeface="Consolas"/>
                <a:cs typeface="Consolas"/>
                <a:sym typeface="Consolas"/>
              </a:rPr>
              <a:t>%ld</a:t>
            </a:r>
            <a:r>
              <a:rPr lang="en" sz="1350">
                <a:solidFill>
                  <a:srgbClr val="A31515"/>
                </a:solidFill>
                <a:highlight>
                  <a:srgbClr val="FFFFFF"/>
                </a:highlight>
                <a:latin typeface="Consolas"/>
                <a:ea typeface="Consolas"/>
                <a:cs typeface="Consolas"/>
                <a:sym typeface="Consolas"/>
              </a:rPr>
              <a:t>: state: </a:t>
            </a:r>
            <a:r>
              <a:rPr lang="en" sz="1350">
                <a:solidFill>
                  <a:srgbClr val="1F377F"/>
                </a:solidFill>
                <a:highlight>
                  <a:srgbClr val="FFFFFF"/>
                </a:highlight>
                <a:latin typeface="Consolas"/>
                <a:ea typeface="Consolas"/>
                <a:cs typeface="Consolas"/>
                <a:sym typeface="Consolas"/>
              </a:rPr>
              <a:t>%.10s</a:t>
            </a:r>
            <a:r>
              <a:rPr lang="en" sz="1350">
                <a:solidFill>
                  <a:srgbClr val="A31515"/>
                </a:solidFill>
                <a:highlight>
                  <a:srgbClr val="FFFFFF"/>
                </a:highlight>
                <a:latin typeface="Consolas"/>
                <a:ea typeface="Consolas"/>
                <a:cs typeface="Consolas"/>
                <a:sym typeface="Consolas"/>
              </a:rPr>
              <a:t> </a:t>
            </a:r>
            <a:r>
              <a:rPr lang="en" sz="1350">
                <a:solidFill>
                  <a:srgbClr val="B776FB"/>
                </a:solidFill>
                <a:highlight>
                  <a:srgbClr val="FFFFFF"/>
                </a:highlight>
                <a:latin typeface="Consolas"/>
                <a:ea typeface="Consolas"/>
                <a:cs typeface="Consolas"/>
                <a:sym typeface="Consolas"/>
              </a:rPr>
              <a:t>\n</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 </a:t>
            </a:r>
            <a:r>
              <a:rPr lang="en" sz="1350">
                <a:solidFill>
                  <a:srgbClr val="1F377F"/>
                </a:solidFill>
                <a:highlight>
                  <a:srgbClr val="FFFFFF"/>
                </a:highlight>
                <a:latin typeface="Consolas"/>
                <a:ea typeface="Consolas"/>
                <a:cs typeface="Consolas"/>
                <a:sym typeface="Consolas"/>
              </a:rPr>
              <a:t>i</a:t>
            </a:r>
            <a:r>
              <a:rPr lang="en" sz="1350">
                <a:solidFill>
                  <a:schemeClr val="dk1"/>
                </a:solidFill>
                <a:highlight>
                  <a:srgbClr val="FFFFFF"/>
                </a:highlight>
                <a:latin typeface="Consolas"/>
                <a:ea typeface="Consolas"/>
                <a:cs typeface="Consolas"/>
                <a:sym typeface="Consolas"/>
              </a:rPr>
              <a:t>, </a:t>
            </a:r>
            <a:r>
              <a:rPr lang="en" sz="1350">
                <a:solidFill>
                  <a:srgbClr val="E21F1F"/>
                </a:solidFill>
                <a:highlight>
                  <a:srgbClr val="FFFFFF"/>
                </a:highlight>
                <a:latin typeface="Consolas"/>
                <a:ea typeface="Consolas"/>
                <a:cs typeface="Consolas"/>
                <a:sym typeface="Consolas"/>
              </a:rPr>
              <a:t>"</a:t>
            </a:r>
            <a:r>
              <a:rPr lang="en" sz="1350">
                <a:solidFill>
                  <a:srgbClr val="A31515"/>
                </a:solidFill>
                <a:highlight>
                  <a:srgbClr val="FFFFFF"/>
                </a:highlight>
                <a:latin typeface="Consolas"/>
                <a:ea typeface="Consolas"/>
                <a:cs typeface="Consolas"/>
                <a:sym typeface="Consolas"/>
              </a:rPr>
              <a:t>done!</a:t>
            </a:r>
            <a:r>
              <a:rPr lang="en" sz="1350">
                <a:solidFill>
                  <a:srgbClr val="E21F1F"/>
                </a:solidFill>
                <a:highlight>
                  <a:srgbClr val="FFFFFF"/>
                </a:highlight>
                <a:latin typeface="Consolas"/>
                <a:ea typeface="Consolas"/>
                <a:cs typeface="Consolas"/>
                <a:sym typeface="Consolas"/>
              </a:rPr>
              <a:t>"</a:t>
            </a: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 }</a:t>
            </a:r>
            <a:endParaRPr sz="1350">
              <a:solidFill>
                <a:schemeClr val="dk1"/>
              </a:solidFill>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highlight>
                  <a:srgbClr val="FFFFFF"/>
                </a:highlight>
                <a:latin typeface="Consolas"/>
                <a:ea typeface="Consolas"/>
                <a:cs typeface="Consolas"/>
                <a:sym typeface="Consolas"/>
              </a:rPr>
              <a:t>}</a:t>
            </a:r>
            <a:endParaRPr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200">
              <a:solidFill>
                <a:srgbClr val="0000FF"/>
              </a:solidFill>
              <a:highlight>
                <a:srgbClr val="FFFFFF"/>
              </a:highlight>
              <a:latin typeface="Consolas"/>
              <a:ea typeface="Consolas"/>
              <a:cs typeface="Consolas"/>
              <a:sym typeface="Consolas"/>
            </a:endParaRPr>
          </a:p>
        </p:txBody>
      </p:sp>
      <p:sp>
        <p:nvSpPr>
          <p:cNvPr id="300" name="Google Shape;300;p47"/>
          <p:cNvSpPr txBox="1"/>
          <p:nvPr/>
        </p:nvSpPr>
        <p:spPr>
          <a:xfrm>
            <a:off x="5369200" y="586050"/>
            <a:ext cx="3543000" cy="15789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600">
                <a:solidFill>
                  <a:schemeClr val="dk2"/>
                </a:solidFill>
              </a:rPr>
              <a:t>scenario-1:</a:t>
            </a:r>
            <a:r>
              <a:rPr lang="en" sz="1600">
                <a:solidFill>
                  <a:schemeClr val="dk2"/>
                </a:solidFill>
              </a:rPr>
              <a:t> If it’s not available, they put the fork down and try again. </a:t>
            </a:r>
            <a:endParaRPr sz="1600">
              <a:solidFill>
                <a:schemeClr val="dk2"/>
              </a:solidFill>
            </a:endParaRPr>
          </a:p>
          <a:p>
            <a:pPr indent="-330200" lvl="1" marL="914400" rtl="0" algn="l">
              <a:lnSpc>
                <a:spcPct val="115000"/>
              </a:lnSpc>
              <a:spcBef>
                <a:spcPts val="1600"/>
              </a:spcBef>
              <a:spcAft>
                <a:spcPts val="0"/>
              </a:spcAft>
              <a:buClr>
                <a:schemeClr val="dk2"/>
              </a:buClr>
              <a:buSzPts val="1600"/>
              <a:buChar char="○"/>
            </a:pPr>
            <a:r>
              <a:rPr b="1" lang="en" sz="1600">
                <a:solidFill>
                  <a:schemeClr val="dk2"/>
                </a:solidFill>
              </a:rPr>
              <a:t>No deadlock in this scenario!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8"/>
          <p:cNvSpPr txBox="1"/>
          <p:nvPr>
            <p:ph idx="1" type="body"/>
          </p:nvPr>
        </p:nvSpPr>
        <p:spPr>
          <a:xfrm>
            <a:off x="311700" y="542875"/>
            <a:ext cx="84711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LIVELOCK: </a:t>
            </a:r>
            <a:r>
              <a:rPr b="1" lang="en" sz="1700"/>
              <a:t>a time evolution of the break hold and wait</a:t>
            </a:r>
            <a:r>
              <a:rPr lang="en" sz="1700"/>
              <a:t> would look like.</a:t>
            </a:r>
            <a:endParaRPr sz="1700"/>
          </a:p>
          <a:p>
            <a:pPr indent="0" lvl="0" marL="0" rtl="0" algn="l">
              <a:spcBef>
                <a:spcPts val="1600"/>
              </a:spcBef>
              <a:spcAft>
                <a:spcPts val="1600"/>
              </a:spcAft>
              <a:buNone/>
            </a:pPr>
            <a:r>
              <a:t/>
            </a:r>
            <a:endParaRPr sz="1700"/>
          </a:p>
        </p:txBody>
      </p:sp>
      <p:pic>
        <p:nvPicPr>
          <p:cNvPr id="306" name="Google Shape;306;p48"/>
          <p:cNvPicPr preferRelativeResize="0"/>
          <p:nvPr/>
        </p:nvPicPr>
        <p:blipFill>
          <a:blip r:embed="rId3">
            <a:alphaModFix/>
          </a:blip>
          <a:stretch>
            <a:fillRect/>
          </a:stretch>
        </p:blipFill>
        <p:spPr>
          <a:xfrm>
            <a:off x="1006825" y="1198950"/>
            <a:ext cx="6600499" cy="35999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Arbitrator solution</a:t>
            </a:r>
            <a:endParaRPr/>
          </a:p>
        </p:txBody>
      </p:sp>
      <p:sp>
        <p:nvSpPr>
          <p:cNvPr id="312" name="Google Shape;312;p49"/>
          <p:cNvSpPr txBox="1"/>
          <p:nvPr>
            <p:ph idx="1" type="body"/>
          </p:nvPr>
        </p:nvSpPr>
        <p:spPr>
          <a:xfrm>
            <a:off x="446175" y="1096425"/>
            <a:ext cx="7902300" cy="1419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a:t>
            </a:r>
            <a:r>
              <a:rPr lang="en"/>
              <a:t> philosopher can only pick up both or none by introducing an arbitrator, e.g., a waiter</a:t>
            </a:r>
            <a:endParaRPr/>
          </a:p>
          <a:p>
            <a:pPr indent="-304800" lvl="1" marL="914400" rtl="0" algn="l">
              <a:spcBef>
                <a:spcPts val="0"/>
              </a:spcBef>
              <a:spcAft>
                <a:spcPts val="0"/>
              </a:spcAft>
              <a:buSzPts val="1200"/>
              <a:buChar char="○"/>
            </a:pPr>
            <a:r>
              <a:rPr lang="en"/>
              <a:t>Waiter can be implemented as a mutex</a:t>
            </a:r>
            <a:endParaRPr/>
          </a:p>
          <a:p>
            <a:pPr indent="-317500" lvl="0" marL="457200" rtl="0" algn="l">
              <a:spcBef>
                <a:spcPts val="0"/>
              </a:spcBef>
              <a:spcAft>
                <a:spcPts val="0"/>
              </a:spcAft>
              <a:buSzPts val="1400"/>
              <a:buChar char="●"/>
            </a:pPr>
            <a:r>
              <a:rPr lang="en"/>
              <a:t>Works but parallelism is reduced</a:t>
            </a:r>
            <a:endParaRPr/>
          </a:p>
          <a:p>
            <a:pPr indent="-304800" lvl="1" marL="914400" rtl="0" algn="l">
              <a:spcBef>
                <a:spcPts val="0"/>
              </a:spcBef>
              <a:spcAft>
                <a:spcPts val="0"/>
              </a:spcAft>
              <a:buSzPts val="1200"/>
              <a:buChar char="○"/>
            </a:pPr>
            <a:r>
              <a:rPr lang="en"/>
              <a:t>All philosophers wait for waiter</a:t>
            </a:r>
            <a:endParaRPr/>
          </a:p>
        </p:txBody>
      </p:sp>
      <p:pic>
        <p:nvPicPr>
          <p:cNvPr id="313" name="Google Shape;313;p49"/>
          <p:cNvPicPr preferRelativeResize="0"/>
          <p:nvPr/>
        </p:nvPicPr>
        <p:blipFill>
          <a:blip r:embed="rId3">
            <a:alphaModFix/>
          </a:blip>
          <a:stretch>
            <a:fillRect/>
          </a:stretch>
        </p:blipFill>
        <p:spPr>
          <a:xfrm>
            <a:off x="825625" y="2318000"/>
            <a:ext cx="5931523" cy="27134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Stalling solution (leaving table)</a:t>
            </a:r>
            <a:endParaRPr/>
          </a:p>
        </p:txBody>
      </p:sp>
      <p:sp>
        <p:nvSpPr>
          <p:cNvPr id="319" name="Google Shape;319;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Remove philosophers until deadlock is not possible. No circular wait means deadlock is not possible.</a:t>
            </a:r>
            <a:endParaRPr/>
          </a:p>
        </p:txBody>
      </p:sp>
      <p:pic>
        <p:nvPicPr>
          <p:cNvPr id="320" name="Google Shape;320;p50"/>
          <p:cNvPicPr preferRelativeResize="0"/>
          <p:nvPr/>
        </p:nvPicPr>
        <p:blipFill>
          <a:blip r:embed="rId3">
            <a:alphaModFix/>
          </a:blip>
          <a:stretch>
            <a:fillRect/>
          </a:stretch>
        </p:blipFill>
        <p:spPr>
          <a:xfrm>
            <a:off x="558050" y="2147299"/>
            <a:ext cx="7900150" cy="2576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Partial (</a:t>
            </a:r>
            <a:r>
              <a:rPr lang="en"/>
              <a:t>hierarchical</a:t>
            </a:r>
            <a:r>
              <a:rPr lang="en"/>
              <a:t>) Ordering</a:t>
            </a:r>
            <a:r>
              <a:rPr lang="en"/>
              <a:t> (Dijkstra's solution)</a:t>
            </a:r>
            <a:endParaRPr/>
          </a:p>
          <a:p>
            <a:pPr indent="0" lvl="0" marL="0" rtl="0" algn="l">
              <a:spcBef>
                <a:spcPts val="0"/>
              </a:spcBef>
              <a:spcAft>
                <a:spcPts val="0"/>
              </a:spcAft>
              <a:buNone/>
            </a:pPr>
            <a:r>
              <a:t/>
            </a:r>
            <a:endParaRPr/>
          </a:p>
        </p:txBody>
      </p:sp>
      <p:sp>
        <p:nvSpPr>
          <p:cNvPr id="326" name="Google Shape;326;p51"/>
          <p:cNvSpPr txBox="1"/>
          <p:nvPr>
            <p:ph idx="1" type="body"/>
          </p:nvPr>
        </p:nvSpPr>
        <p:spPr>
          <a:xfrm>
            <a:off x="311700" y="791300"/>
            <a:ext cx="8520600" cy="4083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Assign a number to each philosopher and chopstick</a:t>
            </a:r>
            <a:endParaRPr/>
          </a:p>
          <a:p>
            <a:pPr indent="-342900" lvl="0" marL="457200" rtl="0" algn="l">
              <a:spcBef>
                <a:spcPts val="0"/>
              </a:spcBef>
              <a:spcAft>
                <a:spcPts val="0"/>
              </a:spcAft>
              <a:buSzPts val="1800"/>
              <a:buChar char="●"/>
            </a:pPr>
            <a:r>
              <a:rPr lang="en"/>
              <a:t>A </a:t>
            </a:r>
            <a:r>
              <a:rPr lang="en"/>
              <a:t>philosopher can choose two chopsticks</a:t>
            </a:r>
            <a:endParaRPr/>
          </a:p>
          <a:p>
            <a:pPr indent="-317500" lvl="1" marL="914400" rtl="0" algn="l">
              <a:spcBef>
                <a:spcPts val="0"/>
              </a:spcBef>
              <a:spcAft>
                <a:spcPts val="0"/>
              </a:spcAft>
              <a:buSzPts val="1400"/>
              <a:buChar char="○"/>
            </a:pPr>
            <a:r>
              <a:rPr lang="en"/>
              <a:t>i, </a:t>
            </a:r>
            <a:endParaRPr/>
          </a:p>
          <a:p>
            <a:pPr indent="-317500" lvl="1" marL="914400" rtl="0" algn="l">
              <a:spcBef>
                <a:spcPts val="0"/>
              </a:spcBef>
              <a:spcAft>
                <a:spcPts val="0"/>
              </a:spcAft>
              <a:buSzPts val="1400"/>
              <a:buChar char="○"/>
            </a:pPr>
            <a:r>
              <a:rPr lang="en"/>
              <a:t>i+1 %5</a:t>
            </a:r>
            <a:endParaRPr/>
          </a:p>
          <a:p>
            <a:pPr indent="-342900" lvl="0" marL="457200" rtl="0" algn="l">
              <a:spcBef>
                <a:spcPts val="0"/>
              </a:spcBef>
              <a:spcAft>
                <a:spcPts val="0"/>
              </a:spcAft>
              <a:buSzPts val="1800"/>
              <a:buChar char="●"/>
            </a:pPr>
            <a:r>
              <a:rPr lang="en"/>
              <a:t>Each </a:t>
            </a:r>
            <a:r>
              <a:rPr lang="en"/>
              <a:t>philosopher</a:t>
            </a:r>
            <a:r>
              <a:rPr lang="en"/>
              <a:t> takes </a:t>
            </a:r>
            <a:r>
              <a:rPr b="1" lang="en"/>
              <a:t>the lower numbered chopstick first</a:t>
            </a:r>
            <a:endParaRPr b="1"/>
          </a:p>
          <a:p>
            <a:pPr indent="-317500" lvl="1" marL="914400" rtl="0" algn="l">
              <a:spcBef>
                <a:spcPts val="0"/>
              </a:spcBef>
              <a:spcAft>
                <a:spcPts val="0"/>
              </a:spcAft>
              <a:buSzPts val="1400"/>
              <a:buChar char="○"/>
            </a:pPr>
            <a:r>
              <a:rPr lang="en"/>
              <a:t>P0-C0, </a:t>
            </a:r>
            <a:endParaRPr/>
          </a:p>
          <a:p>
            <a:pPr indent="-317500" lvl="1" marL="914400" rtl="0" algn="l">
              <a:spcBef>
                <a:spcPts val="0"/>
              </a:spcBef>
              <a:spcAft>
                <a:spcPts val="0"/>
              </a:spcAft>
              <a:buSzPts val="1400"/>
              <a:buChar char="○"/>
            </a:pPr>
            <a:r>
              <a:rPr lang="en"/>
              <a:t>P</a:t>
            </a:r>
            <a:r>
              <a:rPr lang="en"/>
              <a:t>2</a:t>
            </a:r>
            <a:r>
              <a:rPr lang="en"/>
              <a:t>-C</a:t>
            </a:r>
            <a:r>
              <a:rPr lang="en"/>
              <a:t>2</a:t>
            </a:r>
            <a:r>
              <a:rPr lang="en"/>
              <a:t>, </a:t>
            </a:r>
            <a:endParaRPr/>
          </a:p>
          <a:p>
            <a:pPr indent="-317500" lvl="1" marL="914400" rtl="0" algn="l">
              <a:spcBef>
                <a:spcPts val="0"/>
              </a:spcBef>
              <a:spcAft>
                <a:spcPts val="0"/>
              </a:spcAft>
              <a:buSzPts val="1400"/>
              <a:buChar char="○"/>
            </a:pPr>
            <a:r>
              <a:rPr lang="en"/>
              <a:t>P</a:t>
            </a:r>
            <a:r>
              <a:rPr lang="en"/>
              <a:t>3</a:t>
            </a:r>
            <a:r>
              <a:rPr lang="en"/>
              <a:t>-C</a:t>
            </a:r>
            <a:r>
              <a:rPr lang="en"/>
              <a:t>3</a:t>
            </a:r>
            <a:r>
              <a:rPr lang="en"/>
              <a:t>, </a:t>
            </a:r>
            <a:endParaRPr/>
          </a:p>
          <a:p>
            <a:pPr indent="-317500" lvl="1" marL="914400" rtl="0" algn="l">
              <a:spcBef>
                <a:spcPts val="0"/>
              </a:spcBef>
              <a:spcAft>
                <a:spcPts val="0"/>
              </a:spcAft>
              <a:buSzPts val="1400"/>
              <a:buChar char="○"/>
            </a:pPr>
            <a:r>
              <a:rPr b="1" lang="en"/>
              <a:t>P4-cannot take C0 </a:t>
            </a:r>
            <a:endParaRPr b="1"/>
          </a:p>
          <a:p>
            <a:pPr indent="-317500" lvl="2" marL="1371600" rtl="0" algn="l">
              <a:spcBef>
                <a:spcPts val="0"/>
              </a:spcBef>
              <a:spcAft>
                <a:spcPts val="0"/>
              </a:spcAft>
              <a:buSzPts val="1400"/>
              <a:buChar char="■"/>
            </a:pPr>
            <a:r>
              <a:rPr lang="en"/>
              <a:t>The highest numbered philosopher does not have any chopy stick.</a:t>
            </a:r>
            <a:endParaRPr/>
          </a:p>
          <a:p>
            <a:pPr indent="-342900" lvl="0" marL="457200" rtl="0" algn="l">
              <a:spcBef>
                <a:spcPts val="0"/>
              </a:spcBef>
              <a:spcAft>
                <a:spcPts val="0"/>
              </a:spcAft>
              <a:buSzPts val="1800"/>
              <a:buChar char="●"/>
            </a:pPr>
            <a:r>
              <a:rPr lang="en"/>
              <a:t>Then each gets the higher numbered chopstick</a:t>
            </a:r>
            <a:endParaRPr/>
          </a:p>
          <a:p>
            <a:pPr indent="-317500" lvl="1" marL="914400" rtl="0" algn="l">
              <a:spcBef>
                <a:spcPts val="0"/>
              </a:spcBef>
              <a:spcAft>
                <a:spcPts val="0"/>
              </a:spcAft>
              <a:buSzPts val="1400"/>
              <a:buChar char="○"/>
            </a:pPr>
            <a:r>
              <a:rPr b="1" lang="en"/>
              <a:t>P</a:t>
            </a:r>
            <a:r>
              <a:rPr b="1" lang="en"/>
              <a:t>4</a:t>
            </a:r>
            <a:r>
              <a:rPr b="1" lang="en"/>
              <a:t> is able to get C5 and ea</a:t>
            </a:r>
            <a:r>
              <a:rPr b="1" lang="en"/>
              <a:t>t</a:t>
            </a:r>
            <a:endParaRPr b="1"/>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Partial </a:t>
            </a:r>
            <a:r>
              <a:rPr lang="en"/>
              <a:t>(hierarchical)</a:t>
            </a:r>
            <a:r>
              <a:rPr lang="en"/>
              <a:t> ordering</a:t>
            </a:r>
            <a:r>
              <a:rPr lang="en"/>
              <a:t> (</a:t>
            </a:r>
            <a:r>
              <a:rPr lang="en"/>
              <a:t>Dijkstra's solution)</a:t>
            </a:r>
            <a:endParaRPr/>
          </a:p>
        </p:txBody>
      </p:sp>
      <p:sp>
        <p:nvSpPr>
          <p:cNvPr id="332" name="Google Shape;332;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Each process picks only lower numbered chopstick first, then the higher numbered chopstick.</a:t>
            </a:r>
            <a:endParaRPr/>
          </a:p>
        </p:txBody>
      </p:sp>
      <p:pic>
        <p:nvPicPr>
          <p:cNvPr id="333" name="Google Shape;333;p52"/>
          <p:cNvPicPr preferRelativeResize="0"/>
          <p:nvPr/>
        </p:nvPicPr>
        <p:blipFill>
          <a:blip r:embed="rId3">
            <a:alphaModFix/>
          </a:blip>
          <a:stretch>
            <a:fillRect/>
          </a:stretch>
        </p:blipFill>
        <p:spPr>
          <a:xfrm>
            <a:off x="459450" y="2189249"/>
            <a:ext cx="8303549" cy="45815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