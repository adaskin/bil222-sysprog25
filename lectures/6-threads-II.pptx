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5C55DE-E997-4670-9101-0FC2DE2F4188}">
  <a:tblStyle styleId="{255C55DE-E997-4670-9101-0FC2DE2F41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2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slide" Target="slides/slide31.xml"/><Relationship Id="rId16" Type="http://schemas.openxmlformats.org/officeDocument/2006/relationships/slide" Target="slides/slide8.xml"/><Relationship Id="rId38" Type="http://schemas.openxmlformats.org/officeDocument/2006/relationships/slide" Target="slides/slide30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13c0bd7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13c0bd7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1ca9e7af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1ca9e7af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713c0bd70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713c0bd7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714a487f7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714a487f7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487abdf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487abdf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d487abdf8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d487abdf8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714a487f7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714a487f7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71ca9e7af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71ca9e7af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71ca9e7af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71ca9e7af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714a487f7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714a487f7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714a487f7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714a487f7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71ca9e7af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71ca9e7af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1ca9e7af0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1ca9e7af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487abdf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487abdf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d487abdf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d487abdf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713c0bd7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713c0bd7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71ca9e7af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71ca9e7af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487abdf8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487abdf8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d487abdf8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d487abdf8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71ca9e7af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71ca9e7af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406114f20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406114f20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96fd3e3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c96fd3e3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c96fd3e3b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c96fd3e3b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c96fd3e3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c96fd3e3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cb0daaf42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cb0daaf42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cb0daaf4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cb0daaf4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cb0daaf42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cb0daaf42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cb0daaf42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cb0daaf42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cb0daaf42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cb0daaf42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cb0daaf427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cb0daaf42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1" name="Google Shape;10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11700" y="1152475"/>
            <a:ext cx="85206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hpc-tutorials.llnl.gov/posix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n.wikipedia.org/wiki/Concurrency_(computer_science)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linux.die.net/man/3/clone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cs241.cs.illinois.edu/coursebook/Threads#ref-guide2011inte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inux.die.net/man/3/asctime" TargetMode="External"/><Relationship Id="rId4" Type="http://schemas.openxmlformats.org/officeDocument/2006/relationships/hyperlink" Target="https://linux.die.net/man/3/getenv" TargetMode="External"/><Relationship Id="rId5" Type="http://schemas.openxmlformats.org/officeDocument/2006/relationships/hyperlink" Target="https://linux.die.net/man/3/strtok" TargetMode="External"/><Relationship Id="rId6" Type="http://schemas.openxmlformats.org/officeDocument/2006/relationships/hyperlink" Target="https://linux.die.net/man/3/strerror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en.wikipedia.org/wiki/Bit-level_parallelism" TargetMode="External"/><Relationship Id="rId4" Type="http://schemas.openxmlformats.org/officeDocument/2006/relationships/hyperlink" Target="https://en.wikipedia.org/wiki/Bit-level_parallelism" TargetMode="External"/><Relationship Id="rId10" Type="http://schemas.openxmlformats.org/officeDocument/2006/relationships/hyperlink" Target="https://en.wikipedia.org/wiki/Task_parallelism" TargetMode="External"/><Relationship Id="rId9" Type="http://schemas.openxmlformats.org/officeDocument/2006/relationships/hyperlink" Target="https://en.wikipedia.org/wiki/Data_parallelism" TargetMode="External"/><Relationship Id="rId5" Type="http://schemas.openxmlformats.org/officeDocument/2006/relationships/hyperlink" Target="https://en.wikipedia.org/wiki/Instruction-level_parallelism" TargetMode="External"/><Relationship Id="rId6" Type="http://schemas.openxmlformats.org/officeDocument/2006/relationships/hyperlink" Target="https://en.wikipedia.org/wiki/Instruction-level_parallelism" TargetMode="External"/><Relationship Id="rId7" Type="http://schemas.openxmlformats.org/officeDocument/2006/relationships/hyperlink" Target="https://en.wikipedia.org/wiki/Data_parallelism" TargetMode="External"/><Relationship Id="rId8" Type="http://schemas.openxmlformats.org/officeDocument/2006/relationships/hyperlink" Target="https://en.wikipedia.org/wiki/Task_parallelism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en.wikipedia.org/wiki/Embarrassingly_paralle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en.wikipedia.org/wiki/Amdahl's_law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en.wikipedia.org/wiki/Concurrency_(computer_science)" TargetMode="External"/><Relationship Id="rId4" Type="http://schemas.openxmlformats.org/officeDocument/2006/relationships/hyperlink" Target="https://en.wikipedia.org/wiki/Parallel_computing" TargetMode="External"/><Relationship Id="rId5" Type="http://schemas.openxmlformats.org/officeDocument/2006/relationships/hyperlink" Target="https://en.wikipedia.org/wiki/Coroutin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hyperlink" Target="https://www.geeksforgeeks.org/coroutine-in-python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geeksforgeeks.org/coroutine-in-python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title"/>
          </p:nvPr>
        </p:nvSpPr>
        <p:spPr>
          <a:xfrm>
            <a:off x="265500" y="3187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Multi-Thread Programming-II</a:t>
            </a:r>
            <a:endParaRPr/>
          </a:p>
        </p:txBody>
      </p:sp>
      <p:sp>
        <p:nvSpPr>
          <p:cNvPr id="145" name="Google Shape;145;p37"/>
          <p:cNvSpPr txBox="1"/>
          <p:nvPr>
            <p:ph idx="1" type="subTitle"/>
          </p:nvPr>
        </p:nvSpPr>
        <p:spPr>
          <a:xfrm>
            <a:off x="265500" y="1906300"/>
            <a:ext cx="4802400" cy="30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</a:t>
            </a:r>
            <a:r>
              <a:rPr lang="en"/>
              <a:t>eview of threads and race conditions,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parallel computation, 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/>
              <a:t>parallelizing problems</a:t>
            </a:r>
            <a:endParaRPr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/>
              <a:t> data and task parallelism,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thread pools, 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coroutines, 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green threads, Goroutines</a:t>
            </a:r>
            <a:endParaRPr sz="2300"/>
          </a:p>
        </p:txBody>
      </p:sp>
      <p:sp>
        <p:nvSpPr>
          <p:cNvPr id="146" name="Google Shape;146;p3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Concurrency and  </a:t>
            </a:r>
            <a:r>
              <a:rPr lang="en" sz="2100">
                <a:solidFill>
                  <a:schemeClr val="dk1"/>
                </a:solidFill>
              </a:rPr>
              <a:t>parallel</a:t>
            </a:r>
            <a:r>
              <a:rPr lang="en" sz="2100">
                <a:solidFill>
                  <a:schemeClr val="dk1"/>
                </a:solidFill>
              </a:rPr>
              <a:t> computing content and images are copied from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POSIX Threads Programming | LLNL HPC Tutorials</a:t>
            </a:r>
            <a:r>
              <a:rPr lang="en" sz="14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concurrency</a:t>
            </a:r>
            <a:endParaRPr/>
          </a:p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 computer science, concurrency is the ability of different parts or units of a program, algorithm, or problem to be executed out-of-order or in partial order, without affecting the final outcome.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Operations are </a:t>
            </a:r>
            <a:r>
              <a:rPr b="1" lang="en">
                <a:solidFill>
                  <a:schemeClr val="dk1"/>
                </a:solidFill>
              </a:rPr>
              <a:t>concurrent</a:t>
            </a:r>
            <a:r>
              <a:rPr lang="en">
                <a:solidFill>
                  <a:schemeClr val="dk1"/>
                </a:solidFill>
              </a:rPr>
              <a:t> if they can progress independently at the same time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Computers  run many programs at the same time.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 a single application may be expected to do multiple things at a time.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word processor program is expected to respond keyboard, mouse events at the same time.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en"/>
              <a:t>Software that can do multiple things at the same time are called </a:t>
            </a:r>
            <a:r>
              <a:rPr b="1" lang="en"/>
              <a:t>concurrent software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computing</a:t>
            </a:r>
            <a:endParaRPr/>
          </a:p>
        </p:txBody>
      </p:sp>
      <p:sp>
        <p:nvSpPr>
          <p:cNvPr id="158" name="Google Shape;158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9" name="Google Shape;159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Parallelism: </a:t>
            </a:r>
            <a:r>
              <a:rPr lang="en"/>
              <a:t>splitting tasks into subtasks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Parallel computing:</a:t>
            </a:r>
            <a:r>
              <a:rPr lang="en"/>
              <a:t> running subtasks (concurrent parts) parallel in multiple processor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0450" y="3129175"/>
            <a:ext cx="3223449" cy="175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50" y="3527750"/>
            <a:ext cx="3646950" cy="15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 txBox="1"/>
          <p:nvPr/>
        </p:nvSpPr>
        <p:spPr>
          <a:xfrm>
            <a:off x="1043250" y="2922125"/>
            <a:ext cx="25368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Serial computing</a:t>
            </a:r>
            <a:endParaRPr b="1"/>
          </a:p>
        </p:txBody>
      </p:sp>
      <p:sp>
        <p:nvSpPr>
          <p:cNvPr id="163" name="Google Shape;163;p39"/>
          <p:cNvSpPr txBox="1"/>
          <p:nvPr/>
        </p:nvSpPr>
        <p:spPr>
          <a:xfrm>
            <a:off x="5493450" y="2803000"/>
            <a:ext cx="25368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Parallel computing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</a:t>
            </a:r>
            <a:endParaRPr/>
          </a:p>
        </p:txBody>
      </p:sp>
      <p:sp>
        <p:nvSpPr>
          <p:cNvPr id="169" name="Google Shape;16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Lightweight processes are called threads (software thread).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thread is a sequence of computation that can run in parallel with other  threads.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program has at least one thread of computation.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Main thread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program with two or more threads is generally referred to as a </a:t>
            </a:r>
            <a:r>
              <a:rPr b="1" lang="en"/>
              <a:t>multithreaded program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multithreaded program is generally used to speed up the solution to a problem.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Processes vs Threads</a:t>
            </a:r>
            <a:endParaRPr/>
          </a:p>
        </p:txBody>
      </p:sp>
      <p:sp>
        <p:nvSpPr>
          <p:cNvPr id="175" name="Google Shape;175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process has its own virtual address space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fork() is expensive</a:t>
            </a:r>
            <a:endParaRPr/>
          </a:p>
        </p:txBody>
      </p:sp>
      <p:sp>
        <p:nvSpPr>
          <p:cNvPr id="176" name="Google Shape;176;p41"/>
          <p:cNvSpPr txBox="1"/>
          <p:nvPr>
            <p:ph idx="2" type="body"/>
          </p:nvPr>
        </p:nvSpPr>
        <p:spPr>
          <a:xfrm>
            <a:off x="4832400" y="619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maintains only its own Stack pointer,Registers, Scheduling properties (such as policy or priority), Set of pending and blocked signals,Thread specific data.     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pthread library allocates some stack space and uses the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clone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function call to start the thread at that stack address.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000" y="2488150"/>
            <a:ext cx="2570325" cy="23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8875" y="2647950"/>
            <a:ext cx="2778975" cy="24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Creating separate processes is useful</a:t>
            </a:r>
            <a:endParaRPr/>
          </a:p>
        </p:txBody>
      </p:sp>
      <p:sp>
        <p:nvSpPr>
          <p:cNvPr id="184" name="Google Shape;184;p42"/>
          <p:cNvSpPr txBox="1"/>
          <p:nvPr>
            <p:ph idx="1" type="body"/>
          </p:nvPr>
        </p:nvSpPr>
        <p:spPr>
          <a:xfrm>
            <a:off x="311700" y="1017725"/>
            <a:ext cx="8606400" cy="3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more security is desired. For example, Chrome browser uses different processes for different tabs.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running an existing and complete program then a new process is required, for example starting ‘gcc’.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are running into synchronization primitives and each process is operating on something in the system.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have too many threads – the kernel tries to schedule all the threads near each other which could cause more harm than good.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don’t want to worry about race conditions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one thread blocks in a task (say IO) then all threads block. Processes don’t have that same restriction.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/>
              <a:t>When the amount of communication is minimal enough that simple IPC needs to be used.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Creating threads is more useful </a:t>
            </a:r>
            <a:endParaRPr/>
          </a:p>
        </p:txBody>
      </p:sp>
      <p:sp>
        <p:nvSpPr>
          <p:cNvPr id="190" name="Google Shape;190;p43"/>
          <p:cNvSpPr txBox="1"/>
          <p:nvPr>
            <p:ph idx="2" type="body"/>
          </p:nvPr>
        </p:nvSpPr>
        <p:spPr>
          <a:xfrm>
            <a:off x="642950" y="1152475"/>
            <a:ext cx="818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want to leverage the power of a multi-core system to do one task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can’t deal with the overhead of processes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you want communication between the processes simplified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1600"/>
              </a:spcAft>
              <a:buSzPts val="1400"/>
              <a:buChar char="●"/>
            </a:pPr>
            <a:r>
              <a:rPr lang="en"/>
              <a:t>When you want to threads to be part of the same process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memory model</a:t>
            </a:r>
            <a:endParaRPr/>
          </a:p>
        </p:txBody>
      </p:sp>
      <p:sp>
        <p:nvSpPr>
          <p:cNvPr id="196" name="Google Shape;196;p4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threads have access to the same global, shared memory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Threads also have their own private data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Programmers are responsible for synchronizing access (protecting) globally shared data.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2825" y="508699"/>
            <a:ext cx="4220275" cy="359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</a:t>
            </a:r>
            <a:r>
              <a:rPr lang="en"/>
              <a:t>Creating a thread</a:t>
            </a:r>
            <a:endParaRPr/>
          </a:p>
        </p:txBody>
      </p:sp>
      <p:sp>
        <p:nvSpPr>
          <p:cNvPr id="203" name="Google Shape;203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pthread_attr_t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attr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*(*start_routine)(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*),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 success returns 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 error, it returns error code</a:t>
            </a:r>
            <a:endParaRPr sz="1100"/>
          </a:p>
        </p:txBody>
      </p:sp>
      <p:sp>
        <p:nvSpPr>
          <p:cNvPr id="204" name="Google Shape;204;p45"/>
          <p:cNvSpPr txBox="1"/>
          <p:nvPr>
            <p:ph idx="2" type="body"/>
          </p:nvPr>
        </p:nvSpPr>
        <p:spPr>
          <a:xfrm>
            <a:off x="4190475" y="1152475"/>
            <a:ext cx="478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pthread_create </a:t>
            </a:r>
            <a:r>
              <a:rPr lang="en" sz="1100">
                <a:solidFill>
                  <a:schemeClr val="dk1"/>
                </a:solidFill>
              </a:rPr>
              <a:t>creates a new thread and makes it executable.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This routine can be called any number of times from anywhere within your code.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pthread_create arguments: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lang="en" sz="1100">
                <a:solidFill>
                  <a:schemeClr val="dk1"/>
                </a:solidFill>
              </a:rPr>
              <a:t>: A unique identifier for the new thread returned by the subroutine.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attr</a:t>
            </a:r>
            <a:r>
              <a:rPr lang="en" sz="1100">
                <a:solidFill>
                  <a:schemeClr val="dk1"/>
                </a:solidFill>
              </a:rPr>
              <a:t>: You can specify a thread attributes object, or NULL for the default values.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0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start_routine</a:t>
            </a:r>
            <a:r>
              <a:rPr lang="en" sz="1100">
                <a:solidFill>
                  <a:schemeClr val="dk1"/>
                </a:solidFill>
              </a:rPr>
              <a:t>: The new thread starts execution by invoking this function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lang="en" sz="1100">
                <a:solidFill>
                  <a:schemeClr val="dk1"/>
                </a:solidFill>
              </a:rPr>
              <a:t>: A single argument that may be passed to </a:t>
            </a:r>
            <a:r>
              <a:rPr lang="en" sz="10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start_routine</a:t>
            </a:r>
            <a:r>
              <a:rPr lang="en" sz="1100">
                <a:solidFill>
                  <a:schemeClr val="dk1"/>
                </a:solidFill>
              </a:rPr>
              <a:t>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It must be passed by reference as a pointer cast of type void.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NULL may be used if no argument is to be passed.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5"/>
          <p:cNvSpPr txBox="1"/>
          <p:nvPr/>
        </p:nvSpPr>
        <p:spPr>
          <a:xfrm>
            <a:off x="197025" y="3422075"/>
            <a:ext cx="4497900" cy="15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r>
              <a:rPr b="1" lang="en" sz="11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example*/</a:t>
            </a:r>
            <a:endParaRPr b="1" sz="11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*thread;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 =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func, &amp;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(r !=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"pthread_create"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Review: </a:t>
            </a:r>
            <a:r>
              <a:rPr lang="en"/>
              <a:t>Thread termination</a:t>
            </a:r>
            <a:endParaRPr/>
          </a:p>
        </p:txBody>
      </p:sp>
      <p:sp>
        <p:nvSpPr>
          <p:cNvPr id="211" name="Google Shape;21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execution of a thread terminates in one of the following ways: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thread’s start function performs a return specifying a return value for the thread.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thread calls </a:t>
            </a:r>
            <a:r>
              <a:rPr b="1" lang="en" sz="125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pthread_exit()</a:t>
            </a:r>
            <a:endParaRPr b="1" sz="12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1625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50"/>
              <a:buFont typeface="Courier New"/>
              <a:buChar char="○"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pthread_exit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retval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5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Terminates the calling thread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retval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/>
              <a:t>specifies the return value of the thread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value is available to another thread in the same process that calls  </a:t>
            </a:r>
            <a:r>
              <a:rPr b="1" lang="en"/>
              <a:t>pthread_join()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1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retval</a:t>
            </a:r>
            <a:r>
              <a:rPr lang="en" sz="105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/>
              <a:t>should point to the heap not to the stack! 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212" name="Google Shape;212;p46"/>
          <p:cNvSpPr txBox="1"/>
          <p:nvPr/>
        </p:nvSpPr>
        <p:spPr>
          <a:xfrm>
            <a:off x="373325" y="4334625"/>
            <a:ext cx="660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151515"/>
                </a:solidFill>
                <a:highlight>
                  <a:schemeClr val="lt1"/>
                </a:highlight>
              </a:rPr>
              <a:t>Note:</a:t>
            </a:r>
            <a:r>
              <a:rPr lang="en" sz="1200" u="sng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 u="sng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exit()</a:t>
            </a: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exits the entire process and sets the process’ exit value. This is equivalent to </a:t>
            </a:r>
            <a:r>
              <a:rPr lang="en" sz="1200" u="sng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b="1" lang="en" sz="1200" u="sng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eturn ();</a:t>
            </a:r>
            <a:r>
              <a:rPr lang="en" u="sng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in the main method. </a:t>
            </a:r>
            <a:endParaRPr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</a:t>
            </a:r>
            <a:r>
              <a:rPr lang="en"/>
              <a:t> in shared resources</a:t>
            </a:r>
            <a:endParaRPr/>
          </a:p>
        </p:txBody>
      </p:sp>
      <p:sp>
        <p:nvSpPr>
          <p:cNvPr id="218" name="Google Shape;218;p47"/>
          <p:cNvSpPr txBox="1"/>
          <p:nvPr>
            <p:ph idx="1" type="body"/>
          </p:nvPr>
        </p:nvSpPr>
        <p:spPr>
          <a:xfrm>
            <a:off x="176300" y="777750"/>
            <a:ext cx="4487700" cy="4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Threads can share information via global variables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threads should not attempt to modify the same variable at the same time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Or one thread should not try to read the variable while another thread is modifying it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Race condition:</a:t>
            </a:r>
            <a:r>
              <a:rPr lang="en"/>
              <a:t> threads are "racing" to access/change the data at the same time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At least one thread are modifying(writing) the data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The resulting change in data depends on the thread scheduling algorithm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</a:pPr>
            <a:r>
              <a:rPr lang="en"/>
              <a:t>the outcome of a program depends on how the kernel schedules the threads (could produce inaccurate results). </a:t>
            </a:r>
            <a:endParaRPr/>
          </a:p>
        </p:txBody>
      </p:sp>
      <p:sp>
        <p:nvSpPr>
          <p:cNvPr id="219" name="Google Shape;219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count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increment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j;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(j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j &lt; *((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*)n); j++)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count++;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count++</a:t>
            </a:r>
            <a:r>
              <a:rPr lang="en">
                <a:solidFill>
                  <a:schemeClr val="dk2"/>
                </a:solidFill>
              </a:rPr>
              <a:t> done in 3 steps: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Get the current value from </a:t>
            </a:r>
            <a:r>
              <a:rPr b="1" lang="en">
                <a:solidFill>
                  <a:schemeClr val="dk2"/>
                </a:solidFill>
              </a:rPr>
              <a:t>&amp;count</a:t>
            </a:r>
            <a:endParaRPr b="1"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Increment by 1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Store back in </a:t>
            </a:r>
            <a:r>
              <a:rPr b="1" lang="en">
                <a:solidFill>
                  <a:schemeClr val="dk2"/>
                </a:solidFill>
              </a:rPr>
              <a:t>&amp;count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condition: An example bank transaction</a:t>
            </a:r>
            <a:endParaRPr/>
          </a:p>
        </p:txBody>
      </p:sp>
      <p:sp>
        <p:nvSpPr>
          <p:cNvPr id="225" name="Google Shape;225;p4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7" name="Google Shape;227;p48"/>
          <p:cNvGraphicFramePr/>
          <p:nvPr/>
        </p:nvGraphicFramePr>
        <p:xfrm>
          <a:off x="914400" y="162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{255C55DE-E997-4670-9101-0FC2DE2F4188}</a:tableStyleId>
              </a:tblPr>
              <a:tblGrid>
                <a:gridCol w="2843675"/>
                <a:gridCol w="2851500"/>
                <a:gridCol w="940050"/>
              </a:tblGrid>
              <a:tr h="243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Thread 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Thread 2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Balance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Read balance: 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A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Read balance: 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AB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Deposit $200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D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Deposit $200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D5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$1000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Update balance $1000+$200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F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Update balance $1000+$200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EF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$1200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interleaving</a:t>
            </a:r>
            <a:endParaRPr/>
          </a:p>
        </p:txBody>
      </p:sp>
      <p:sp>
        <p:nvSpPr>
          <p:cNvPr id="233" name="Google Shape;233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assembly, assume data is stored in 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eax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mov eax, DWORD PTR [rbp-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;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Loads int_ptr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add eax, eax ;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Does the addition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mov DWORD PTR [rbp-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eax ;</a:t>
            </a:r>
            <a:r>
              <a:rPr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Stores it back</a:t>
            </a:r>
            <a:endParaRPr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4" name="Google Shape;234;p49"/>
          <p:cNvSpPr txBox="1"/>
          <p:nvPr/>
        </p:nvSpPr>
        <p:spPr>
          <a:xfrm>
            <a:off x="249125" y="1282075"/>
            <a:ext cx="45135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thread_main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*p;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x +=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*p 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data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one, two;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</a:t>
            </a:r>
            <a:r>
              <a:rPr b="1" lang="en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>
            <p:ph type="title"/>
          </p:nvPr>
        </p:nvSpPr>
        <p:spPr>
          <a:xfrm>
            <a:off x="3753975" y="445025"/>
            <a:ext cx="507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access pattern</a:t>
            </a:r>
            <a:endParaRPr/>
          </a:p>
        </p:txBody>
      </p:sp>
      <p:sp>
        <p:nvSpPr>
          <p:cNvPr id="240" name="Google Shape;240;p50"/>
          <p:cNvSpPr txBox="1"/>
          <p:nvPr/>
        </p:nvSpPr>
        <p:spPr>
          <a:xfrm>
            <a:off x="201700" y="445025"/>
            <a:ext cx="4370400" cy="4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thread_main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 = *p;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x +=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*p 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data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one, two;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</a:t>
            </a:r>
            <a:r>
              <a:rPr b="1" lang="en" sz="115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1" name="Google Shape;241;p50"/>
          <p:cNvSpPr txBox="1"/>
          <p:nvPr/>
        </p:nvSpPr>
        <p:spPr>
          <a:xfrm>
            <a:off x="3690275" y="3278275"/>
            <a:ext cx="560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access pattern will cause the variable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be 4.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problem is when the instructions are executed in parallel (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next slide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  <a:endParaRPr/>
          </a:p>
        </p:txBody>
      </p:sp>
      <p:pic>
        <p:nvPicPr>
          <p:cNvPr id="242" name="Google Shape;24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275" y="1066195"/>
            <a:ext cx="5453727" cy="17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1"/>
          <p:cNvSpPr txBox="1"/>
          <p:nvPr>
            <p:ph type="title"/>
          </p:nvPr>
        </p:nvSpPr>
        <p:spPr>
          <a:xfrm>
            <a:off x="3753975" y="445025"/>
            <a:ext cx="507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 the access pattern</a:t>
            </a:r>
            <a:endParaRPr/>
          </a:p>
        </p:txBody>
      </p:sp>
      <p:sp>
        <p:nvSpPr>
          <p:cNvPr id="248" name="Google Shape;248;p51"/>
          <p:cNvSpPr txBox="1"/>
          <p:nvPr/>
        </p:nvSpPr>
        <p:spPr>
          <a:xfrm>
            <a:off x="201700" y="445025"/>
            <a:ext cx="4560900" cy="3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= *p;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x +=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*p 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data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one, two;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"%d</a:t>
            </a:r>
            <a:r>
              <a:rPr b="1"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" name="Google Shape;249;p51"/>
          <p:cNvSpPr txBox="1"/>
          <p:nvPr/>
        </p:nvSpPr>
        <p:spPr>
          <a:xfrm>
            <a:off x="3796775" y="3485675"/>
            <a:ext cx="523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access pattern will cause the variable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to be 2.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is undefined behavior and a race condition.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What we want is one thread to access the part of the code at a time.</a:t>
            </a:r>
            <a:endParaRPr/>
          </a:p>
        </p:txBody>
      </p:sp>
      <p:pic>
        <p:nvPicPr>
          <p:cNvPr id="250" name="Google Shape;250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0250" y="1157525"/>
            <a:ext cx="4802126" cy="223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interleaving</a:t>
            </a:r>
            <a:endParaRPr/>
          </a:p>
        </p:txBody>
      </p:sp>
      <p:sp>
        <p:nvSpPr>
          <p:cNvPr id="256" name="Google Shape;256;p52"/>
          <p:cNvSpPr txBox="1"/>
          <p:nvPr>
            <p:ph idx="2" type="body"/>
          </p:nvPr>
        </p:nvSpPr>
        <p:spPr>
          <a:xfrm>
            <a:off x="4884375" y="1152475"/>
            <a:ext cx="394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But when compiled with </a:t>
            </a:r>
            <a:r>
              <a:rPr lang="en" sz="1200">
                <a:solidFill>
                  <a:srgbClr val="151515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</a:rPr>
              <a:t>-O2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assembly output is a single instruction.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# Optimized way of doing the add</a:t>
            </a:r>
            <a:endParaRPr sz="1300">
              <a:solidFill>
                <a:srgbClr val="F2F2F4"/>
              </a:solidFill>
              <a:highlight>
                <a:srgbClr val="151515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2F2F4"/>
                </a:solidFill>
                <a:highlight>
                  <a:srgbClr val="151515"/>
                </a:highlight>
                <a:latin typeface="Consolas"/>
                <a:ea typeface="Consolas"/>
                <a:cs typeface="Consolas"/>
                <a:sym typeface="Consolas"/>
              </a:rPr>
              <a:t>shl dword ptr [rdi]  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doesn’t fix the problems that the 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hardware itself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may experience a race condition because we as programmers didn’t tell the hardware to check for it. The easiest way is to add the 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lock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prefix (Guide </a:t>
            </a: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#ref-guide2011intel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1120).</a:t>
            </a:r>
            <a:endParaRPr sz="1500"/>
          </a:p>
        </p:txBody>
      </p:sp>
      <p:sp>
        <p:nvSpPr>
          <p:cNvPr id="257" name="Google Shape;257;p52"/>
          <p:cNvSpPr txBox="1"/>
          <p:nvPr/>
        </p:nvSpPr>
        <p:spPr>
          <a:xfrm>
            <a:off x="249125" y="1282075"/>
            <a:ext cx="4513500" cy="3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thread_main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x = *p;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x +=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*p = x;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data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one, two;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thread_main, &amp;data);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(one,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(two,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"%d</a:t>
            </a:r>
            <a:r>
              <a:rPr b="1"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data);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3"/>
          <p:cNvSpPr txBox="1"/>
          <p:nvPr>
            <p:ph type="title"/>
          </p:nvPr>
        </p:nvSpPr>
        <p:spPr>
          <a:xfrm>
            <a:off x="228150" y="228150"/>
            <a:ext cx="87210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Race condition example-1: </a:t>
            </a:r>
            <a:r>
              <a:rPr lang="en" sz="2100"/>
              <a:t>m</a:t>
            </a:r>
            <a:r>
              <a:rPr lang="en" sz="2100"/>
              <a:t>ulti threads</a:t>
            </a:r>
            <a:r>
              <a:rPr lang="en" sz="2100"/>
              <a:t> executing increment()</a:t>
            </a:r>
            <a:endParaRPr sz="2100"/>
          </a:p>
        </p:txBody>
      </p:sp>
      <p:sp>
        <p:nvSpPr>
          <p:cNvPr id="263" name="Google Shape;263;p53"/>
          <p:cNvSpPr txBox="1"/>
          <p:nvPr>
            <p:ph idx="1" type="body"/>
          </p:nvPr>
        </p:nvSpPr>
        <p:spPr>
          <a:xfrm>
            <a:off x="311700" y="1152475"/>
            <a:ext cx="4171200" cy="30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&lt;stdlib.h&gt;</a:t>
            </a:r>
            <a:endParaRPr b="1" sz="115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#define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NTHREADS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150">
              <a:solidFill>
                <a:srgbClr val="098658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tids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[NTHREADS];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10000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 &lt; NTHREADS; i++){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 =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tids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[i],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increment, &amp;n);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 r !=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"thread creation"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1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p53"/>
          <p:cNvSpPr txBox="1"/>
          <p:nvPr/>
        </p:nvSpPr>
        <p:spPr>
          <a:xfrm>
            <a:off x="4572000" y="1017725"/>
            <a:ext cx="42603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 &lt; NTHREADS; i++){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r =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pthread_join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tids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[i],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(r !=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perror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"join"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exit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"value of count: %d</a:t>
            </a:r>
            <a:r>
              <a:rPr b="1" lang="en" sz="1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count);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4"/>
          <p:cNvSpPr txBox="1"/>
          <p:nvPr>
            <p:ph type="title"/>
          </p:nvPr>
        </p:nvSpPr>
        <p:spPr>
          <a:xfrm>
            <a:off x="2642400" y="228150"/>
            <a:ext cx="6189900" cy="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example-2: </a:t>
            </a:r>
            <a:r>
              <a:rPr lang="en" sz="2100"/>
              <a:t>passing ref  is WRONG! </a:t>
            </a:r>
            <a:endParaRPr sz="2100"/>
          </a:p>
        </p:txBody>
      </p:sp>
      <p:sp>
        <p:nvSpPr>
          <p:cNvPr id="270" name="Google Shape;270;p54"/>
          <p:cNvSpPr txBox="1"/>
          <p:nvPr/>
        </p:nvSpPr>
        <p:spPr>
          <a:xfrm>
            <a:off x="197025" y="394050"/>
            <a:ext cx="4875300" cy="4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15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myfunc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b="1" lang="en" sz="11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 = *((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*) ptr);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"%d \n"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i);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/*Each thread gets a different value</a:t>
            </a:r>
            <a:endParaRPr b="1" sz="11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of i to process*/</a:t>
            </a:r>
            <a:endParaRPr b="1" sz="11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i;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tid;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(i =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 &lt; </a:t>
            </a:r>
            <a:r>
              <a:rPr b="1" lang="en" sz="11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i++) {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pthread_create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(&amp;tid, 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myfunc, &amp;i); </a:t>
            </a:r>
            <a:r>
              <a:rPr b="1" lang="en" sz="11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//ERROR</a:t>
            </a:r>
            <a:endParaRPr b="1" sz="11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pthread_exit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54"/>
          <p:cNvSpPr txBox="1"/>
          <p:nvPr/>
        </p:nvSpPr>
        <p:spPr>
          <a:xfrm>
            <a:off x="10250" y="4781275"/>
            <a:ext cx="47481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may see an output 1 7 8 8 8 8 8 8 8 10 </a:t>
            </a:r>
            <a:endParaRPr/>
          </a:p>
        </p:txBody>
      </p:sp>
      <p:grpSp>
        <p:nvGrpSpPr>
          <p:cNvPr id="272" name="Google Shape;272;p54"/>
          <p:cNvGrpSpPr/>
          <p:nvPr/>
        </p:nvGrpSpPr>
        <p:grpSpPr>
          <a:xfrm>
            <a:off x="3816175" y="2702400"/>
            <a:ext cx="5232450" cy="1140900"/>
            <a:chOff x="3816175" y="3007200"/>
            <a:chExt cx="5232450" cy="1140900"/>
          </a:xfrm>
        </p:grpSpPr>
        <p:sp>
          <p:nvSpPr>
            <p:cNvPr id="273" name="Google Shape;273;p54"/>
            <p:cNvSpPr txBox="1"/>
            <p:nvPr/>
          </p:nvSpPr>
          <p:spPr>
            <a:xfrm>
              <a:off x="4300525" y="3007200"/>
              <a:ext cx="4748100" cy="642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008000"/>
                  </a:solidFill>
                  <a:highlight>
                    <a:schemeClr val="lt1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// correct way, passing value of i</a:t>
              </a:r>
              <a:endParaRPr b="1" sz="12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rgbClr val="795E26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pthread_create</a:t>
              </a:r>
              <a:r>
                <a:rPr b="1" lang="en" sz="125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(&amp;tid, </a:t>
              </a:r>
              <a:r>
                <a:rPr b="1" lang="en" sz="1250">
                  <a:solidFill>
                    <a:srgbClr val="0000FF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NULL</a:t>
              </a:r>
              <a:r>
                <a:rPr b="1" lang="en" sz="1250">
                  <a:solidFill>
                    <a:schemeClr val="dk1"/>
                  </a:solidFill>
                  <a:highlight>
                    <a:srgbClr val="FFFFFF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, myfunc, (void *)i); </a:t>
              </a:r>
              <a:endParaRPr b="1" sz="12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74" name="Google Shape;274;p54"/>
            <p:cNvCxnSpPr>
              <a:endCxn id="273" idx="2"/>
            </p:cNvCxnSpPr>
            <p:nvPr/>
          </p:nvCxnSpPr>
          <p:spPr>
            <a:xfrm flipH="1" rot="10800000">
              <a:off x="3816175" y="3650100"/>
              <a:ext cx="2858400" cy="49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5"/>
          <p:cNvSpPr txBox="1"/>
          <p:nvPr>
            <p:ph type="title"/>
          </p:nvPr>
        </p:nvSpPr>
        <p:spPr>
          <a:xfrm>
            <a:off x="197025" y="238525"/>
            <a:ext cx="35718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Multi-thread-unsafe function</a:t>
            </a:r>
            <a:endParaRPr/>
          </a:p>
        </p:txBody>
      </p:sp>
      <p:sp>
        <p:nvSpPr>
          <p:cNvPr id="280" name="Google Shape;280;p55"/>
          <p:cNvSpPr txBox="1"/>
          <p:nvPr>
            <p:ph idx="1" type="body"/>
          </p:nvPr>
        </p:nvSpPr>
        <p:spPr>
          <a:xfrm>
            <a:off x="311700" y="1152475"/>
            <a:ext cx="327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of the provided functions are not thread safe!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E.g.: 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3"/>
              </a:rPr>
              <a:t>asctime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4"/>
              </a:rPr>
              <a:t>getenv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5"/>
              </a:rPr>
              <a:t>strtok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200" u="sng">
                <a:solidFill>
                  <a:schemeClr val="hlink"/>
                </a:solidFill>
                <a:highlight>
                  <a:srgbClr val="DFDFDF"/>
                </a:highlight>
                <a:latin typeface="Consolas"/>
                <a:ea typeface="Consolas"/>
                <a:cs typeface="Consolas"/>
                <a:sym typeface="Consolas"/>
                <a:hlinkClick r:id="rId6"/>
              </a:rPr>
              <a:t>strerror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Programs involving thread-unsafe functions may suffer from a </a:t>
            </a:r>
            <a:r>
              <a:rPr b="1" lang="en"/>
              <a:t>race condition</a:t>
            </a:r>
            <a:r>
              <a:rPr lang="en"/>
              <a:t> </a:t>
            </a:r>
            <a:endParaRPr/>
          </a:p>
        </p:txBody>
      </p:sp>
      <p:sp>
        <p:nvSpPr>
          <p:cNvPr id="281" name="Google Shape;281;p55"/>
          <p:cNvSpPr txBox="1"/>
          <p:nvPr/>
        </p:nvSpPr>
        <p:spPr>
          <a:xfrm>
            <a:off x="4069825" y="611825"/>
            <a:ext cx="4889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&lt;stdio.h&gt;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&lt;string.h&gt;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&lt;unistd.h&gt;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&lt;pthread.h&gt;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to_message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00" u="sng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b="1" lang="en" sz="11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 u="sng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11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 u="sng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1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1" lang="en" sz="1100" u="sng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256</a:t>
            </a:r>
            <a:r>
              <a:rPr b="1" lang="en" sz="1100" u="sng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1" sz="1100" u="sng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"%d : blah blah"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,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strcpy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"Unknown"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1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6"/>
          <p:cNvSpPr txBox="1"/>
          <p:nvPr>
            <p:ph type="title"/>
          </p:nvPr>
        </p:nvSpPr>
        <p:spPr>
          <a:xfrm>
            <a:off x="311700" y="238525"/>
            <a:ext cx="34572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Multi-thread-safe function</a:t>
            </a:r>
            <a:endParaRPr/>
          </a:p>
        </p:txBody>
      </p:sp>
      <p:sp>
        <p:nvSpPr>
          <p:cNvPr id="287" name="Google Shape;287;p56"/>
          <p:cNvSpPr txBox="1"/>
          <p:nvPr>
            <p:ph idx="1" type="body"/>
          </p:nvPr>
        </p:nvSpPr>
        <p:spPr>
          <a:xfrm>
            <a:off x="311700" y="1152475"/>
            <a:ext cx="3271200" cy="3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Instead of making the function responsible for the memory, we made the caller responsible!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lot of programs, and hopefully your programs, have minimal communication needed. 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Often a malloc call is less work than locking a mutex or sending a message to another thread.</a:t>
            </a:r>
            <a:endParaRPr/>
          </a:p>
        </p:txBody>
      </p:sp>
      <p:sp>
        <p:nvSpPr>
          <p:cNvPr id="288" name="Google Shape;288;p56"/>
          <p:cNvSpPr txBox="1"/>
          <p:nvPr/>
        </p:nvSpPr>
        <p:spPr>
          <a:xfrm>
            <a:off x="3788650" y="611825"/>
            <a:ext cx="53715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&lt;stdio.h&gt;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&lt;string.h&gt;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&lt;unistd.h&gt;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&lt;pthread.h&gt;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to_message_r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267F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written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written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snprintf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 : blah blah"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num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strncpy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"Unknown"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1100">
                <a:solidFill>
                  <a:srgbClr val="EE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\0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written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strlen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buf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+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written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&lt;= 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nbytes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7"/>
          <p:cNvSpPr txBox="1"/>
          <p:nvPr>
            <p:ph type="title"/>
          </p:nvPr>
        </p:nvSpPr>
        <p:spPr>
          <a:xfrm>
            <a:off x="311700" y="445025"/>
            <a:ext cx="323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thread before fork() results in unexpected errors!</a:t>
            </a:r>
            <a:endParaRPr/>
          </a:p>
        </p:txBody>
      </p:sp>
      <p:sp>
        <p:nvSpPr>
          <p:cNvPr id="294" name="Google Shape;294;p57"/>
          <p:cNvSpPr txBox="1"/>
          <p:nvPr>
            <p:ph idx="1" type="body"/>
          </p:nvPr>
        </p:nvSpPr>
        <p:spPr>
          <a:xfrm>
            <a:off x="169575" y="2348725"/>
            <a:ext cx="2993400" cy="26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When </a:t>
            </a:r>
            <a:r>
              <a:rPr b="1" i="1" lang="en" sz="1500">
                <a:solidFill>
                  <a:schemeClr val="dk1"/>
                </a:solidFill>
              </a:rPr>
              <a:t>fork</a:t>
            </a:r>
            <a:r>
              <a:rPr b="1" lang="en" sz="1500">
                <a:solidFill>
                  <a:schemeClr val="dk1"/>
                </a:solidFill>
              </a:rPr>
              <a:t>() is called, only the calling thread is duplicated in the child process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can use </a:t>
            </a:r>
            <a:r>
              <a:rPr b="1" lang="en" sz="1500">
                <a:solidFill>
                  <a:schemeClr val="dk1"/>
                </a:solidFill>
              </a:rPr>
              <a:t>pthread_atfork():</a:t>
            </a:r>
            <a:r>
              <a:rPr lang="en" sz="1500">
                <a:solidFill>
                  <a:schemeClr val="dk1"/>
                </a:solidFill>
              </a:rPr>
              <a:t> However, avoid creating threads before forking unless you fully understand the limitations and difficulties of this approach.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295" name="Google Shape;295;p57"/>
          <p:cNvSpPr txBox="1"/>
          <p:nvPr/>
        </p:nvSpPr>
        <p:spPr>
          <a:xfrm>
            <a:off x="3432450" y="79350"/>
            <a:ext cx="5557500" cy="49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&lt;pthread.h&gt;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&lt;stdio.h&gt;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#include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&lt;unistd.h&gt;</a:t>
            </a:r>
            <a:endParaRPr b="1" sz="110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pid_t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child = -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sleepnprint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b="1" lang="en" sz="1100">
                <a:solidFill>
                  <a:srgbClr val="001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"%d:%s starting up...</a:t>
            </a:r>
            <a:r>
              <a:rPr b="1" lang="en" sz="11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 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*) arg);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(child == -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sleep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);} </a:t>
            </a:r>
            <a:r>
              <a:rPr b="1" lang="en" sz="11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Later we will use condition</a:t>
            </a:r>
            <a:endParaRPr b="1" sz="11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variables */</a:t>
            </a:r>
            <a:endParaRPr b="1" sz="11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"%d:%s finishing...</a:t>
            </a:r>
            <a:r>
              <a:rPr b="1" lang="en" sz="11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 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*)arg);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tid1, tid2;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(&amp;tid1,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sleepnprint,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"New Thread One"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(&amp;tid2,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sleepnprint,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"New Thread Two"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child =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fork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"%d:%s</a:t>
            </a:r>
            <a:r>
              <a:rPr b="1" lang="en" sz="11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"fork()ing complete"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sleep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"%d:%s</a:t>
            </a:r>
            <a:r>
              <a:rPr b="1" lang="en" sz="1100">
                <a:solidFill>
                  <a:srgbClr val="FF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getpid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(), </a:t>
            </a:r>
            <a:r>
              <a:rPr b="1" lang="en" sz="110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"Main thread finished"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795E26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pthread_exit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100">
                <a:solidFill>
                  <a:srgbClr val="AF00DB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10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 sz="110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/* Never executes */</a:t>
            </a:r>
            <a:endParaRPr b="1" sz="110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</a:t>
            </a:r>
            <a:r>
              <a:rPr lang="en"/>
              <a:t> computation: </a:t>
            </a:r>
            <a:r>
              <a:rPr lang="en"/>
              <a:t>Parallelizing</a:t>
            </a:r>
            <a:r>
              <a:rPr lang="en"/>
              <a:t> programs</a:t>
            </a:r>
            <a:endParaRPr/>
          </a:p>
        </p:txBody>
      </p:sp>
      <p:sp>
        <p:nvSpPr>
          <p:cNvPr id="301" name="Google Shape;301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order to make your program multithread, you need to find concurrent parts of the program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Parallel computation can be done at different levels</a:t>
            </a:r>
            <a:endParaRPr sz="18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B</a:t>
            </a:r>
            <a:r>
              <a:rPr lang="en" sz="1500" u="sng">
                <a:solidFill>
                  <a:schemeClr val="hlink"/>
                </a:solidFill>
                <a:hlinkClick r:id="rId4"/>
              </a:rPr>
              <a:t>it-level parallelism</a:t>
            </a:r>
            <a:r>
              <a:rPr lang="en" sz="1500">
                <a:solidFill>
                  <a:schemeClr val="dk1"/>
                </a:solidFill>
              </a:rPr>
              <a:t>,</a:t>
            </a:r>
            <a:r>
              <a:rPr lang="en" sz="1500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sz="16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Instruction-level parallelism</a:t>
            </a:r>
            <a:r>
              <a:rPr lang="en" sz="1500">
                <a:solidFill>
                  <a:schemeClr val="dk1"/>
                </a:solidFill>
              </a:rPr>
              <a:t>,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7"/>
              </a:rPr>
              <a:t>Data parallelism</a:t>
            </a:r>
            <a:r>
              <a:rPr lang="en" sz="1500">
                <a:solidFill>
                  <a:schemeClr val="dk1"/>
                </a:solidFill>
              </a:rPr>
              <a:t>,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 u="sng">
                <a:solidFill>
                  <a:schemeClr val="hlink"/>
                </a:solidFill>
                <a:hlinkClick r:id="rId8"/>
              </a:rPr>
              <a:t>Task parallelism</a:t>
            </a:r>
            <a:r>
              <a:rPr lang="en" sz="1500">
                <a:solidFill>
                  <a:schemeClr val="dk1"/>
                </a:solidFill>
              </a:rPr>
              <a:t>.</a:t>
            </a:r>
            <a:endParaRPr sz="1800"/>
          </a:p>
        </p:txBody>
      </p:sp>
      <p:sp>
        <p:nvSpPr>
          <p:cNvPr id="302" name="Google Shape;302;p58"/>
          <p:cNvSpPr txBox="1"/>
          <p:nvPr>
            <p:ph idx="2" type="body"/>
          </p:nvPr>
        </p:nvSpPr>
        <p:spPr>
          <a:xfrm>
            <a:off x="4832400" y="1152475"/>
            <a:ext cx="3999900" cy="3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9"/>
              </a:rPr>
              <a:t>Data parallelism</a:t>
            </a:r>
            <a:r>
              <a:rPr lang="en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the same calculation is performed on the same or different sets of data.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Sum</a:t>
            </a:r>
            <a:r>
              <a:rPr lang="en" sz="1800"/>
              <a:t> of array elements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10"/>
              </a:rPr>
              <a:t>Task parallelism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entirely different calculations can be performed on either the same or different sets of data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Embarrassingly Parallel Problems</a:t>
            </a:r>
            <a:endParaRPr/>
          </a:p>
        </p:txBody>
      </p:sp>
      <p:sp>
        <p:nvSpPr>
          <p:cNvPr id="308" name="Google Shape;308;p59"/>
          <p:cNvSpPr txBox="1"/>
          <p:nvPr>
            <p:ph idx="1" type="body"/>
          </p:nvPr>
        </p:nvSpPr>
        <p:spPr>
          <a:xfrm>
            <a:off x="415425" y="1006050"/>
            <a:ext cx="8520600" cy="1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 embarrassingly parallel problem is any problem that needs little effort to turn parallel.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Eg. merge sort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Another example is parallel map. Say we want to apply a function to an entire array, one element at a time. 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https://en.wikipedia.org/wiki/Embarrassingly_parallel</a:t>
            </a:r>
            <a:endParaRPr sz="1400"/>
          </a:p>
        </p:txBody>
      </p:sp>
      <p:sp>
        <p:nvSpPr>
          <p:cNvPr id="309" name="Google Shape;309;p59"/>
          <p:cNvSpPr txBox="1"/>
          <p:nvPr/>
        </p:nvSpPr>
        <p:spPr>
          <a:xfrm>
            <a:off x="4189475" y="2558250"/>
            <a:ext cx="4894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),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++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" name="Google Shape;310;p59"/>
          <p:cNvSpPr txBox="1"/>
          <p:nvPr/>
        </p:nvSpPr>
        <p:spPr>
          <a:xfrm>
            <a:off x="259875" y="2488800"/>
            <a:ext cx="3601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merge_sort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*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2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2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2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&gt; </a:t>
            </a:r>
            <a:r>
              <a:rPr b="1" lang="en" sz="12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Merge Sort the left half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Merge Sort the right half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2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Merge the two halves</a:t>
            </a:r>
            <a:endParaRPr b="1" sz="12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20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Amdahl's</a:t>
            </a:r>
            <a:r>
              <a:rPr lang="en"/>
              <a:t> Law</a:t>
            </a:r>
            <a:endParaRPr/>
          </a:p>
        </p:txBody>
      </p:sp>
      <p:sp>
        <p:nvSpPr>
          <p:cNvPr id="316" name="Google Shape;316;p60"/>
          <p:cNvSpPr txBox="1"/>
          <p:nvPr/>
        </p:nvSpPr>
        <p:spPr>
          <a:xfrm>
            <a:off x="99225" y="4013575"/>
            <a:ext cx="78729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Given that your CPU has multiple real cores, you will see a speedup following </a:t>
            </a:r>
            <a:r>
              <a:rPr lang="en" sz="170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https://en.wikipedia.org/wiki/Amdahl’s_law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</a:t>
            </a:r>
            <a:endParaRPr sz="1700"/>
          </a:p>
        </p:txBody>
      </p:sp>
      <p:pic>
        <p:nvPicPr>
          <p:cNvPr id="317" name="Google Shape;31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1575" y="76200"/>
            <a:ext cx="5039851" cy="393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3725" y="2255600"/>
            <a:ext cx="3608174" cy="9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 Pools</a:t>
            </a:r>
            <a:endParaRPr/>
          </a:p>
        </p:txBody>
      </p:sp>
      <p:pic>
        <p:nvPicPr>
          <p:cNvPr id="324" name="Google Shape;32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425" y="1166425"/>
            <a:ext cx="7045151" cy="364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Implement Thread Pools in C</a:t>
            </a:r>
            <a:endParaRPr/>
          </a:p>
        </p:txBody>
      </p:sp>
      <p:sp>
        <p:nvSpPr>
          <p:cNvPr id="330" name="Google Shape;33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queue: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queue of function pointers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Thread Pool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list of threads running a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function takes the next task from the queue and executes it.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there is no task, it waits for a task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</a:t>
            </a:r>
            <a:r>
              <a:rPr lang="en"/>
              <a:t>synchronization</a:t>
            </a:r>
            <a:r>
              <a:rPr lang="en"/>
              <a:t> on thread queue!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Coroutines (cooperatively multitasked subroutines)</a:t>
            </a:r>
            <a:endParaRPr/>
          </a:p>
        </p:txBody>
      </p:sp>
      <p:sp>
        <p:nvSpPr>
          <p:cNvPr id="336" name="Google Shape;336;p63"/>
          <p:cNvSpPr txBox="1"/>
          <p:nvPr>
            <p:ph idx="1" type="body"/>
          </p:nvPr>
        </p:nvSpPr>
        <p:spPr>
          <a:xfrm>
            <a:off x="311700" y="1152475"/>
            <a:ext cx="79023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level language abstraction (they are stackless)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subroutines for cooperative multitasking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Coroutines provide </a:t>
            </a:r>
            <a:r>
              <a:rPr lang="en" u="sng">
                <a:solidFill>
                  <a:schemeClr val="hlink"/>
                </a:solidFill>
                <a:hlinkClick r:id="rId3"/>
              </a:rPr>
              <a:t>concurrency</a:t>
            </a:r>
            <a:r>
              <a:rPr lang="en"/>
              <a:t>, because they allow tasks to be performed out of order or in a changeable order, without changing the overall outcome,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do not provide </a:t>
            </a:r>
            <a:r>
              <a:rPr lang="en" u="sng">
                <a:solidFill>
                  <a:schemeClr val="hlink"/>
                </a:solidFill>
                <a:hlinkClick r:id="rId4"/>
              </a:rPr>
              <a:t>parallelism</a:t>
            </a:r>
            <a:r>
              <a:rPr lang="en"/>
              <a:t>, because they do not necessarily execute multiple tasks simultaneously.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with a multi-threaded dispatcher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3"/>
          <p:cNvSpPr txBox="1"/>
          <p:nvPr/>
        </p:nvSpPr>
        <p:spPr>
          <a:xfrm>
            <a:off x="181375" y="4677100"/>
            <a:ext cx="571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https://en.wikipedia.org/wiki/Coroutine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38" y="543325"/>
            <a:ext cx="2676525" cy="441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1250" y="1457050"/>
            <a:ext cx="4743450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64"/>
          <p:cNvSpPr txBox="1"/>
          <p:nvPr/>
        </p:nvSpPr>
        <p:spPr>
          <a:xfrm>
            <a:off x="4975050" y="323900"/>
            <a:ext cx="344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Unlike standard subroutines, program with coroutines has multiple </a:t>
            </a:r>
            <a:r>
              <a:rPr b="1" lang="en" sz="1800">
                <a:solidFill>
                  <a:schemeClr val="dk2"/>
                </a:solidFill>
              </a:rPr>
              <a:t>entry</a:t>
            </a:r>
            <a:r>
              <a:rPr lang="en" sz="1800">
                <a:solidFill>
                  <a:schemeClr val="dk2"/>
                </a:solidFill>
              </a:rPr>
              <a:t> point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5" name="Google Shape;345;p64"/>
          <p:cNvSpPr txBox="1"/>
          <p:nvPr/>
        </p:nvSpPr>
        <p:spPr>
          <a:xfrm>
            <a:off x="3368525" y="4508650"/>
            <a:ext cx="520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https://www.geeksforgeeks.org/coroutine-in-python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example</a:t>
            </a:r>
            <a:endParaRPr/>
          </a:p>
        </p:txBody>
      </p:sp>
      <p:sp>
        <p:nvSpPr>
          <p:cNvPr id="351" name="Google Shape;351;p65"/>
          <p:cNvSpPr txBox="1"/>
          <p:nvPr/>
        </p:nvSpPr>
        <p:spPr>
          <a:xfrm>
            <a:off x="90700" y="1088300"/>
            <a:ext cx="5156400" cy="166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rgbClr val="0000FF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print_name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(prefix):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50">
                <a:solidFill>
                  <a:srgbClr val="BA212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"Searching prefix:</a:t>
            </a:r>
            <a:r>
              <a:rPr b="1" lang="en" sz="1450">
                <a:solidFill>
                  <a:srgbClr val="A45A77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{}</a:t>
            </a:r>
            <a:r>
              <a:rPr b="1" lang="en" sz="1450">
                <a:solidFill>
                  <a:srgbClr val="BA212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format(prefix))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prefix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rgbClr val="AA22FF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name: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450">
                <a:solidFill>
                  <a:srgbClr val="008000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(name)</a:t>
            </a:r>
            <a:endParaRPr b="1" sz="145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p65"/>
          <p:cNvSpPr txBox="1"/>
          <p:nvPr/>
        </p:nvSpPr>
        <p:spPr>
          <a:xfrm>
            <a:off x="3328425" y="2036775"/>
            <a:ext cx="5611200" cy="29532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50">
                <a:solidFill>
                  <a:srgbClr val="3D7B7B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calling coroutine, nothing will happen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corou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60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print_name(</a:t>
            </a:r>
            <a:r>
              <a:rPr b="1" lang="en" sz="1450">
                <a:solidFill>
                  <a:srgbClr val="BA212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"Dear"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50">
                <a:solidFill>
                  <a:srgbClr val="3D7B7B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# This will start execution of coroutine and </a:t>
            </a:r>
            <a:endParaRPr b="1" i="1" sz="1450">
              <a:solidFill>
                <a:srgbClr val="3D7B7B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50">
                <a:solidFill>
                  <a:srgbClr val="3D7B7B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# Prints first line "Searching prefix..."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50">
                <a:solidFill>
                  <a:srgbClr val="3D7B7B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# and advance execution to the first yield expression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corou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450">
                <a:solidFill>
                  <a:srgbClr val="0000FF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__next__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450">
                <a:solidFill>
                  <a:srgbClr val="3D7B7B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# sending inputs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corou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send(</a:t>
            </a:r>
            <a:r>
              <a:rPr b="1" lang="en" sz="1450">
                <a:solidFill>
                  <a:srgbClr val="BA212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"Atul"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60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corou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send(</a:t>
            </a:r>
            <a:r>
              <a:rPr b="1" lang="en" sz="1450">
                <a:solidFill>
                  <a:srgbClr val="BA212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"Dear Atul"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sz="145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90500" rtl="0" algn="l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corou</a:t>
            </a:r>
            <a:r>
              <a:rPr b="1" lang="en" sz="1450">
                <a:solidFill>
                  <a:srgbClr val="666666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1" lang="en" sz="1450">
                <a:solidFill>
                  <a:schemeClr val="dk1"/>
                </a:solidFill>
                <a:highlight>
                  <a:schemeClr val="lt2"/>
                </a:highlight>
                <a:latin typeface="Consolas"/>
                <a:ea typeface="Consolas"/>
                <a:cs typeface="Consolas"/>
                <a:sym typeface="Consolas"/>
              </a:rPr>
              <a:t>close()</a:t>
            </a:r>
            <a:endParaRPr b="1" sz="1450">
              <a:solidFill>
                <a:schemeClr val="dk1"/>
              </a:solidFill>
              <a:highlight>
                <a:schemeClr val="lt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p65"/>
          <p:cNvSpPr txBox="1"/>
          <p:nvPr/>
        </p:nvSpPr>
        <p:spPr>
          <a:xfrm>
            <a:off x="-51825" y="4743300"/>
            <a:ext cx="699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https://www.geeksforgeeks.org/coroutine-in-python/</a:t>
            </a:r>
            <a:r>
              <a:rPr lang="en"/>
              <a:t> </a:t>
            </a:r>
            <a:endParaRPr/>
          </a:p>
        </p:txBody>
      </p:sp>
      <p:sp>
        <p:nvSpPr>
          <p:cNvPr id="354" name="Google Shape;354;p65"/>
          <p:cNvSpPr txBox="1"/>
          <p:nvPr/>
        </p:nvSpPr>
        <p:spPr>
          <a:xfrm>
            <a:off x="5428525" y="751450"/>
            <a:ext cx="3316800" cy="46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How to implement this in C?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Goroutines (Green threads) </a:t>
            </a:r>
            <a:endParaRPr/>
          </a:p>
        </p:txBody>
      </p:sp>
      <p:sp>
        <p:nvSpPr>
          <p:cNvPr id="360" name="Google Shape;360;p66"/>
          <p:cNvSpPr txBox="1"/>
          <p:nvPr>
            <p:ph idx="1" type="body"/>
          </p:nvPr>
        </p:nvSpPr>
        <p:spPr>
          <a:xfrm>
            <a:off x="311700" y="1017725"/>
            <a:ext cx="8252100" cy="8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</a:t>
            </a:r>
            <a:r>
              <a:rPr lang="en"/>
              <a:t>o language user level thread routines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Thread scheduler at the user level managed by Go </a:t>
            </a:r>
            <a:r>
              <a:rPr lang="en"/>
              <a:t>runtime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Stackless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  <p:sp>
        <p:nvSpPr>
          <p:cNvPr id="361" name="Google Shape;361;p66"/>
          <p:cNvSpPr txBox="1"/>
          <p:nvPr/>
        </p:nvSpPr>
        <p:spPr>
          <a:xfrm>
            <a:off x="152400" y="1981200"/>
            <a:ext cx="5415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package main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import (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"fmt"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"time"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func say(s string)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for i := 0; i &lt; 5; i++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	time.Sleep(100 * time.Millisecond)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	fmt.Println(s)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	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2" name="Google Shape;362;p66"/>
          <p:cNvSpPr txBox="1"/>
          <p:nvPr/>
        </p:nvSpPr>
        <p:spPr>
          <a:xfrm>
            <a:off x="4806650" y="2798475"/>
            <a:ext cx="3816300" cy="10467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func main()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solidFill>
                  <a:srgbClr val="EE0000"/>
                </a:solidFill>
                <a:latin typeface="Consolas"/>
                <a:ea typeface="Consolas"/>
                <a:cs typeface="Consolas"/>
                <a:sym typeface="Consolas"/>
              </a:rPr>
              <a:t>go say("world") // new goroutine</a:t>
            </a:r>
            <a:endParaRPr b="1">
              <a:solidFill>
                <a:srgbClr val="EE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say("hello")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</a:t>
            </a:r>
            <a:endParaRPr/>
          </a:p>
        </p:txBody>
      </p:sp>
      <p:sp>
        <p:nvSpPr>
          <p:cNvPr id="368" name="Google Shape;368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Multi-thread and process s</a:t>
            </a:r>
            <a:r>
              <a:rPr lang="en"/>
              <a:t>ynchronization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