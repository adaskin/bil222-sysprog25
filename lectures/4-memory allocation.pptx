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ffffbb91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ffffbb91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981f07a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981f07a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3981f07a63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3981f07a6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ffffbb9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ffffbb9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ffffbb91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ffffbb9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981f07a6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3981f07a6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ffffbb91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6ffffbb91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3981f07a6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3981f07a6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01026cb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01026cb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3981f07a63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3981f07a63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3981f07a63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3981f07a6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701026cbc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701026cbc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3981f07a63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3981f07a63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52ce40935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52ce40935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3981f07a63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3981f07a63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52ce40935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52ce40935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3981f07a6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3981f07a6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2ce4093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52ce4093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52ce40935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52ce40935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52ce40935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52ce40935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3981f07a63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3981f07a63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2ce40935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52ce40935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3981f07a63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3981f07a63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701026cb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701026cb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3981f07a63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3981f07a63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20d26baed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20d26baed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2ce40935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52ce40935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52ce40935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52ce40935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52ce40935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52ce40935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2ce40935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2ce40935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3981f07a63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3981f07a6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an example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2ce40935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52ce40935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an example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52ce40935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52ce40935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3981f07a63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3981f07a63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52ce40935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52ce40935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3981f07a63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3981f07a63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52ce40935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52ce40935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20d26baed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20d26baed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52ce40935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52ce40935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52ce40935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52ce40935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52ce40935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52ce40935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c704fb4d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c704fb4d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52ce40935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52ce40935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52ce40935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52ce40935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52ce40935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52ce40935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703cf4b98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703cf4b98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703cf4b98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703cf4b98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703cf4b98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703cf4b98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703cf4b98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703cf4b98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with code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250800"/>
            <a:ext cx="4504200" cy="6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4519725" y="1208350"/>
            <a:ext cx="44604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9"/>
          <p:cNvSpPr txBox="1"/>
          <p:nvPr>
            <p:ph idx="2" type="body"/>
          </p:nvPr>
        </p:nvSpPr>
        <p:spPr>
          <a:xfrm>
            <a:off x="372775" y="1208350"/>
            <a:ext cx="4222200" cy="3607500"/>
          </a:xfrm>
          <a:prstGeom prst="rect">
            <a:avLst/>
          </a:prstGeom>
          <a:effectLst>
            <a:outerShdw blurRad="57150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cod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216425"/>
            <a:ext cx="85206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72775" y="1208350"/>
            <a:ext cx="4222200" cy="3607500"/>
          </a:xfrm>
          <a:prstGeom prst="rect">
            <a:avLst/>
          </a:prstGeom>
          <a:effectLst>
            <a:outerShdw blurRad="57150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2" type="body"/>
          </p:nvPr>
        </p:nvSpPr>
        <p:spPr>
          <a:xfrm>
            <a:off x="4868575" y="1208350"/>
            <a:ext cx="4222200" cy="3607500"/>
          </a:xfrm>
          <a:prstGeom prst="rect">
            <a:avLst/>
          </a:prstGeom>
          <a:effectLst>
            <a:outerShdw blurRad="57150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●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Char char="○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Consolas"/>
              <a:buChar char="■"/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l.acm.org/doi/pdf/10.1145/800152.804907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en.wikipedia.org/wiki/Skip_lis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fork() system call</a:t>
            </a:r>
            <a:endParaRPr/>
          </a:p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 entire virtual address space of the parent is replicated in the child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time of fork() both memory spaces have the same content.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child process and the parent process run in separate memory spaces.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child inherits copies of the parent's set of open file  descriptors.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 file  descriptor  in the child refers to the same open file description (see open(2)) as the corresponding file  descriptor in  the parent.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means that the two file descriptors share open  file status flags, file offset,  and signal-driven  I/O  attributes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fork() system call</a:t>
            </a:r>
            <a:endParaRPr/>
          </a:p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On success, </a:t>
            </a:r>
            <a:r>
              <a:rPr lang="en" sz="1100"/>
              <a:t>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returns PID of the child process  in the parent, 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returns 0 in the child.  </a:t>
            </a:r>
            <a:endParaRPr sz="1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On failure,</a:t>
            </a:r>
            <a:r>
              <a:rPr lang="en" sz="1100"/>
              <a:t>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-1 is returned in the parent,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no child process is created,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and </a:t>
            </a:r>
            <a:r>
              <a:rPr b="1" lang="en" sz="1100"/>
              <a:t>errno</a:t>
            </a:r>
            <a:r>
              <a:rPr lang="en" sz="1100"/>
              <a:t> is set appropriately.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EAGAIN</a:t>
            </a:r>
            <a:r>
              <a:rPr lang="en" sz="1100"/>
              <a:t> A system-imposed limit on the number of threads was encountered. There are a number of limits that may trigger this error: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 sz="1100"/>
              <a:t>the kernel's system-wide limit on the number of processes and threads, </a:t>
            </a:r>
            <a:r>
              <a:rPr b="1" lang="en" sz="1100"/>
              <a:t> /proc/sys/kernel/threads-max,</a:t>
            </a:r>
            <a:r>
              <a:rPr lang="en" sz="1100"/>
              <a:t>  was   reached   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 sz="1100"/>
              <a:t>the  maximum  number  of  PIDs, </a:t>
            </a:r>
            <a:r>
              <a:rPr b="1" lang="en" sz="1100"/>
              <a:t>/proc/sys/kernel/pid_max</a:t>
            </a:r>
            <a:r>
              <a:rPr lang="en" sz="1100"/>
              <a:t>, was reached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 sz="1100"/>
              <a:t>For more see 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$man -S2 fork</a:t>
            </a:r>
            <a:endParaRPr b="1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 and file descriptors</a:t>
            </a:r>
            <a:endParaRPr/>
          </a:p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21F1F"/>
              </a:buClr>
              <a:buSzPts val="1400"/>
              <a:buChar char="★"/>
            </a:pPr>
            <a:r>
              <a:rPr b="1" lang="en">
                <a:solidFill>
                  <a:srgbClr val="E21F1F"/>
                </a:solidFill>
              </a:rPr>
              <a:t>File descriptors are copied in fork!</a:t>
            </a:r>
            <a:endParaRPr b="1">
              <a:solidFill>
                <a:srgbClr val="E21F1F"/>
              </a:solidFill>
            </a:endParaRPr>
          </a:p>
        </p:txBody>
      </p:sp>
      <p:sp>
        <p:nvSpPr>
          <p:cNvPr id="118" name="Google Shape;118;p28"/>
          <p:cNvSpPr txBox="1"/>
          <p:nvPr/>
        </p:nvSpPr>
        <p:spPr>
          <a:xfrm>
            <a:off x="384875" y="17004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one process reads one part the other reads another part 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file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(...);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(!fork())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(file, ...);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(file, ...);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8"/>
          <p:cNvSpPr txBox="1"/>
          <p:nvPr/>
        </p:nvSpPr>
        <p:spPr>
          <a:xfrm>
            <a:off x="5272400" y="1274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/*we have two file descriptors*/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(!fork())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file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(...);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(file, ...);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file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(...);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(file, ...);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wait() system calls</a:t>
            </a:r>
            <a:endParaRPr/>
          </a:p>
        </p:txBody>
      </p:sp>
      <p:sp>
        <p:nvSpPr>
          <p:cNvPr id="125" name="Google Shape;125;p29"/>
          <p:cNvSpPr txBox="1"/>
          <p:nvPr/>
        </p:nvSpPr>
        <p:spPr>
          <a:xfrm>
            <a:off x="311700" y="2456100"/>
            <a:ext cx="8250300" cy="2285700"/>
          </a:xfrm>
          <a:prstGeom prst="rect">
            <a:avLst/>
          </a:prstGeom>
          <a:noFill/>
          <a:ln cap="flat" cmpd="sng" w="9525">
            <a:solidFill>
              <a:srgbClr val="0986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/*example use*/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wait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waitpid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&amp;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/*more precise control: siginfo_t is a structure with pid, uid,status etc*/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waitid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idtype_t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idtype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siginfo_t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infop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29"/>
          <p:cNvSpPr txBox="1"/>
          <p:nvPr/>
        </p:nvSpPr>
        <p:spPr>
          <a:xfrm>
            <a:off x="6343900" y="317875"/>
            <a:ext cx="2548800" cy="2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&lt;sys/wait.h&gt;</a:t>
            </a:r>
            <a:endParaRPr b="1" sz="11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WIFEXITED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(status);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WIFSIGNALED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(status);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WIFSTOPPED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(status);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WIFCONTINUED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(status);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WEXITSTATUS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(status);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WTERMSIG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(status);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WSTOPSIG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(status);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WCOREDUMP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(status);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187875" y="4669100"/>
            <a:ext cx="529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See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man -S2 wait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9"/>
          <p:cNvSpPr txBox="1"/>
          <p:nvPr/>
        </p:nvSpPr>
        <p:spPr>
          <a:xfrm>
            <a:off x="363400" y="1156713"/>
            <a:ext cx="50496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&lt;sys/types.h&gt;</a:t>
            </a:r>
            <a:endParaRPr b="1" sz="1250">
              <a:solidFill>
                <a:srgbClr val="A3151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&lt;sys/wait.h&gt;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wait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waitpid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pid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281825" y="406500"/>
            <a:ext cx="2301900" cy="3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/*zombie process example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&lt;sys/wait.h&gt;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30"/>
          <p:cNvSpPr txBox="1"/>
          <p:nvPr/>
        </p:nvSpPr>
        <p:spPr>
          <a:xfrm>
            <a:off x="2583725" y="46375"/>
            <a:ext cx="6248700" cy="4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cpid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(cpid &gt;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"parent id: %d, child id = %d.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 cpid);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/*in terminal $ps aux |grep "defunct"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see the ZOMBIE process*/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/*wait for user input*/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w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wait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(w == -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"wait:"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(EXIT_FAILURE);   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"parent id: %d, ZOMBIE child id = %d.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w);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(EXIT_SUCCESS);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(cpid == -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"fork:"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(EXIT_FAILURE);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4078400" y="1017125"/>
            <a:ext cx="4504200" cy="6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fork-exec-wait</a:t>
            </a:r>
            <a:endParaRPr/>
          </a:p>
        </p:txBody>
      </p:sp>
      <p:pic>
        <p:nvPicPr>
          <p:cNvPr id="140" name="Google Shape;1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375" y="1886450"/>
            <a:ext cx="4886419" cy="16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1"/>
          <p:cNvSpPr txBox="1"/>
          <p:nvPr/>
        </p:nvSpPr>
        <p:spPr>
          <a:xfrm>
            <a:off x="368000" y="942525"/>
            <a:ext cx="61455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&lt;sys/types.h&gt;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&lt;sys/wait.h&gt;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pid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(pid &lt;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fork failure*/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(pid &gt;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waitpid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(pid,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execl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"/bin/ls"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"/bin/ls"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/*For safety.*/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5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variables</a:t>
            </a:r>
            <a:endParaRPr/>
          </a:p>
        </p:txBody>
      </p:sp>
      <p:sp>
        <p:nvSpPr>
          <p:cNvPr id="147" name="Google Shape;14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nvironment variables are variables that the system keeps for all processes to use.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Your system has these set up right now! In Bash, some are already defined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echo $HOME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echo $PATH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2"/>
          <p:cNvSpPr txBox="1"/>
          <p:nvPr/>
        </p:nvSpPr>
        <p:spPr>
          <a:xfrm>
            <a:off x="311700" y="4407600"/>
            <a:ext cx="852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Environment variables are important because they are inherited between processes and can be used to specify a standard set of behaviors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idx="1" type="body"/>
          </p:nvPr>
        </p:nvSpPr>
        <p:spPr>
          <a:xfrm>
            <a:off x="180650" y="420825"/>
            <a:ext cx="2885700" cy="14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echo $H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OME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echo $PATH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3"/>
          <p:cNvSpPr txBox="1"/>
          <p:nvPr>
            <p:ph idx="2" type="body"/>
          </p:nvPr>
        </p:nvSpPr>
        <p:spPr>
          <a:xfrm>
            <a:off x="2209075" y="238075"/>
            <a:ext cx="6534900" cy="16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 C;</a:t>
            </a:r>
            <a:endParaRPr b="1" sz="1600"/>
          </a:p>
          <a:p>
            <a:pPr indent="0" lvl="0" marL="0" rtl="0" algn="l">
              <a:lnSpc>
                <a:spcPct val="135714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getenv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setenv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overwrite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putenv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unsetenv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55" name="Google Shape;155;p33"/>
          <p:cNvSpPr txBox="1"/>
          <p:nvPr/>
        </p:nvSpPr>
        <p:spPr>
          <a:xfrm>
            <a:off x="311700" y="4407600"/>
            <a:ext cx="852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Environment variables are important because they are inherited between processes and can be used to specify a standard set of behaviors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2158375" y="2765625"/>
            <a:ext cx="4873500" cy="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/*example use*/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* home = </a:t>
            </a: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getenv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"HOME"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setenv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"HOME"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"/home/adaskin"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265500" y="1233175"/>
            <a:ext cx="2527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Allocators</a:t>
            </a:r>
            <a:endParaRPr/>
          </a:p>
        </p:txBody>
      </p:sp>
      <p:pic>
        <p:nvPicPr>
          <p:cNvPr id="162" name="Google Shape;1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575" y="324621"/>
            <a:ext cx="1682825" cy="43055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34"/>
          <p:cNvCxnSpPr>
            <a:endCxn id="164" idx="0"/>
          </p:cNvCxnSpPr>
          <p:nvPr/>
        </p:nvCxnSpPr>
        <p:spPr>
          <a:xfrm>
            <a:off x="4465025" y="2190700"/>
            <a:ext cx="2411100" cy="1058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34"/>
          <p:cNvSpPr txBox="1"/>
          <p:nvPr>
            <p:ph idx="2" type="body"/>
          </p:nvPr>
        </p:nvSpPr>
        <p:spPr>
          <a:xfrm>
            <a:off x="4954975" y="333375"/>
            <a:ext cx="3897600" cy="22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Memory allocation/deallocation is done by almost any application</a:t>
            </a:r>
            <a:endParaRPr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The heap at the system level is contiguous series of addresses that the program can expand or contract </a:t>
            </a:r>
            <a:endParaRPr/>
          </a:p>
        </p:txBody>
      </p:sp>
      <p:sp>
        <p:nvSpPr>
          <p:cNvPr id="164" name="Google Shape;164;p34"/>
          <p:cNvSpPr txBox="1"/>
          <p:nvPr/>
        </p:nvSpPr>
        <p:spPr>
          <a:xfrm>
            <a:off x="5053325" y="3249100"/>
            <a:ext cx="3645600" cy="1101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 LINUX, this is called the </a:t>
            </a:r>
            <a:r>
              <a:rPr b="1" lang="en">
                <a:solidFill>
                  <a:schemeClr val="accent5"/>
                </a:solidFill>
              </a:rPr>
              <a:t>program break</a:t>
            </a:r>
            <a:r>
              <a:rPr lang="en">
                <a:solidFill>
                  <a:schemeClr val="accent5"/>
                </a:solidFill>
              </a:rPr>
              <a:t>.</a:t>
            </a: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2000"/>
                </a:solidFill>
                <a:latin typeface="Courier New"/>
                <a:ea typeface="Courier New"/>
                <a:cs typeface="Courier New"/>
                <a:sym typeface="Courier New"/>
              </a:rPr>
              <a:t>brk</a:t>
            </a:r>
            <a:r>
              <a:rPr lang="en" sz="1200">
                <a:solidFill>
                  <a:srgbClr val="181818"/>
                </a:solidFill>
                <a:latin typeface="Courier New"/>
                <a:ea typeface="Courier New"/>
                <a:cs typeface="Courier New"/>
                <a:sym typeface="Courier New"/>
              </a:rPr>
              <a:t>() and </a:t>
            </a:r>
            <a:r>
              <a:rPr b="1" lang="en" sz="1200">
                <a:solidFill>
                  <a:srgbClr val="502000"/>
                </a:solidFill>
                <a:latin typeface="Courier New"/>
                <a:ea typeface="Courier New"/>
                <a:cs typeface="Courier New"/>
                <a:sym typeface="Courier New"/>
              </a:rPr>
              <a:t>sbrk</a:t>
            </a:r>
            <a:r>
              <a:rPr lang="en" sz="1200">
                <a:solidFill>
                  <a:srgbClr val="181818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>
                <a:solidFill>
                  <a:schemeClr val="dk1"/>
                </a:solidFill>
              </a:rPr>
              <a:t>change the location of the </a:t>
            </a:r>
            <a:r>
              <a:rPr b="1" lang="en">
                <a:solidFill>
                  <a:schemeClr val="accent5"/>
                </a:solidFill>
              </a:rPr>
              <a:t>program break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memory allocation API</a:t>
            </a:r>
            <a:endParaRPr/>
          </a:p>
        </p:txBody>
      </p:sp>
      <p:sp>
        <p:nvSpPr>
          <p:cNvPr id="171" name="Google Shape;17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/*Allocate SIZE bytes of memory.uninitialized!*/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72" name="Google Shape;172;p35"/>
          <p:cNvSpPr txBox="1"/>
          <p:nvPr/>
        </p:nvSpPr>
        <p:spPr>
          <a:xfrm>
            <a:off x="1961100" y="2493175"/>
            <a:ext cx="7671000" cy="23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*ptr;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 = (</a:t>
            </a: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*) </a:t>
            </a:r>
            <a:r>
              <a:rPr lang="en" sz="17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7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(ptr ==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7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abort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 u="sng">
              <a:solidFill>
                <a:srgbClr val="7453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memset</a:t>
            </a:r>
            <a:r>
              <a:rPr b="1" lang="en" sz="170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700" u="sng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" sz="170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700" u="sng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70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700" u="sng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b="1" lang="en" sz="170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700" u="sng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1" lang="en" sz="170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foo));</a:t>
            </a:r>
            <a:endParaRPr b="1" sz="2050" u="sng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/>
        </p:nvSpPr>
        <p:spPr>
          <a:xfrm>
            <a:off x="307550" y="313000"/>
            <a:ext cx="6309300" cy="212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*ptr;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 =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(ptr == 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abort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memset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foo));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36"/>
          <p:cNvSpPr txBox="1"/>
          <p:nvPr/>
        </p:nvSpPr>
        <p:spPr>
          <a:xfrm>
            <a:off x="241325" y="2516550"/>
            <a:ext cx="6723000" cy="126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*ptr[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];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/*10 pointers for integer-addresses*/</a:t>
            </a:r>
            <a:endParaRPr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ptr[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ptr[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36"/>
          <p:cNvSpPr txBox="1"/>
          <p:nvPr/>
        </p:nvSpPr>
        <p:spPr>
          <a:xfrm>
            <a:off x="241325" y="4122250"/>
            <a:ext cx="6016500" cy="687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**ptr; </a:t>
            </a: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a pointer to for the address of apointer*/</a:t>
            </a:r>
            <a:endParaRPr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 =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**)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*)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36"/>
          <p:cNvSpPr txBox="1"/>
          <p:nvPr>
            <p:ph type="title"/>
          </p:nvPr>
        </p:nvSpPr>
        <p:spPr>
          <a:xfrm>
            <a:off x="6817900" y="445025"/>
            <a:ext cx="201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memory allocation API</a:t>
            </a:r>
            <a:endParaRPr/>
          </a:p>
        </p:txBody>
      </p:sp>
      <p:sp>
        <p:nvSpPr>
          <p:cNvPr id="186" name="Google Shape;186;p37"/>
          <p:cNvSpPr txBox="1"/>
          <p:nvPr>
            <p:ph idx="2" type="body"/>
          </p:nvPr>
        </p:nvSpPr>
        <p:spPr>
          <a:xfrm>
            <a:off x="698900" y="1135225"/>
            <a:ext cx="6489600" cy="14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Allocate NMEMB elements of SIZE bytes each,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all initialized to 0.*/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calloc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nmemb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87" name="Google Shape;187;p37"/>
          <p:cNvSpPr txBox="1"/>
          <p:nvPr/>
        </p:nvSpPr>
        <p:spPr>
          <a:xfrm>
            <a:off x="2362250" y="2440750"/>
            <a:ext cx="60108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*ptr;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 = (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*) </a:t>
            </a:r>
            <a:r>
              <a:rPr b="1"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calloc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calloc:</a:t>
            </a:r>
            <a:r>
              <a:rPr lang="en" sz="15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(EXIT_FAILURE);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idx="4294967295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8"/>
          <p:cNvSpPr txBox="1"/>
          <p:nvPr/>
        </p:nvSpPr>
        <p:spPr>
          <a:xfrm>
            <a:off x="759250" y="1454725"/>
            <a:ext cx="7326600" cy="2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7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calloc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eltsize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7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" sz="17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eltsize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7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7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7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7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lang="en" sz="17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7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memset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7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7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7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7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7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38"/>
          <p:cNvSpPr txBox="1"/>
          <p:nvPr/>
        </p:nvSpPr>
        <p:spPr>
          <a:xfrm>
            <a:off x="4403150" y="1777300"/>
            <a:ext cx="4265400" cy="29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A simple Implementation of calloc()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/>
        </p:nvSpPr>
        <p:spPr>
          <a:xfrm>
            <a:off x="1078125" y="1544450"/>
            <a:ext cx="5929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xrealloc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5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realloc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5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" sz="15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perror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Virtual memory exhausted</a:t>
            </a:r>
            <a:r>
              <a:rPr lang="en" sz="15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1" name="Google Shape;20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Changing the size of the allocated memory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free()</a:t>
            </a:r>
            <a:endParaRPr/>
          </a:p>
        </p:txBody>
      </p:sp>
      <p:sp>
        <p:nvSpPr>
          <p:cNvPr id="207" name="Google Shape;207;p40"/>
          <p:cNvSpPr txBox="1"/>
          <p:nvPr>
            <p:ph idx="1" type="body"/>
          </p:nvPr>
        </p:nvSpPr>
        <p:spPr>
          <a:xfrm>
            <a:off x="233525" y="1152475"/>
            <a:ext cx="8598900" cy="37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Usually, allows a later call to malloc to reuse the space.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 the meantime, the space remains in your program as part of a free-list used internally by malloc.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Occasionally, free can actually return memory to the operating system and make the process smaller.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Any use of a pointer that refers to freed space results in  undefined behavior.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0"/>
          <p:cNvSpPr txBox="1"/>
          <p:nvPr/>
        </p:nvSpPr>
        <p:spPr>
          <a:xfrm>
            <a:off x="399425" y="1152475"/>
            <a:ext cx="33153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*ptr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(*ptr));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do_something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(ptr);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(ptr);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free()</a:t>
            </a:r>
            <a:endParaRPr/>
          </a:p>
        </p:txBody>
      </p:sp>
      <p:sp>
        <p:nvSpPr>
          <p:cNvPr id="214" name="Google Shape;214;p41"/>
          <p:cNvSpPr txBox="1"/>
          <p:nvPr/>
        </p:nvSpPr>
        <p:spPr>
          <a:xfrm>
            <a:off x="517925" y="1955025"/>
            <a:ext cx="26544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*next;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*name;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7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" name="Google Shape;215;p41"/>
          <p:cNvSpPr txBox="1"/>
          <p:nvPr>
            <p:ph idx="1" type="body"/>
          </p:nvPr>
        </p:nvSpPr>
        <p:spPr>
          <a:xfrm>
            <a:off x="414500" y="1152475"/>
            <a:ext cx="84177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Freeing a block alters the contents of the block.  Copy whatever you need out of the block before freeing it!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1"/>
          <p:cNvSpPr txBox="1"/>
          <p:nvPr/>
        </p:nvSpPr>
        <p:spPr>
          <a:xfrm>
            <a:off x="3542950" y="1887375"/>
            <a:ext cx="51795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free_chain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-&gt;next;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-&gt;name);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chain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/>
        </p:nvSpPr>
        <p:spPr>
          <a:xfrm>
            <a:off x="520500" y="1175350"/>
            <a:ext cx="86235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realloc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newsize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/*Simple implementation always reserves more memory  and has no error checking*/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*result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(newsize);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oldsize = ... 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/*(depends on allocator’s internal data*/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(ptr){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memcpy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(result, ptr, newsize &lt; oldsize ? newsize : oldsize);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(ptr);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result;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realloc(): </a:t>
            </a:r>
            <a:r>
              <a:rPr lang="en" sz="1400"/>
              <a:t>changes the size of the memory block to </a:t>
            </a:r>
            <a:r>
              <a:rPr b="1"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newsize</a:t>
            </a:r>
            <a:r>
              <a:rPr lang="en" sz="1400"/>
              <a:t> bytes.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1252500" y="3844275"/>
            <a:ext cx="2460900" cy="10239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If realloc fails then the program </a:t>
            </a:r>
            <a:r>
              <a:rPr b="1" lang="en" sz="1400"/>
              <a:t>leaks memory.</a:t>
            </a:r>
            <a:endParaRPr b="1"/>
          </a:p>
        </p:txBody>
      </p:sp>
      <p:sp>
        <p:nvSpPr>
          <p:cNvPr id="228" name="Google Shape;228;p43"/>
          <p:cNvSpPr txBox="1"/>
          <p:nvPr/>
        </p:nvSpPr>
        <p:spPr>
          <a:xfrm>
            <a:off x="82850" y="63550"/>
            <a:ext cx="86235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realloc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newsize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/*Simple implementation always reserves more memory  and has no error checking*/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*result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(newsize);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oldsize = ... 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/*(depends on allocator’s internal data*/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(ptr){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memcpy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(result, ptr, newsize &lt; oldsize ? newsize : oldsize);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(ptr);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result;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43"/>
          <p:cNvSpPr txBox="1"/>
          <p:nvPr/>
        </p:nvSpPr>
        <p:spPr>
          <a:xfrm>
            <a:off x="3803425" y="2415250"/>
            <a:ext cx="5112000" cy="272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/* 1 */</a:t>
            </a:r>
            <a:endParaRPr b="1" sz="1250">
              <a:solidFill>
                <a:srgbClr val="008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*array = </a:t>
            </a: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 * 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/* Oops need a bigger array - </a:t>
            </a:r>
            <a:endParaRPr b="1" sz="1250">
              <a:solidFill>
                <a:srgbClr val="008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so use realloc..*/</a:t>
            </a:r>
            <a:endParaRPr b="1" sz="1250">
              <a:solidFill>
                <a:srgbClr val="008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array = </a:t>
            </a: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realloc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(array, 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4"/>
          <p:cNvSpPr txBox="1"/>
          <p:nvPr>
            <p:ph type="title"/>
          </p:nvPr>
        </p:nvSpPr>
        <p:spPr>
          <a:xfrm>
            <a:off x="85600" y="9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leaks</a:t>
            </a:r>
            <a:endParaRPr/>
          </a:p>
        </p:txBody>
      </p:sp>
      <p:sp>
        <p:nvSpPr>
          <p:cNvPr id="235" name="Google Shape;235;p44"/>
          <p:cNvSpPr txBox="1"/>
          <p:nvPr>
            <p:ph idx="2" type="body"/>
          </p:nvPr>
        </p:nvSpPr>
        <p:spPr>
          <a:xfrm>
            <a:off x="2792900" y="487500"/>
            <a:ext cx="4026600" cy="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More robust version</a:t>
            </a:r>
            <a:endParaRPr/>
          </a:p>
        </p:txBody>
      </p:sp>
      <p:sp>
        <p:nvSpPr>
          <p:cNvPr id="236" name="Google Shape;236;p44"/>
          <p:cNvSpPr txBox="1"/>
          <p:nvPr/>
        </p:nvSpPr>
        <p:spPr>
          <a:xfrm>
            <a:off x="690300" y="786050"/>
            <a:ext cx="7682700" cy="4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*array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*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 u="sng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25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250" u="sng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b="1" lang="en" sz="125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50" u="sng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realloc</a:t>
            </a:r>
            <a:r>
              <a:rPr b="1" lang="en" sz="125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50" u="sng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b="1" lang="en" sz="125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50" u="sng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25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b="1" lang="en" sz="1250" u="sng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b="1" lang="en" sz="125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50" u="sng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50" u="sng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250" u="sng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(tmp ==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  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/*Nothing to do here.*/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(tmp == array) {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/*realloc returned same space*/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r>
              <a:rPr b="1" lang="en" sz="125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realloc returned different space 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array = tmp;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and sbrk() system call</a:t>
            </a:r>
            <a:endParaRPr/>
          </a:p>
        </p:txBody>
      </p:sp>
      <p:sp>
        <p:nvSpPr>
          <p:cNvPr id="242" name="Google Shape;242;p45"/>
          <p:cNvSpPr txBox="1"/>
          <p:nvPr>
            <p:ph idx="1" type="body"/>
          </p:nvPr>
        </p:nvSpPr>
        <p:spPr>
          <a:xfrm>
            <a:off x="259125" y="1152475"/>
            <a:ext cx="4052400" cy="3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</a:t>
            </a:r>
            <a:r>
              <a:rPr lang="en" sz="1600"/>
              <a:t>he heap is part of the process memory and varies in size.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Heap memory allocation is performed by the C library when a program calls malloc</a:t>
            </a:r>
            <a:r>
              <a:rPr lang="en" sz="1600"/>
              <a:t> ( </a:t>
            </a:r>
            <a:r>
              <a:rPr lang="en" sz="1600"/>
              <a:t>calloc , realloc ) and free . 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By calling </a:t>
            </a:r>
            <a:r>
              <a:rPr b="1" lang="en" sz="1600"/>
              <a:t>sbrk() </a:t>
            </a:r>
            <a:r>
              <a:rPr lang="en" sz="1600"/>
              <a:t>the C library can increase the size of the heap as your program demands more heap memory.</a:t>
            </a:r>
            <a:endParaRPr sz="1600"/>
          </a:p>
        </p:txBody>
      </p:sp>
      <p:sp>
        <p:nvSpPr>
          <p:cNvPr id="243" name="Google Shape;243;p45"/>
          <p:cNvSpPr txBox="1"/>
          <p:nvPr/>
        </p:nvSpPr>
        <p:spPr>
          <a:xfrm>
            <a:off x="4981375" y="1656500"/>
            <a:ext cx="3896400" cy="25407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Modern operating system memory allocators no longer need sbrk. </a:t>
            </a:r>
            <a:r>
              <a:rPr lang="en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Instead, they can request independent regions of virtual memory and maintain multiple memory regions (mmap).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Sbrk may be used for small memory requests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Changing the location of the program break</a:t>
            </a:r>
            <a:endParaRPr/>
          </a:p>
        </p:txBody>
      </p:sp>
      <p:sp>
        <p:nvSpPr>
          <p:cNvPr id="249" name="Google Shape;249;p46"/>
          <p:cNvSpPr txBox="1"/>
          <p:nvPr>
            <p:ph idx="1" type="body"/>
          </p:nvPr>
        </p:nvSpPr>
        <p:spPr>
          <a:xfrm>
            <a:off x="311700" y="1152475"/>
            <a:ext cx="758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 sz="13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brk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end_data_addr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sets the end of the calling process’ data segment to </a:t>
            </a:r>
            <a:r>
              <a:rPr b="1" lang="en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end_data_addr</a:t>
            </a:r>
            <a:r>
              <a:rPr b="1" lang="en" sz="1700"/>
              <a:t>. </a:t>
            </a:r>
            <a:endParaRPr b="1"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35714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sbrk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3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intptr_t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increment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Increases the current end by </a:t>
            </a:r>
            <a:r>
              <a:rPr b="1" lang="en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increment</a:t>
            </a:r>
            <a:endParaRPr b="1" sz="1700"/>
          </a:p>
          <a:p>
            <a:pPr indent="0" lvl="0" marL="0" rtl="0" algn="l">
              <a:lnSpc>
                <a:spcPct val="135714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sbrk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" sz="1700"/>
              <a:t> returns the current location of the program break</a:t>
            </a:r>
            <a:endParaRPr b="1" sz="17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On error,  errno is set to ENOMEM</a:t>
            </a:r>
            <a:endParaRPr b="1"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 on sbrk</a:t>
            </a:r>
            <a:endParaRPr/>
          </a:p>
        </p:txBody>
      </p:sp>
      <p:sp>
        <p:nvSpPr>
          <p:cNvPr id="255" name="Google Shape;255;p47"/>
          <p:cNvSpPr txBox="1"/>
          <p:nvPr>
            <p:ph idx="2" type="body"/>
          </p:nvPr>
        </p:nvSpPr>
        <p:spPr>
          <a:xfrm>
            <a:off x="543775" y="1173875"/>
            <a:ext cx="8288400" cy="3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Program break:</a:t>
            </a:r>
            <a:r>
              <a:rPr lang="en" sz="1700"/>
              <a:t> the end of the process's data segment (i.e., the program break is the first location after the end of the uninitialized data segment).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Programs don’t need to call </a:t>
            </a:r>
            <a:r>
              <a:rPr b="1" lang="en" sz="1700"/>
              <a:t>brk</a:t>
            </a:r>
            <a:r>
              <a:rPr lang="en" sz="1700"/>
              <a:t> or </a:t>
            </a:r>
            <a:r>
              <a:rPr b="1" lang="en" sz="1700"/>
              <a:t>sbrk</a:t>
            </a:r>
            <a:r>
              <a:rPr lang="en" sz="1700"/>
              <a:t> typically.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Instead programs use </a:t>
            </a:r>
            <a:r>
              <a:rPr b="1" lang="en" sz="1700"/>
              <a:t>malloc , calloc , realloc </a:t>
            </a:r>
            <a:r>
              <a:rPr lang="en" sz="1700"/>
              <a:t>and </a:t>
            </a:r>
            <a:r>
              <a:rPr b="1" lang="en" sz="1700"/>
              <a:t>free</a:t>
            </a:r>
            <a:r>
              <a:rPr lang="en" sz="1700"/>
              <a:t> which are part of the C library. 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internal implementation of these functions may call </a:t>
            </a:r>
            <a:r>
              <a:rPr b="1" lang="en" sz="1700"/>
              <a:t>sbrk</a:t>
            </a:r>
            <a:r>
              <a:rPr lang="en" sz="1700"/>
              <a:t> or other system calls (such as </a:t>
            </a:r>
            <a:r>
              <a:rPr b="1" lang="en" sz="1700"/>
              <a:t>mmap</a:t>
            </a:r>
            <a:r>
              <a:rPr lang="en" sz="1700"/>
              <a:t>) when additional heap memory is required.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 txBox="1"/>
          <p:nvPr>
            <p:ph idx="2" type="body"/>
          </p:nvPr>
        </p:nvSpPr>
        <p:spPr>
          <a:xfrm>
            <a:off x="310950" y="3522700"/>
            <a:ext cx="8464800" cy="11835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The memory that was newly obtained by the operating system must be zeroed out (otherwise security leak).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But, later calls are not always zero.</a:t>
            </a:r>
            <a:endParaRPr b="1" sz="1600"/>
          </a:p>
        </p:txBody>
      </p:sp>
      <p:sp>
        <p:nvSpPr>
          <p:cNvPr id="261" name="Google Shape;261;p48"/>
          <p:cNvSpPr txBox="1"/>
          <p:nvPr/>
        </p:nvSpPr>
        <p:spPr>
          <a:xfrm>
            <a:off x="310950" y="466425"/>
            <a:ext cx="8464800" cy="2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*top_of_heap =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sbrk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453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sbrk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1024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16384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implementation is different on different systems (virtual memory etc)*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*top_of_heap2 = 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sbrk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The top of heap went from </a:t>
            </a:r>
            <a:r>
              <a:rPr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%p</a:t>
            </a:r>
            <a:r>
              <a:rPr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to </a:t>
            </a:r>
            <a:r>
              <a:rPr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%p</a:t>
            </a:r>
            <a:r>
              <a:rPr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top_of_heap,top_of_heap2);</a:t>
            </a:r>
            <a:endParaRPr b="1" sz="17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 txBox="1"/>
          <p:nvPr/>
        </p:nvSpPr>
        <p:spPr>
          <a:xfrm>
            <a:off x="310950" y="700800"/>
            <a:ext cx="8618100" cy="4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 ptr = </a:t>
            </a:r>
            <a:r>
              <a:rPr b="1" lang="en" sz="15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/*contents is probably zero because we get brand new memory so beginner programs appear to work!*/</a:t>
            </a:r>
            <a:endParaRPr b="1" sz="1550">
              <a:solidFill>
                <a:srgbClr val="FF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//strcpy(ptr, "Some data"); /*work with the data*/</a:t>
            </a:r>
            <a:endParaRPr b="1" sz="15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(ptr);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later*/</a:t>
            </a:r>
            <a:endParaRPr b="1" sz="15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*ptr2 = </a:t>
            </a:r>
            <a:r>
              <a:rPr b="1" lang="en" sz="15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/*Contents might now contain existing data and is probably not zero*/</a:t>
            </a:r>
            <a:endParaRPr b="1" sz="1550">
              <a:solidFill>
                <a:srgbClr val="FF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malloc() and free()</a:t>
            </a:r>
            <a:endParaRPr/>
          </a:p>
        </p:txBody>
      </p:sp>
      <p:sp>
        <p:nvSpPr>
          <p:cNvPr id="272" name="Google Shape;272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simplest implementation of malloc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the system for more bytes by extending the heap space.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sbrk returns -1 on failure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1"/>
          <p:cNvSpPr txBox="1"/>
          <p:nvPr>
            <p:ph idx="2" type="body"/>
          </p:nvPr>
        </p:nvSpPr>
        <p:spPr>
          <a:xfrm>
            <a:off x="4654850" y="751450"/>
            <a:ext cx="4177500" cy="3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Drawbacks</a:t>
            </a:r>
            <a:r>
              <a:rPr lang="en" sz="1700"/>
              <a:t>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System calls are slow compared to library calls.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We should reserve a large amount of memory and only occasionally ask for more from the system.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No reuse of freed memory. </a:t>
            </a:r>
            <a:endParaRPr b="1"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Our program never re-uses heap memory - it keeps asking for a bigger heap.</a:t>
            </a:r>
            <a:endParaRPr sz="1700"/>
          </a:p>
        </p:txBody>
      </p:sp>
      <p:sp>
        <p:nvSpPr>
          <p:cNvPr id="278" name="Google Shape;278;p51"/>
          <p:cNvSpPr txBox="1"/>
          <p:nvPr/>
        </p:nvSpPr>
        <p:spPr>
          <a:xfrm>
            <a:off x="246650" y="1443725"/>
            <a:ext cx="4408200" cy="24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sbrk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*)-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No space left*/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Do nothing 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Reusing a memory </a:t>
            </a:r>
            <a:endParaRPr/>
          </a:p>
        </p:txBody>
      </p:sp>
      <p:sp>
        <p:nvSpPr>
          <p:cNvPr id="284" name="Google Shape;284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During program execution, memory is allocated and deallocated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 there will be a gap in the heap memory that can be re-used for future memory requests. 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memory allocator needs to keep track of which parts of the heap are currently allocated and which are parts are available.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85" name="Google Shape;285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Free space management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A31515"/>
              </a:buClr>
              <a:buSzPts val="1800"/>
              <a:buChar char="●"/>
            </a:pPr>
            <a:r>
              <a:rPr lang="en" sz="1800">
                <a:solidFill>
                  <a:srgbClr val="A31515"/>
                </a:solidFill>
              </a:rPr>
              <a:t>How to implement?</a:t>
            </a:r>
            <a:endParaRPr sz="1800">
              <a:solidFill>
                <a:srgbClr val="A31515"/>
              </a:solidFill>
            </a:endParaRPr>
          </a:p>
          <a:p>
            <a:pPr indent="-330200" lvl="1" marL="914400" rtl="0" algn="l">
              <a:spcBef>
                <a:spcPts val="1600"/>
              </a:spcBef>
              <a:spcAft>
                <a:spcPts val="0"/>
              </a:spcAft>
              <a:buClr>
                <a:srgbClr val="A31515"/>
              </a:buClr>
              <a:buSzPts val="1600"/>
              <a:buChar char="○"/>
            </a:pPr>
            <a:r>
              <a:rPr lang="en" sz="1600">
                <a:solidFill>
                  <a:srgbClr val="A31515"/>
                </a:solidFill>
              </a:rPr>
              <a:t>An array, list?</a:t>
            </a:r>
            <a:endParaRPr sz="1600">
              <a:solidFill>
                <a:srgbClr val="A31515"/>
              </a:solidFill>
            </a:endParaRPr>
          </a:p>
          <a:p>
            <a:pPr indent="-330200" lvl="1" marL="914400" rtl="0" algn="l">
              <a:spcBef>
                <a:spcPts val="16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How to keep track of free/not-free?</a:t>
            </a:r>
            <a:endParaRPr sz="1600"/>
          </a:p>
          <a:p>
            <a:pPr indent="-330200" lvl="1" marL="914400" rtl="0" algn="l">
              <a:spcBef>
                <a:spcPts val="1600"/>
              </a:spcBef>
              <a:spcAft>
                <a:spcPts val="1600"/>
              </a:spcAft>
              <a:buSzPts val="1600"/>
              <a:buChar char="○"/>
            </a:pPr>
            <a:r>
              <a:rPr lang="en" sz="1600"/>
              <a:t>Placement strategy?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Placement Strategies</a:t>
            </a:r>
            <a:endParaRPr/>
          </a:p>
        </p:txBody>
      </p:sp>
      <p:sp>
        <p:nvSpPr>
          <p:cNvPr id="291" name="Google Shape;29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92" name="Google Shape;29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698" y="1148173"/>
            <a:ext cx="6392575" cy="20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53"/>
          <p:cNvSpPr txBox="1"/>
          <p:nvPr/>
        </p:nvSpPr>
        <p:spPr>
          <a:xfrm>
            <a:off x="220250" y="2705575"/>
            <a:ext cx="7881300" cy="20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b="1" lang="en" sz="2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2048</a:t>
            </a:r>
            <a:r>
              <a:rPr b="1" lang="en" sz="2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2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where should malloc reserve the memory?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First fit strategy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Next fit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Best fit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Worst fit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Placement Strategies</a:t>
            </a:r>
            <a:endParaRPr/>
          </a:p>
        </p:txBody>
      </p:sp>
      <p:sp>
        <p:nvSpPr>
          <p:cNvPr id="299" name="Google Shape;299;p54"/>
          <p:cNvSpPr txBox="1"/>
          <p:nvPr>
            <p:ph idx="1" type="body"/>
          </p:nvPr>
        </p:nvSpPr>
        <p:spPr>
          <a:xfrm>
            <a:off x="311700" y="1152475"/>
            <a:ext cx="4779900" cy="3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 first-fit strategy</a:t>
            </a:r>
            <a:r>
              <a:rPr lang="en" sz="1600"/>
              <a:t> finds the first available hole that is of sufficient size so break the 16KiB hole into two.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We don’t have to look through the entire heap!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Next fit</a:t>
            </a:r>
            <a:r>
              <a:rPr lang="en" sz="1600"/>
              <a:t> starts where it is left off in the previous allocation  i</a:t>
            </a:r>
            <a:r>
              <a:rPr lang="en" sz="1600"/>
              <a:t>nstead of starting from the beginning of the heap</a:t>
            </a:r>
            <a:r>
              <a:rPr lang="en" sz="1600"/>
              <a:t>. </a:t>
            </a:r>
            <a:endParaRPr sz="1600"/>
          </a:p>
        </p:txBody>
      </p:sp>
      <p:pic>
        <p:nvPicPr>
          <p:cNvPr id="300" name="Google Shape;30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775" y="1014498"/>
            <a:ext cx="3721650" cy="31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Placement Strategies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perfect-fit strategy (best-fit) </a:t>
            </a:r>
            <a:r>
              <a:rPr lang="en"/>
              <a:t>finds the smallest hole that is of sufficient size (at least 2KiB)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672" y="2453350"/>
            <a:ext cx="6209624" cy="21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Placement Strategies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</a:t>
            </a:r>
            <a:r>
              <a:rPr b="1" lang="en"/>
              <a:t> worst-fit strategy</a:t>
            </a:r>
            <a:r>
              <a:rPr lang="en"/>
              <a:t> finds the largest hole that is of sufficient size so break the 30KiB hole into two:</a:t>
            </a:r>
            <a:endParaRPr/>
          </a:p>
        </p:txBody>
      </p:sp>
      <p:pic>
        <p:nvPicPr>
          <p:cNvPr id="314" name="Google Shape;31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25" y="1949650"/>
            <a:ext cx="5753151" cy="277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7"/>
          <p:cNvSpPr txBox="1"/>
          <p:nvPr>
            <p:ph idx="1" type="body"/>
          </p:nvPr>
        </p:nvSpPr>
        <p:spPr>
          <a:xfrm>
            <a:off x="235500" y="1076275"/>
            <a:ext cx="812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" sz="2000"/>
              <a:t>internal fragmentation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Example: 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F</a:t>
            </a:r>
            <a:r>
              <a:rPr lang="en" sz="2000"/>
              <a:t>irst fit allocator could have returned the original 16KiB block unbroken. </a:t>
            </a:r>
            <a:endParaRPr sz="2000"/>
          </a:p>
          <a:p>
            <a:pPr indent="-346075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User wants 2KiB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Malloc returns 16KiB </a:t>
            </a:r>
            <a:endParaRPr sz="2000"/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600"/>
              <a:t>2KiB used by the user</a:t>
            </a:r>
            <a:endParaRPr sz="1600"/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1600"/>
              <a:t>14KiB unused</a:t>
            </a:r>
            <a:r>
              <a:rPr lang="en" sz="1600"/>
              <a:t> by the user and the allocator.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The unused </a:t>
            </a:r>
            <a:r>
              <a:rPr b="1" lang="en" sz="1600"/>
              <a:t>14KiB</a:t>
            </a:r>
            <a:r>
              <a:rPr lang="en" sz="2000"/>
              <a:t> is i</a:t>
            </a:r>
            <a:r>
              <a:rPr b="1" lang="en" sz="2000"/>
              <a:t>nternal fragmentation.</a:t>
            </a:r>
            <a:endParaRPr sz="2000"/>
          </a:p>
        </p:txBody>
      </p:sp>
      <p:sp>
        <p:nvSpPr>
          <p:cNvPr id="320" name="Google Shape;32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Fragmentations</a:t>
            </a:r>
            <a:endParaRPr/>
          </a:p>
        </p:txBody>
      </p:sp>
      <p:pic>
        <p:nvPicPr>
          <p:cNvPr id="321" name="Google Shape;32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4675" y="2893150"/>
            <a:ext cx="360997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8"/>
          <p:cNvSpPr txBox="1"/>
          <p:nvPr>
            <p:ph idx="2" type="body"/>
          </p:nvPr>
        </p:nvSpPr>
        <p:spPr>
          <a:xfrm>
            <a:off x="129550" y="941525"/>
            <a:ext cx="8702700" cy="17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external fragmentation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even though we have enough memory in the heap, but not continuous!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it is divided up in a way so there is no continuous block of required memory.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Example we have 39KiB free memory, but cannot allocate 32KiB  </a:t>
            </a:r>
            <a:endParaRPr sz="1600"/>
          </a:p>
        </p:txBody>
      </p:sp>
      <p:sp>
        <p:nvSpPr>
          <p:cNvPr id="327" name="Google Shape;327;p58"/>
          <p:cNvSpPr txBox="1"/>
          <p:nvPr/>
        </p:nvSpPr>
        <p:spPr>
          <a:xfrm>
            <a:off x="6533500" y="3518475"/>
            <a:ext cx="22236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</a:t>
            </a:r>
            <a:r>
              <a:rPr lang="en"/>
              <a:t>Anonymous memory mapping through mmap resolves external fragmentation.</a:t>
            </a:r>
            <a:endParaRPr/>
          </a:p>
        </p:txBody>
      </p:sp>
      <p:sp>
        <p:nvSpPr>
          <p:cNvPr id="328" name="Google Shape;32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Fragmentations</a:t>
            </a:r>
            <a:endParaRPr/>
          </a:p>
        </p:txBody>
      </p:sp>
      <p:pic>
        <p:nvPicPr>
          <p:cNvPr id="329" name="Google Shape;32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2959575"/>
            <a:ext cx="5718252" cy="19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 of writing a heap allocator </a:t>
            </a:r>
            <a:endParaRPr/>
          </a:p>
        </p:txBody>
      </p:sp>
      <p:sp>
        <p:nvSpPr>
          <p:cNvPr id="335" name="Google Shape;335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minimize fragmentation (i.e. maximize memory utilization)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high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Fiddly implementation – lots of pointer manipulation using linked lists and pointer arithmetic.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 of writing a heap allocator </a:t>
            </a:r>
            <a:endParaRPr/>
          </a:p>
        </p:txBody>
      </p:sp>
      <p:sp>
        <p:nvSpPr>
          <p:cNvPr id="341" name="Google Shape;341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Both fragmentation and performance depend on the application allocation profile, 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this can be evaluated but not predicted and in practice,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under-specific usage conditions, a special-purpose allocator can oftenout-perform a general-purpose implementation.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The allocator doesn’t know the program’s memory allocation requests in advance.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Even if we did, this is</a:t>
            </a:r>
            <a:r>
              <a:rPr b="1" lang="en" sz="2100"/>
              <a:t> the Knapsack problem</a:t>
            </a:r>
            <a:r>
              <a:rPr lang="en" sz="2100"/>
              <a:t> which is known to be</a:t>
            </a:r>
            <a:r>
              <a:rPr b="1" lang="en" sz="2100"/>
              <a:t> NP-hard</a:t>
            </a:r>
            <a:r>
              <a:rPr lang="en" sz="2100"/>
              <a:t>!</a:t>
            </a:r>
            <a:endParaRPr sz="2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Placement Strategy Pros and Cons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1"/>
          <p:cNvSpPr txBox="1"/>
          <p:nvPr>
            <p:ph idx="1" type="body"/>
          </p:nvPr>
        </p:nvSpPr>
        <p:spPr>
          <a:xfrm>
            <a:off x="311700" y="1152475"/>
            <a:ext cx="790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Theoretical Analysis: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The problem of bin packing.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Given a list A = (α</a:t>
            </a:r>
            <a:r>
              <a:rPr baseline="-25000" lang="en" sz="1600">
                <a:solidFill>
                  <a:schemeClr val="dk1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,α</a:t>
            </a:r>
            <a:r>
              <a:rPr baseline="-25000" lang="en" sz="1600">
                <a:solidFill>
                  <a:schemeClr val="dk1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,...α</a:t>
            </a:r>
            <a:r>
              <a:rPr baseline="-25000" lang="en" sz="1600">
                <a:solidFill>
                  <a:schemeClr val="dk1"/>
                </a:solidFill>
              </a:rPr>
              <a:t>n</a:t>
            </a:r>
            <a:r>
              <a:rPr lang="en" sz="1600">
                <a:solidFill>
                  <a:schemeClr val="dk1"/>
                </a:solidFill>
              </a:rPr>
              <a:t>,) of real numbers in the range (0, 1], place these in a minimum number of “bins” so that no bin holds numbers summing to more than 1.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let A* be the smallest number of bins into which the numbers of list may be placed.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First fit: worst case 1.7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Best fit: at least 1.7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But, a few real-world apps need this type of one-shot allocation.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48" name="Google Shape;348;p61"/>
          <p:cNvSpPr txBox="1"/>
          <p:nvPr/>
        </p:nvSpPr>
        <p:spPr>
          <a:xfrm>
            <a:off x="518225" y="4249550"/>
            <a:ext cx="80664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https://dl.acm.org/doi/pdf/10.1145/800152.804907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M. R. Garey, R. L. Graham, and J. D. Ullman. Worst-case analysis of memory allocation algorithms. In Proceedings of the Fourth Annual ACM Symposium on Theory of Computing, STOC ’72, pages 143–150, New York, NY, USA, 1972. ACM. http://doi.acm.org/10.1145/800152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Placement Strategy Pros and Cons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2"/>
          <p:cNvSpPr txBox="1"/>
          <p:nvPr>
            <p:ph idx="2" type="body"/>
          </p:nvPr>
        </p:nvSpPr>
        <p:spPr>
          <a:xfrm>
            <a:off x="474825" y="1169725"/>
            <a:ext cx="80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Some practical remarks: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Best fit may take less time than a full heap scan. When a block of perfect size or of perfect size within a </a:t>
            </a:r>
            <a:r>
              <a:rPr b="1" lang="en" sz="1600"/>
              <a:t>threshold</a:t>
            </a:r>
            <a:r>
              <a:rPr lang="en" sz="1600"/>
              <a:t> is found, that can be returned, depending on what edge-case policy you have.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Worst fit follows this as well. Your heap could be represented with the max-heap data structure and each allocation call could simply pop the top off, reheapify, and possibly insert a split memory block.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First fit needs to have a block ordering (e.g. linked lists). with address ordered linked lists you can speed up insertion from O(n) to O(log(n)) by using a</a:t>
            </a:r>
            <a:r>
              <a:rPr lang="en" sz="1600"/>
              <a:t> </a:t>
            </a:r>
            <a:r>
              <a:rPr lang="en" sz="1600"/>
              <a:t>randomized </a:t>
            </a:r>
            <a:r>
              <a:rPr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skip-list</a:t>
            </a:r>
            <a:r>
              <a:rPr lang="en" sz="1600"/>
              <a:t> in conjunction with the linked list. 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3"/>
          <p:cNvSpPr txBox="1"/>
          <p:nvPr>
            <p:ph type="title"/>
          </p:nvPr>
        </p:nvSpPr>
        <p:spPr>
          <a:xfrm>
            <a:off x="192575" y="248800"/>
            <a:ext cx="437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a naive-memory allocator</a:t>
            </a:r>
            <a:endParaRPr/>
          </a:p>
        </p:txBody>
      </p:sp>
      <p:sp>
        <p:nvSpPr>
          <p:cNvPr id="360" name="Google Shape;360;p63"/>
          <p:cNvSpPr txBox="1"/>
          <p:nvPr>
            <p:ph idx="1" type="body"/>
          </p:nvPr>
        </p:nvSpPr>
        <p:spPr>
          <a:xfrm>
            <a:off x="310950" y="1476975"/>
            <a:ext cx="48846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</a:t>
            </a:r>
            <a:r>
              <a:rPr lang="en" sz="1600"/>
              <a:t>memory allocator needs to keep track of which bytes are currently allocated and which are available for use.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heap memory is a list of blocks where each block is either allocated or unallocated.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will create  linked lists to keep track of blocks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Implicit free list: </a:t>
            </a:r>
            <a:r>
              <a:rPr lang="en" sz="1600"/>
              <a:t>We can find the next block by finding the end of the current one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We use math to find the next block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Or we can use </a:t>
            </a:r>
            <a:r>
              <a:rPr b="1" lang="en" sz="1600"/>
              <a:t>Explicit free list</a:t>
            </a:r>
            <a:endParaRPr b="1" sz="1600"/>
          </a:p>
        </p:txBody>
      </p:sp>
      <p:pic>
        <p:nvPicPr>
          <p:cNvPr id="361" name="Google Shape;36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975" y="115650"/>
            <a:ext cx="3983725" cy="21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2275" y="2391075"/>
            <a:ext cx="2360425" cy="24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4"/>
          <p:cNvSpPr txBox="1"/>
          <p:nvPr>
            <p:ph type="title"/>
          </p:nvPr>
        </p:nvSpPr>
        <p:spPr>
          <a:xfrm>
            <a:off x="192575" y="248800"/>
            <a:ext cx="804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Implicit free list 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64"/>
          <p:cNvSpPr txBox="1"/>
          <p:nvPr>
            <p:ph idx="2" type="body"/>
          </p:nvPr>
        </p:nvSpPr>
        <p:spPr>
          <a:xfrm>
            <a:off x="192575" y="821500"/>
            <a:ext cx="2698500" cy="1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block_size;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block;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369" name="Google Shape;36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8750" y="840075"/>
            <a:ext cx="2360425" cy="245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64"/>
          <p:cNvSpPr txBox="1"/>
          <p:nvPr/>
        </p:nvSpPr>
        <p:spPr>
          <a:xfrm>
            <a:off x="2845950" y="3386425"/>
            <a:ext cx="59697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block *p = </a:t>
            </a: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sbrk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p-&gt;block_size = </a:t>
            </a:r>
            <a:r>
              <a:rPr b="1" lang="en" sz="125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(metadata) - </a:t>
            </a:r>
            <a:r>
              <a:rPr b="1" lang="en" sz="12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(BTag);</a:t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/* Other block allocations*/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5"/>
          <p:cNvSpPr txBox="1"/>
          <p:nvPr>
            <p:ph type="title"/>
          </p:nvPr>
        </p:nvSpPr>
        <p:spPr>
          <a:xfrm>
            <a:off x="192575" y="248800"/>
            <a:ext cx="804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</a:t>
            </a:r>
            <a:r>
              <a:rPr lang="en"/>
              <a:t>avigation in implicit free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65"/>
          <p:cNvSpPr txBox="1"/>
          <p:nvPr>
            <p:ph idx="2" type="body"/>
          </p:nvPr>
        </p:nvSpPr>
        <p:spPr>
          <a:xfrm>
            <a:off x="3244375" y="3007100"/>
            <a:ext cx="6065400" cy="15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/*We could navigate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 one block to the next block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by adding the block’s size.*/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 +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(metadata) + p-&gt;block_size +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(BTag)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377" name="Google Shape;37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00" y="1501125"/>
            <a:ext cx="2360425" cy="24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725" y="635150"/>
            <a:ext cx="3836875" cy="20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6"/>
          <p:cNvSpPr txBox="1"/>
          <p:nvPr>
            <p:ph idx="1" type="body"/>
          </p:nvPr>
        </p:nvSpPr>
        <p:spPr>
          <a:xfrm>
            <a:off x="220250" y="699625"/>
            <a:ext cx="3290700" cy="38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simplest implementation uses first fit.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at the first block, assuming it exists, and iterate until a block that represents unallocated space of sufficient size is found, or we’ve checked all the blocks.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no suitable block is found, it’s time to call sbrk() again to sufficiently extend the size of the heap.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6"/>
          <p:cNvSpPr txBox="1"/>
          <p:nvPr/>
        </p:nvSpPr>
        <p:spPr>
          <a:xfrm>
            <a:off x="4197725" y="54275"/>
            <a:ext cx="5182500" cy="23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is_free;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block_size;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block;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block *p = </a:t>
            </a:r>
            <a:r>
              <a:rPr b="1" lang="en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sbrk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p-&gt;block_size =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- 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(metadata) 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+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(btag));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5" name="Google Shape;385;p66"/>
          <p:cNvSpPr txBox="1"/>
          <p:nvPr/>
        </p:nvSpPr>
        <p:spPr>
          <a:xfrm>
            <a:off x="4311600" y="2718500"/>
            <a:ext cx="4550400" cy="20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unsigned</a:t>
            </a:r>
            <a:r>
              <a:rPr b="1" lang="en" sz="125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is_free : </a:t>
            </a:r>
            <a:r>
              <a:rPr b="1" lang="en" sz="1250">
                <a:solidFill>
                  <a:srgbClr val="09865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5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b="1" lang="en" sz="125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5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block_size : </a:t>
            </a:r>
            <a:r>
              <a:rPr b="1" lang="en" sz="1250">
                <a:solidFill>
                  <a:srgbClr val="09865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31</a:t>
            </a:r>
            <a:r>
              <a:rPr b="1" lang="en" sz="125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size_free;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size_free info;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block;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&amp; alignment</a:t>
            </a:r>
            <a:endParaRPr/>
          </a:p>
        </p:txBody>
      </p:sp>
      <p:sp>
        <p:nvSpPr>
          <p:cNvPr id="391" name="Google Shape;391;p67"/>
          <p:cNvSpPr txBox="1"/>
          <p:nvPr>
            <p:ph idx="2" type="body"/>
          </p:nvPr>
        </p:nvSpPr>
        <p:spPr>
          <a:xfrm>
            <a:off x="4271400" y="273300"/>
            <a:ext cx="4560900" cy="44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Alignment:</a:t>
            </a:r>
            <a:r>
              <a:rPr lang="en"/>
              <a:t> Many architectures expect multibyte primitives to be aligned to some multiple of 2 (4, 16, etc).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Address of K-byte primitive data type must be multiple K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example, it’s common to require 4-byte types to be aligned to 4-byte boundaries and 8-byte types on 8-byte boundaries.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 multi-byte primitives are stored on an unreasonable boundary, the performance can be significantly impacted because it may require an additional memory read.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On some architectures the penalty is even greater - the program will crash with a bus error. </a:t>
            </a:r>
            <a:endParaRPr sz="1200"/>
          </a:p>
        </p:txBody>
      </p:sp>
      <p:pic>
        <p:nvPicPr>
          <p:cNvPr id="392" name="Google Shape;39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25" y="1730850"/>
            <a:ext cx="4030775" cy="25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&amp; alignment</a:t>
            </a:r>
            <a:endParaRPr/>
          </a:p>
        </p:txBody>
      </p:sp>
      <p:pic>
        <p:nvPicPr>
          <p:cNvPr id="398" name="Google Shape;39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225" y="1045050"/>
            <a:ext cx="4030775" cy="25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8"/>
          <p:cNvSpPr txBox="1"/>
          <p:nvPr/>
        </p:nvSpPr>
        <p:spPr>
          <a:xfrm>
            <a:off x="393025" y="3682562"/>
            <a:ext cx="81105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/*number of 16 byte-units*/</a:t>
            </a:r>
            <a:endParaRPr b="1" sz="15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 = (requested_bytes + tag_overhead_bytes + </a:t>
            </a:r>
            <a:r>
              <a:rPr b="1" lang="en" sz="15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/ </a:t>
            </a:r>
            <a:r>
              <a:rPr b="1" lang="en" sz="15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1" sz="155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Free</a:t>
            </a:r>
            <a:endParaRPr/>
          </a:p>
        </p:txBody>
      </p:sp>
      <p:sp>
        <p:nvSpPr>
          <p:cNvPr id="405" name="Google Shape;405;p6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need to do more! </a:t>
            </a:r>
            <a:endParaRPr/>
          </a:p>
        </p:txBody>
      </p:sp>
      <p:sp>
        <p:nvSpPr>
          <p:cNvPr id="406" name="Google Shape;406;p6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69"/>
          <p:cNvSpPr txBox="1"/>
          <p:nvPr/>
        </p:nvSpPr>
        <p:spPr>
          <a:xfrm>
            <a:off x="399425" y="1506625"/>
            <a:ext cx="3000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p-&gt;info.is_free = </a:t>
            </a:r>
            <a:r>
              <a:rPr b="1" lang="en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08" name="Google Shape;40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196" y="934676"/>
            <a:ext cx="5379028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Explicit free lists allocators for better performance</a:t>
            </a:r>
            <a:endParaRPr/>
          </a:p>
        </p:txBody>
      </p:sp>
      <p:sp>
        <p:nvSpPr>
          <p:cNvPr id="414" name="Google Shape;414;p70"/>
          <p:cNvSpPr txBox="1"/>
          <p:nvPr>
            <p:ph idx="2" type="body"/>
          </p:nvPr>
        </p:nvSpPr>
        <p:spPr>
          <a:xfrm>
            <a:off x="5056500" y="11034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List of</a:t>
            </a:r>
            <a:r>
              <a:rPr b="1" lang="en" sz="1800">
                <a:solidFill>
                  <a:srgbClr val="980000"/>
                </a:solidFill>
              </a:rPr>
              <a:t> only free blocks!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415" name="Google Shape;41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25" y="1533675"/>
            <a:ext cx="5045424" cy="18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9445" y="2800400"/>
            <a:ext cx="3193999" cy="13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we put newly freed block?</a:t>
            </a:r>
            <a:endParaRPr/>
          </a:p>
        </p:txBody>
      </p:sp>
      <p:sp>
        <p:nvSpPr>
          <p:cNvPr id="422" name="Google Shape;422;p71"/>
          <p:cNvSpPr txBox="1"/>
          <p:nvPr>
            <p:ph idx="2" type="body"/>
          </p:nvPr>
        </p:nvSpPr>
        <p:spPr>
          <a:xfrm>
            <a:off x="4572000" y="958750"/>
            <a:ext cx="4471200" cy="3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LIFO:</a:t>
            </a:r>
            <a:r>
              <a:rPr lang="en" sz="1600"/>
              <a:t> insert freed block at the beginning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Simple and constant time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Studies suggest fragmentation is worse</a:t>
            </a:r>
            <a:endParaRPr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Address-ordered policy: </a:t>
            </a:r>
            <a:r>
              <a:rPr lang="en" sz="1600"/>
              <a:t>insert blocks so that blocks are always in address order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Requires linear time search with regular linked lists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Logarithmic</a:t>
            </a:r>
            <a:r>
              <a:rPr lang="en" sz="1400"/>
              <a:t> time with the use of balanced trees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Studies suggest ft fragmentation is better</a:t>
            </a:r>
            <a:endParaRPr sz="1700"/>
          </a:p>
        </p:txBody>
      </p:sp>
      <p:sp>
        <p:nvSpPr>
          <p:cNvPr id="423" name="Google Shape;423;p71"/>
          <p:cNvSpPr txBox="1"/>
          <p:nvPr/>
        </p:nvSpPr>
        <p:spPr>
          <a:xfrm>
            <a:off x="129650" y="1340200"/>
            <a:ext cx="45402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info;</a:t>
            </a:r>
            <a:r>
              <a:rPr b="1" lang="en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/*number of  16 byte blocks*/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block *next;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r>
              <a:rPr b="1" lang="en" sz="12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Coalescing in explicit free lists</a:t>
            </a:r>
            <a:endParaRPr/>
          </a:p>
        </p:txBody>
      </p:sp>
      <p:sp>
        <p:nvSpPr>
          <p:cNvPr id="429" name="Google Shape;429;p72"/>
          <p:cNvSpPr txBox="1"/>
          <p:nvPr>
            <p:ph idx="1" type="body"/>
          </p:nvPr>
        </p:nvSpPr>
        <p:spPr>
          <a:xfrm>
            <a:off x="311700" y="1152475"/>
            <a:ext cx="5078100" cy="3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Neighboring free blocks are already part of the free list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Remove old block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new </a:t>
            </a:r>
            <a:r>
              <a:rPr lang="en"/>
              <a:t>coalesced</a:t>
            </a:r>
            <a:r>
              <a:rPr lang="en"/>
              <a:t> block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How do we tell neighboring blocks are free?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boundary tags</a:t>
            </a:r>
            <a:endParaRPr/>
          </a:p>
        </p:txBody>
      </p:sp>
      <p:pic>
        <p:nvPicPr>
          <p:cNvPr id="430" name="Google Shape;43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350" y="1737925"/>
            <a:ext cx="4342000" cy="27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Segregated Lists</a:t>
            </a:r>
            <a:endParaRPr/>
          </a:p>
        </p:txBody>
      </p:sp>
      <p:sp>
        <p:nvSpPr>
          <p:cNvPr id="436" name="Google Shape;436;p73"/>
          <p:cNvSpPr txBox="1"/>
          <p:nvPr>
            <p:ph idx="1" type="body"/>
          </p:nvPr>
        </p:nvSpPr>
        <p:spPr>
          <a:xfrm>
            <a:off x="1593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Segregated Lists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Keep </a:t>
            </a:r>
            <a:r>
              <a:rPr lang="en" sz="1600"/>
              <a:t>separate</a:t>
            </a:r>
            <a:r>
              <a:rPr lang="en" sz="1600"/>
              <a:t> lists of blocks for different sizes: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E.g.: list of 8s, list 16s, list of 32s, list of 64 …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Suballocators for each free list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7" name="Google Shape;437;p73"/>
          <p:cNvSpPr txBox="1"/>
          <p:nvPr>
            <p:ph idx="2" type="body"/>
          </p:nvPr>
        </p:nvSpPr>
        <p:spPr>
          <a:xfrm>
            <a:off x="4392050" y="1152475"/>
            <a:ext cx="4560300" cy="32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Buddy Allocator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Block size: 2</a:t>
            </a:r>
            <a:r>
              <a:rPr baseline="30000" lang="en" sz="1600"/>
              <a:t>n</a:t>
            </a:r>
            <a:r>
              <a:rPr lang="en" sz="1600"/>
              <a:t>, n=1,2,3...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If there are no free blocks of 2</a:t>
            </a:r>
            <a:r>
              <a:rPr baseline="30000" lang="en" sz="1600"/>
              <a:t>n</a:t>
            </a:r>
            <a:r>
              <a:rPr lang="en" sz="1600"/>
              <a:t>, go to the next level and steal that block and split into two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If two neighboring blocks of the same size free, coalesce into large block of twice the size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Main disadvantage: internal fragmentation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68-byte requires 128-byte block</a:t>
            </a:r>
            <a:endParaRPr sz="1600"/>
          </a:p>
        </p:txBody>
      </p:sp>
      <p:sp>
        <p:nvSpPr>
          <p:cNvPr id="438" name="Google Shape;438;p73"/>
          <p:cNvSpPr txBox="1"/>
          <p:nvPr/>
        </p:nvSpPr>
        <p:spPr>
          <a:xfrm>
            <a:off x="2668925" y="4523150"/>
            <a:ext cx="628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Slab allocator: </a:t>
            </a:r>
            <a:r>
              <a:rPr lang="en" sz="1800">
                <a:solidFill>
                  <a:schemeClr val="dk2"/>
                </a:solidFill>
              </a:rPr>
              <a:t>fixed sizes for special data structures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keeping track of free blocks</a:t>
            </a:r>
            <a:endParaRPr/>
          </a:p>
        </p:txBody>
      </p:sp>
      <p:sp>
        <p:nvSpPr>
          <p:cNvPr id="444" name="Google Shape;444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Implicit list: using sizes to determine next block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 list: linked list amont free blocks by using pointers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Segregated list: different free list for different sizes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also sort blocks by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balanced tree, length is used as the key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sbrk() vs mmap()</a:t>
            </a:r>
            <a:endParaRPr/>
          </a:p>
        </p:txBody>
      </p:sp>
      <p:sp>
        <p:nvSpPr>
          <p:cNvPr id="450" name="Google Shape;450;p7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sbrk()&amp;brk()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900"/>
              <a:t>No longer part of POSIX,</a:t>
            </a:r>
            <a:r>
              <a:rPr b="1" lang="en" sz="1600"/>
              <a:t> 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used in malloc for small memory allocations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Easy to extend the heap memory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Not easy to hand back the allocated memory to OS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1" name="Google Shape;451;p75"/>
          <p:cNvSpPr txBox="1"/>
          <p:nvPr>
            <p:ph idx="2" type="body"/>
          </p:nvPr>
        </p:nvSpPr>
        <p:spPr>
          <a:xfrm>
            <a:off x="4715950" y="958750"/>
            <a:ext cx="4116300" cy="3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mmap()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Allocate some resource into the process’s memory space (memory mapped files)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Process’s address space is composed of different memory areas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Easy to allocate and deallocate(hand back to OS)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POSIX standard, used in malloc() for large blocks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