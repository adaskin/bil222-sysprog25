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7150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d85af218a_0_0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d85af21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d85af218a_1_0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cd85af218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d85af218a_1_6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d85af218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d85af218a_1_12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d85af218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cd85af218a_1_21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cd85af218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f2f2d33ca_0_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f2f2d33c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d85af218a_1_31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d85af218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09dc16a9b_0_0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09dc16a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09dc16a9b_0_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09dc16a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09dc16a9b_0_32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09dc16a9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09dc16a9b_0_23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09dc16a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09dc16a9b_0_51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309dc16a9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09dc16a9b_0_60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09dc16a9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09dc16a9b_0_69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09dc16a9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09dc16a9b_0_3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09dc16a9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09dc16a9b_0_78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309dc16a9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09dc16a9b_0_96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09dc16a9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09dc16a9b_0_90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309dc16a9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09dc16a9b_0_119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09dc16a9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309dc16a9b_0_135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309dc16a9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309dc16a9b_0_146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309dc16a9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addcb27f5_0_41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addcb27f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daddcb27f5_0_32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daddcb27f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addcb27f5_0_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addcb27f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09dc16a9b_0_163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309dc16a9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dad8b4f179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dad8b4f1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309dc16a9b_0_17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309dc16a9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309dc16a9b_0_18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309dc16a9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09dc16a9b_0_197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309dc16a9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309dc16a9b_0_203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309dc16a9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ngrave/SystemProgramming/wiki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textbooks.cs.ksu.edu/cc410/ii-gui/13-event-driven-programming/index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textbooks.cs.ksu.edu/cc410/ii-gui/13-event-driven-programming/index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man7.org/linux/man-pages/man7/signal.7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inux.die.net/man/3/kil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inux.die.net/man/1/killall" TargetMode="External"/><Relationship Id="rId4" Type="http://schemas.openxmlformats.org/officeDocument/2006/relationships/hyperlink" Target="https://linux.die.net/man/1/p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inux.die.net/man/3/raise" TargetMode="External"/><Relationship Id="rId4" Type="http://schemas.openxmlformats.org/officeDocument/2006/relationships/hyperlink" Target="https://linux.die.net/man/3/kil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open-std.org/jtc1/sc22/wg14/www/docs/n1570.p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inux.die.net/man/3/printf" TargetMode="External"/><Relationship Id="rId4" Type="http://schemas.openxmlformats.org/officeDocument/2006/relationships/hyperlink" Target="https://linux.die.net/man/3/malloc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linux.die.net/man/3/sigaction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inux.die.net/man/3/pthread_sigmask" TargetMode="External"/><Relationship Id="rId4" Type="http://schemas.openxmlformats.org/officeDocument/2006/relationships/hyperlink" Target="https://linux.die.net/man/3/sigprocmask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linux.die.net/man/3/sigprocmask" TargetMode="External"/><Relationship Id="rId4" Type="http://schemas.openxmlformats.org/officeDocument/2006/relationships/hyperlink" Target="https://linux.die.net/man/3/pthread_sigmask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linux.die.net/man/1/func" TargetMode="External"/><Relationship Id="rId4" Type="http://schemas.openxmlformats.org/officeDocument/2006/relationships/hyperlink" Target="https://linux.die.net/man/3/siga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Signals </a:t>
            </a:r>
            <a:endParaRPr/>
          </a:p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Event -Driven Programming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Events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Event handlers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Example from Java swing: event listener, event handler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Signal programming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Signals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Signal handlers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772650" y="4904325"/>
            <a:ext cx="5768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content for signals are copied from </a:t>
            </a:r>
            <a:r>
              <a:rPr lang="en" sz="1050">
                <a:solidFill>
                  <a:srgbClr val="2962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https://github.com/angrave/SystemProgramming/wiki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Driven Programming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Imperative or Procedural programming: code is executed by procedural order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EDP: </a:t>
            </a:r>
            <a:r>
              <a:rPr lang="en"/>
              <a:t>Code is executed upon the activation of events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975" y="494463"/>
            <a:ext cx="5797026" cy="43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661475" y="5226175"/>
            <a:ext cx="7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https://textbooks.cs.ksu.edu/cc410/ii-gui/13-event-driven-programming/index.html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swing example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80525"/>
            <a:ext cx="29964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 an event to a function: Event handler (in java terminology listener)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Event loop: Runs within a GUI thread and listens for events generated by a user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396" y="1042575"/>
            <a:ext cx="4816850" cy="3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661475" y="5226175"/>
            <a:ext cx="7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https://textbooks.cs.ksu.edu/cc410/ii-gui/13-event-driven-programming/index.html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66850" y="10642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event handlers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66850" y="3167575"/>
            <a:ext cx="7152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java.awt.event.*;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MyEventHandler2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ActionListener{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@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Override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//This is event handler-2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actionPerformed(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ActionEvent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e){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System.out.println(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"This is second handler for click event: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3457200" y="643825"/>
            <a:ext cx="5627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java.awt.event.*;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javax.swing.*;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MyEventHandler1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ActionListener{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@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Override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//This is event handler-1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actionPerformed(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ActionEvent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e){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JButton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 = (JButton)e.getSource();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b.setText(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 Click Event"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274275" y="899525"/>
            <a:ext cx="8558100" cy="10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handlers are called when click-event occurs on button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1138575" y="1475700"/>
            <a:ext cx="73464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javax.swing.*;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EventGenerator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main(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 args){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JFrame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frame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JFrame();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JButton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button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JButton(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"Hi"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MyEventHandler1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handler1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MyEventHandler1();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MyEventHandler2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handler2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MyEventHandler2();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button.addActionListener(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handler1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button.addActionListener(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handler2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frame.add(button);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frame.setSize( 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);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frame.setVisible(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Signals are very similar to EDP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917225" y="3510150"/>
            <a:ext cx="7647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Standardized messages sent to a running process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Limited form of IPC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 bit of terminology.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signal disposition is a per-process attribute that determines how a signal is handled after it is 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delivered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Think of it as a table of signal-action pairs.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full discussion is in the </a:t>
            </a:r>
            <a:r>
              <a:rPr lang="en" sz="14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http://man7.org/linux/man-pages/man7/signal.7.html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The actions are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TERM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terminates the process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IGN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ignore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CORE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generate a core dump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STOP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stops a process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CONT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continues a process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Execute a custom function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Flow chart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25" y="1764576"/>
            <a:ext cx="8234025" cy="19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Signals can be generated in multiple ways.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system can send an event.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example, if a process accesses a page that it isn’t supposed to, the hardware generates an interrupt which gets intercepted by the kernel. The kernel finds the process that caused this and sends a software interrupt signal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SIGSEGV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are other kernel events like a child being created or a process needs to be resumed.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Signals can be generated in multiple ways.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user can send a signal.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example, you are at the terminal, and you press </a:t>
            </a:r>
            <a:r>
              <a:rPr lang="en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CTRL-C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One can also use the built-in </a:t>
            </a:r>
            <a:r>
              <a:rPr lang="en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kill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send any signal.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5561925" y="3308225"/>
            <a:ext cx="3000000" cy="129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./program &amp;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My pid is 403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kill </a:t>
            </a: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-SIGSTOP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403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kill </a:t>
            </a: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-SIGCONT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403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600"/>
          </a:p>
        </p:txBody>
      </p:sp>
      <p:sp>
        <p:nvSpPr>
          <p:cNvPr id="123" name="Google Shape;123;p23"/>
          <p:cNvSpPr txBox="1"/>
          <p:nvPr/>
        </p:nvSpPr>
        <p:spPr>
          <a:xfrm>
            <a:off x="884475" y="2891525"/>
            <a:ext cx="3746700" cy="24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#include &lt;unistd.h&gt;</a:t>
            </a:r>
            <a:endParaRPr sz="1200">
              <a:solidFill>
                <a:srgbClr val="B58900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 sz="1200">
              <a:solidFill>
                <a:srgbClr val="B58900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main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printf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"My pid is %d</a:t>
            </a:r>
            <a:r>
              <a:rPr lang="en" sz="1200">
                <a:solidFill>
                  <a:srgbClr val="D33682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getpid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(--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  write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"."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  sleep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write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"Done!"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54225" y="12720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 program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477125" y="1995600"/>
            <a:ext cx="7593300" cy="92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kill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SIGUSR1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Send a user-defined signal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kill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SIGSTOP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Stop the child process (the child cannot prevent this)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kill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SIGTERM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Terminate the child process (the child can prevent this)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kill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SIGINT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The equivalent to CTRL-C (by default closes the process)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Another command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killall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works the exact same way but instead of looking up by PID, it tries to match the name of the process.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ps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an important utility that can help you find the pid of a process.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1020525" y="2083600"/>
            <a:ext cx="6618000" cy="277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 First let's use ps and grep to find the process we want to send a signal to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ps au | grep myprogram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angrave  4409   0.0  0.0  2434892    512 s004  R+    2:42PM   0:00.00 myprogram 1 2 3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#Send SIGINT signal to process 4409 (The equivalent of `CTRL-C`)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kill </a:t>
            </a: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-SIGINT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4409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 Send SIGKILL (terminate the process)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kill </a:t>
            </a: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-SIGKILL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4409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kill </a:t>
            </a: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-9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4409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 Use kill all instead to kill a process by executable name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$ killall </a:t>
            </a:r>
            <a:r>
              <a:rPr lang="en" sz="12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-l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firefox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 send a signal to the running process, use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raise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kill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getpid()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603825" y="2296200"/>
            <a:ext cx="5791200" cy="58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raise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Send a signal to myself!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kill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getpid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Same as above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Processes can send messages to each by using signals. 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This should be only used in low-stakes communication of events between processes.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you are relying on signals to be the driver in your program, you should rethink your application design.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There are many drawbacks to using POSIX/Real-Time signals for asynchronous communication.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The best way to handle interprocess communication is to use, well, interprocess communication methods specifically designed for your task at hand.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Signals(changing default behaviours)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are strict limitations on the executable code inside a signal handler.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Most library and system calls are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async-signal-unsafe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meaning they may not be used inside a signal handler 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because they are not re-entrant*</a:t>
            </a:r>
            <a:endParaRPr b="1"/>
          </a:p>
        </p:txBody>
      </p:sp>
      <p:sp>
        <p:nvSpPr>
          <p:cNvPr id="157" name="Google Shape;157;p28"/>
          <p:cNvSpPr txBox="1"/>
          <p:nvPr/>
        </p:nvSpPr>
        <p:spPr>
          <a:xfrm>
            <a:off x="442250" y="2624375"/>
            <a:ext cx="5176500" cy="138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func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buffer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strncpy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buffer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str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199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 Here is where we get paused</a:t>
            </a:r>
            <a:endParaRPr sz="1300">
              <a:solidFill>
                <a:srgbClr val="B58900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printf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"%s</a:t>
            </a:r>
            <a:r>
              <a:rPr lang="en" sz="1300">
                <a:solidFill>
                  <a:srgbClr val="D33682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3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buffer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/>
          </a:p>
        </p:txBody>
      </p:sp>
      <p:sp>
        <p:nvSpPr>
          <p:cNvPr id="158" name="Google Shape;158;p28"/>
          <p:cNvSpPr txBox="1"/>
          <p:nvPr/>
        </p:nvSpPr>
        <p:spPr>
          <a:xfrm>
            <a:off x="1058325" y="5226175"/>
            <a:ext cx="649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r>
              <a:rPr lang="en"/>
              <a:t>Thus, a signal handler cannot, in general, call standard library functions. Footnote 188 of </a:t>
            </a:r>
            <a:r>
              <a:rPr lang="en"/>
              <a:t>§7.1.4 in </a:t>
            </a:r>
            <a:r>
              <a:rPr lang="en" u="sng">
                <a:solidFill>
                  <a:schemeClr val="hlink"/>
                </a:solidFill>
                <a:hlinkClick r:id="rId3"/>
              </a:rPr>
              <a:t>ISO/IEC 9899:201x - Programming languages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Signals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442250" y="2624375"/>
            <a:ext cx="32913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func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buffer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strncpy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buffer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str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199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B58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 Here is where we get paused</a:t>
            </a:r>
            <a:endParaRPr sz="1000">
              <a:solidFill>
                <a:srgbClr val="B58900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printf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"%s</a:t>
            </a:r>
            <a:r>
              <a:rPr lang="en" sz="1000">
                <a:solidFill>
                  <a:srgbClr val="D33682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0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buffer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4014200" y="552800"/>
            <a:ext cx="53322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execute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func(“Hello”))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string gets copied over to the buffer completely (strcmp(buffer, “Hello”) == 0)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signal is delivered and the function state freezes, we also stop accepting any new signals until after the handler (we do this for convenience)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execute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func("World")</a:t>
            </a:r>
            <a:endParaRPr sz="1200">
              <a:solidFill>
                <a:srgbClr val="151515"/>
              </a:solidFill>
              <a:highlight>
                <a:srgbClr val="DFDFD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Now (strcmp(buffer, “World”) == 0) and the buffer is printed out “World”.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resume the interrupted function and now print out the buffer once again “World” instead of what the function call originally intended “Hello”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795600" y="4192700"/>
            <a:ext cx="803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Guaranteeing that your functions are signal handler safe can’t be solved by removing shared buffers.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Calling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printf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which uses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malloc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as part of the signal handler, is unsafe and will result in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undefined behavior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82700" y="3002076"/>
            <a:ext cx="8449500" cy="20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663325" y="1778800"/>
            <a:ext cx="7398900" cy="298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pleaseStop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See notes on why "volatile sig_atomic_t" is better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handle_sigint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signal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pleaseStop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main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signal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SIGINT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handle_sigint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pleaseStop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pleaseStop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/* application logic here */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3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/* clean up code here */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/>
          </a:p>
        </p:txBody>
      </p:sp>
      <p:sp>
        <p:nvSpPr>
          <p:cNvPr id="174" name="Google Shape;174;p30"/>
          <p:cNvSpPr txBox="1"/>
          <p:nvPr/>
        </p:nvSpPr>
        <p:spPr>
          <a:xfrm>
            <a:off x="119075" y="731400"/>
            <a:ext cx="794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safe way to avoid this behavior is to set a variable and let the program resume operating.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design pattern also helps us in designing programs that can receive signals twice and operate correctly.</a:t>
            </a:r>
            <a:endParaRPr/>
          </a:p>
        </p:txBody>
      </p:sp>
      <p:sp>
        <p:nvSpPr>
          <p:cNvPr id="175" name="Google Shape;175;p30"/>
          <p:cNvSpPr txBox="1"/>
          <p:nvPr/>
        </p:nvSpPr>
        <p:spPr>
          <a:xfrm>
            <a:off x="5671775" y="4099150"/>
            <a:ext cx="3160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Here,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we need to provide a hint to the compiler and the CPU core that will execute the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loop.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need to prevent compiler optimization.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volatile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sig_atomic_t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pleaseStop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Sigaction (changes actions for a specific signal)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356850" y="1343775"/>
            <a:ext cx="72969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sigaction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signum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sigaction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act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sigaction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oldact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/>
          </a:p>
        </p:txBody>
      </p:sp>
      <p:sp>
        <p:nvSpPr>
          <p:cNvPr id="182" name="Google Shape;182;p31"/>
          <p:cNvSpPr txBox="1"/>
          <p:nvPr/>
        </p:nvSpPr>
        <p:spPr>
          <a:xfrm>
            <a:off x="71450" y="2682075"/>
            <a:ext cx="4833000" cy="129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sigaction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(*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sa_handler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)(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(*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sa_sigaction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)(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siginfo_t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*,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*);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sigset_t sa_mask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CB4B16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sa_flags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/>
          </a:p>
        </p:txBody>
      </p:sp>
      <p:sp>
        <p:nvSpPr>
          <p:cNvPr id="183" name="Google Shape;183;p31"/>
          <p:cNvSpPr txBox="1"/>
          <p:nvPr/>
        </p:nvSpPr>
        <p:spPr>
          <a:xfrm>
            <a:off x="4822025" y="1768925"/>
            <a:ext cx="3893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</a:rPr>
              <a:t>sa_handler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specifies the action to be associated with </a:t>
            </a:r>
            <a:r>
              <a:rPr i="1" lang="en" sz="1500">
                <a:solidFill>
                  <a:schemeClr val="dk1"/>
                </a:solidFill>
              </a:rPr>
              <a:t>signum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actions are: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  * </a:t>
            </a:r>
            <a:r>
              <a:rPr b="1" lang="en" sz="1500">
                <a:solidFill>
                  <a:schemeClr val="dk1"/>
                </a:solidFill>
              </a:rPr>
              <a:t>SIG_DFL </a:t>
            </a:r>
            <a:r>
              <a:rPr lang="en" sz="1500">
                <a:solidFill>
                  <a:schemeClr val="dk1"/>
                </a:solidFill>
              </a:rPr>
              <a:t>for the default action.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  * </a:t>
            </a:r>
            <a:r>
              <a:rPr b="1" lang="en" sz="1500">
                <a:solidFill>
                  <a:schemeClr val="dk1"/>
                </a:solidFill>
              </a:rPr>
              <a:t>SIG_IGN </a:t>
            </a:r>
            <a:r>
              <a:rPr lang="en" sz="1500">
                <a:solidFill>
                  <a:schemeClr val="dk1"/>
                </a:solidFill>
              </a:rPr>
              <a:t>to ignore this signal.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  * A pointer to a signal handling function.  This function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    receives the signal number as its only argument.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336000" y="5032250"/>
            <a:ext cx="7338600" cy="60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From man signal:q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</a:t>
            </a:r>
            <a:r>
              <a:rPr lang="en" sz="900"/>
              <a:t>ARNING: the behavior of signal() varies across UNIX versions, and has also varied historically across different versions of Linux.  Avoid its use: use sigaction(2) instead.  </a:t>
            </a:r>
            <a:endParaRPr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48675" y="2099425"/>
            <a:ext cx="52983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equivalent </a:t>
            </a:r>
            <a:r>
              <a:rPr lang="en" sz="1200" u="sng">
                <a:solidFill>
                  <a:schemeClr val="accent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sigaction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code is:</a:t>
            </a:r>
            <a:endParaRPr/>
          </a:p>
        </p:txBody>
      </p:sp>
      <p:sp>
        <p:nvSpPr>
          <p:cNvPr id="191" name="Google Shape;191;p32"/>
          <p:cNvSpPr txBox="1"/>
          <p:nvPr/>
        </p:nvSpPr>
        <p:spPr>
          <a:xfrm>
            <a:off x="612300" y="1445750"/>
            <a:ext cx="4014000" cy="41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SIGALRM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myhandler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/>
          </a:p>
        </p:txBody>
      </p:sp>
      <p:sp>
        <p:nvSpPr>
          <p:cNvPr id="192" name="Google Shape;192;p32"/>
          <p:cNvSpPr txBox="1"/>
          <p:nvPr/>
        </p:nvSpPr>
        <p:spPr>
          <a:xfrm>
            <a:off x="612300" y="2789450"/>
            <a:ext cx="4048200" cy="156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sigaction sa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sa_handler 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myhandler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sigemptyset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sa_mask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sa_flags 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859900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93A1A1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3A1A1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sigaction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SIGALRM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 sz="15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rgbClr val="93A1A1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typically may also set the mask and the flags field.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mask is a temporary signal mask used during the signal handler execution.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If the thread serving the signal is interrupted in the middle of a system call, the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SA_RESTART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flag will automatically restart some system calls that otherwise would have returned early with EINTR error.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latter means we can simplify the rest of code somewhat because a restart loop may no longer be required.</a:t>
            </a:r>
            <a:endParaRPr/>
          </a:p>
        </p:txBody>
      </p:sp>
      <p:sp>
        <p:nvSpPr>
          <p:cNvPr id="199" name="Google Shape;199;p33"/>
          <p:cNvSpPr txBox="1"/>
          <p:nvPr/>
        </p:nvSpPr>
        <p:spPr>
          <a:xfrm>
            <a:off x="501775" y="4005600"/>
            <a:ext cx="81642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sigfillset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sa_mask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sa_flags 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SA_RESTART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/* Restart system calls if interrupted by handler */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1769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Blocking Signals</a:t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75950" y="1017189"/>
            <a:ext cx="8520600" cy="4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signal may be blocked, which means that it will not be delivered until it is later unblocked.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Each thread in a process has an independent signal mask, which indicates the set of signals that the thread is currently blocking.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thread can manipulate its signal mask using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pthread_sigmask()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 a single-threaded application,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sigprocmask()</a:t>
            </a:r>
            <a:r>
              <a:rPr lang="en"/>
              <a:t> can be used to manipulate the signal mask.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behavior of </a:t>
            </a:r>
            <a:r>
              <a:rPr b="1" lang="en"/>
              <a:t>sigprocmask</a:t>
            </a:r>
            <a:r>
              <a:rPr lang="en"/>
              <a:t> in a multi-threaded process is “unspecified”!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child created via fork inherits a copy of its parent's signal mask; the signal mask is preserved across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execve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113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for manipulation of POSIX signal sets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155875" y="749729"/>
            <a:ext cx="8676300" cy="4800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390"/>
              <a:t>sigset_t</a:t>
            </a:r>
            <a:r>
              <a:rPr lang="en" sz="1390"/>
              <a:t> data type is used to represent a signal set. Returns 0 on success,</a:t>
            </a:r>
            <a:endParaRPr sz="1390"/>
          </a:p>
          <a:p>
            <a:pPr indent="-31686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90"/>
              <a:buChar char="●"/>
            </a:pP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sigemptyset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(sigset_t *set); </a:t>
            </a:r>
            <a:endParaRPr i="1" sz="139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○"/>
            </a:pPr>
            <a:r>
              <a:rPr lang="en" sz="1390">
                <a:solidFill>
                  <a:schemeClr val="dk1"/>
                </a:solidFill>
              </a:rPr>
              <a:t>initializes to empty (all of the defined signals are </a:t>
            </a:r>
            <a:r>
              <a:rPr lang="en" sz="1390">
                <a:solidFill>
                  <a:schemeClr val="dk1"/>
                </a:solidFill>
              </a:rPr>
              <a:t>excluded)</a:t>
            </a:r>
            <a:r>
              <a:rPr lang="en" sz="1390">
                <a:solidFill>
                  <a:schemeClr val="dk1"/>
                </a:solidFill>
              </a:rPr>
              <a:t>. </a:t>
            </a:r>
            <a:endParaRPr i="1" sz="139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68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●"/>
            </a:pP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sigfillset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(sigset_t *set); </a:t>
            </a:r>
            <a:endParaRPr i="1" sz="139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○"/>
            </a:pPr>
            <a:r>
              <a:rPr lang="en" sz="1390">
                <a:solidFill>
                  <a:schemeClr val="dk1"/>
                </a:solidFill>
              </a:rPr>
              <a:t>initializes to full (include all of the defined signals.)</a:t>
            </a:r>
            <a:endParaRPr sz="1390">
              <a:solidFill>
                <a:schemeClr val="dk1"/>
              </a:solidFill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Consolas"/>
              <a:buChar char="○"/>
            </a:pPr>
            <a:r>
              <a:rPr b="1" lang="en" sz="1390">
                <a:solidFill>
                  <a:schemeClr val="accent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sigfillset(&amp;set); // all signals</a:t>
            </a:r>
            <a:endParaRPr b="1" sz="1390">
              <a:solidFill>
                <a:schemeClr val="accent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i="1" sz="139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68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●"/>
            </a:pP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sigaddset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(sigset_t *set, int signum);</a:t>
            </a:r>
            <a:r>
              <a:rPr i="1" lang="en" sz="1390">
                <a:solidFill>
                  <a:schemeClr val="dk1"/>
                </a:solidFill>
              </a:rPr>
              <a:t> </a:t>
            </a:r>
            <a:r>
              <a:rPr lang="en" sz="1390">
                <a:solidFill>
                  <a:schemeClr val="dk1"/>
                </a:solidFill>
              </a:rPr>
              <a:t> </a:t>
            </a:r>
            <a:endParaRPr sz="1390">
              <a:solidFill>
                <a:schemeClr val="dk1"/>
              </a:solidFill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○"/>
            </a:pPr>
            <a:r>
              <a:rPr lang="en" sz="1390">
                <a:solidFill>
                  <a:schemeClr val="dk1"/>
                </a:solidFill>
              </a:rPr>
              <a:t>adds the signal signum to the signal set set. </a:t>
            </a:r>
            <a:endParaRPr sz="1390">
              <a:solidFill>
                <a:schemeClr val="dk1"/>
              </a:solidFill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○"/>
            </a:pPr>
            <a:r>
              <a:rPr lang="en" sz="1390">
                <a:solidFill>
                  <a:schemeClr val="dk1"/>
                </a:solidFill>
              </a:rPr>
              <a:t>All sigaddset does is modify set; it does not block or unblock any signals.</a:t>
            </a:r>
            <a:endParaRPr sz="1390">
              <a:solidFill>
                <a:schemeClr val="dk1"/>
              </a:solidFill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90"/>
              <a:buChar char="○"/>
            </a:pPr>
            <a:r>
              <a:rPr b="1" lang="en" sz="1390">
                <a:solidFill>
                  <a:schemeClr val="accent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sigaddset(&amp;set, SIGINT); // should first initialize with sig empty of fillset!</a:t>
            </a:r>
            <a:endParaRPr i="1" sz="139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68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●"/>
            </a:pP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sigdelset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(sigset_t *set, int signum); </a:t>
            </a:r>
            <a:endParaRPr i="1" sz="139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○"/>
            </a:pPr>
            <a:r>
              <a:rPr lang="en" sz="1390">
                <a:solidFill>
                  <a:schemeClr val="dk1"/>
                </a:solidFill>
              </a:rPr>
              <a:t>removes the signal signum from the signal set set. </a:t>
            </a:r>
            <a:endParaRPr sz="139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>
              <a:solidFill>
                <a:schemeClr val="dk1"/>
              </a:solidFill>
            </a:endParaRPr>
          </a:p>
          <a:p>
            <a:pPr indent="-31686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90"/>
              <a:buChar char="●"/>
            </a:pP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sigismember</a:t>
            </a:r>
            <a:r>
              <a:rPr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" sz="139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(const sigset_t *set, int signum)</a:t>
            </a:r>
            <a:r>
              <a:rPr i="1" lang="en" sz="1390">
                <a:solidFill>
                  <a:schemeClr val="dk1"/>
                </a:solidFill>
              </a:rPr>
              <a:t> </a:t>
            </a:r>
            <a:endParaRPr i="1" sz="1390">
              <a:solidFill>
                <a:schemeClr val="dk1"/>
              </a:solidFill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○"/>
            </a:pPr>
            <a:r>
              <a:rPr lang="en" sz="1390">
                <a:solidFill>
                  <a:schemeClr val="dk1"/>
                </a:solidFill>
              </a:rPr>
              <a:t>tests</a:t>
            </a:r>
            <a:r>
              <a:rPr lang="en" sz="1390">
                <a:solidFill>
                  <a:schemeClr val="dk1"/>
                </a:solidFill>
              </a:rPr>
              <a:t> what signals are in a signal set:</a:t>
            </a:r>
            <a:endParaRPr sz="1390">
              <a:solidFill>
                <a:schemeClr val="dk1"/>
              </a:solidFill>
            </a:endParaRPr>
          </a:p>
          <a:p>
            <a:pPr indent="-31686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"/>
              <a:buChar char="○"/>
            </a:pPr>
            <a:r>
              <a:rPr lang="en" sz="1390">
                <a:solidFill>
                  <a:schemeClr val="dk1"/>
                </a:solidFill>
              </a:rPr>
              <a:t>Returns 1 if it is a member.</a:t>
            </a:r>
            <a:endParaRPr sz="13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/>
        </p:nvSpPr>
        <p:spPr>
          <a:xfrm>
            <a:off x="533400" y="508000"/>
            <a:ext cx="677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sigprocmask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how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sigset_t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restrict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b="1" lang="en" sz="18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sigset_t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restrict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oldset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36"/>
          <p:cNvSpPr txBox="1"/>
          <p:nvPr/>
        </p:nvSpPr>
        <p:spPr>
          <a:xfrm>
            <a:off x="381000" y="1778000"/>
            <a:ext cx="77700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The </a:t>
            </a:r>
            <a:r>
              <a:rPr b="1" lang="en" sz="1300"/>
              <a:t>how</a:t>
            </a:r>
            <a:r>
              <a:rPr lang="en" sz="1300"/>
              <a:t> argument determines how the signal mask is changed, and must be one of the following values: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SIG_BLOCK </a:t>
            </a:r>
            <a:endParaRPr b="1"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Block the signals in set—add them to the existing mask. In other words, the new mask is the union of the existing mask and set.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SIG_UNBLOCK </a:t>
            </a:r>
            <a:endParaRPr b="1"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Unblock the signals in set—remove them from the existing mask.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SIG_SETMASK 	</a:t>
            </a:r>
            <a:endParaRPr b="1"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Use set for the mask; ignore the previous value of the mask. </a:t>
            </a:r>
            <a:endParaRPr sz="1300"/>
          </a:p>
        </p:txBody>
      </p:sp>
      <p:sp>
        <p:nvSpPr>
          <p:cNvPr id="218" name="Google Shape;218;p36"/>
          <p:cNvSpPr txBox="1"/>
          <p:nvPr/>
        </p:nvSpPr>
        <p:spPr>
          <a:xfrm>
            <a:off x="256625" y="4880479"/>
            <a:ext cx="824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You can’t block the </a:t>
            </a:r>
            <a:r>
              <a:rPr b="1" lang="en" sz="1300"/>
              <a:t>SIGKILL</a:t>
            </a:r>
            <a:r>
              <a:rPr lang="en" sz="1300"/>
              <a:t> and </a:t>
            </a:r>
            <a:r>
              <a:rPr b="1" lang="en" sz="1300"/>
              <a:t>SIGSTOP</a:t>
            </a:r>
            <a:r>
              <a:rPr lang="en" sz="1300"/>
              <a:t> signals, but if the signal set includes these, sigprocmask just ignores them instead of returning an error status. </a:t>
            </a:r>
            <a:endParaRPr sz="1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7"/>
          <p:cNvSpPr txBox="1"/>
          <p:nvPr/>
        </p:nvSpPr>
        <p:spPr>
          <a:xfrm>
            <a:off x="459250" y="892975"/>
            <a:ext cx="4949700" cy="83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sigset_t 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oldset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sigaddset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SIGINT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Ooops!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sigprocmask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SIG_SETMASK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oldset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/>
          </a:p>
        </p:txBody>
      </p:sp>
      <p:sp>
        <p:nvSpPr>
          <p:cNvPr id="226" name="Google Shape;226;p37"/>
          <p:cNvSpPr txBox="1"/>
          <p:nvPr/>
        </p:nvSpPr>
        <p:spPr>
          <a:xfrm>
            <a:off x="629325" y="3173300"/>
            <a:ext cx="8314500" cy="12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sigfillset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all signals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sigprocmask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SIG_SETMASK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Block all the signals which can be blocked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sigemptyset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no signals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sigprocmask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SIG_SETMASK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set the mask to be empty again</a:t>
            </a:r>
            <a:endParaRPr/>
          </a:p>
        </p:txBody>
      </p:sp>
      <p:sp>
        <p:nvSpPr>
          <p:cNvPr id="227" name="Google Shape;227;p37"/>
          <p:cNvSpPr txBox="1"/>
          <p:nvPr/>
        </p:nvSpPr>
        <p:spPr>
          <a:xfrm>
            <a:off x="501750" y="2704425"/>
            <a:ext cx="67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Correct code initializes the set to be all on or all off. For example,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/>
        </p:nvSpPr>
        <p:spPr>
          <a:xfrm>
            <a:off x="229325" y="391275"/>
            <a:ext cx="83769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&lt;stdio.h&gt;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#include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&lt;stdlib.h&gt;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&lt;signal.h&gt;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#include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&lt;unistd.h&gt;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sigset_t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oldset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pendingset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sigemptyset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sigaddset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sigprocmask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SIG_BLOCK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oldset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"Old set was %8.8ld.</a:t>
            </a:r>
            <a:r>
              <a:rPr b="1" lang="en">
                <a:solidFill>
                  <a:srgbClr val="EE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oldset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sigpending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pendingset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"Pending set is %8.8ld.</a:t>
            </a:r>
            <a:r>
              <a:rPr b="1" lang="en">
                <a:solidFill>
                  <a:srgbClr val="EE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pendingset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kill</a:t>
            </a:r>
            <a:r>
              <a:rPr b="1" lang="en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795E2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getpid</a:t>
            </a:r>
            <a:r>
              <a:rPr b="1" lang="en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(), </a:t>
            </a:r>
            <a:r>
              <a:rPr b="1" lang="en">
                <a:solidFill>
                  <a:srgbClr val="0000FF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SIGINT</a:t>
            </a:r>
            <a:r>
              <a:rPr b="1" lang="en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sigpending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pendingset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"Pending set is %8.8ld.</a:t>
            </a:r>
            <a:r>
              <a:rPr b="1" lang="en">
                <a:solidFill>
                  <a:srgbClr val="EE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pendingset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sigprocmask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SIG_UNBLOCK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oldset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The program terminates with a SIGINT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(EXIT_SUCCESS);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Signals in Child Processes and Threads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Blocking signals is similar in multi-threaded programs to single-threaded programs with the following translation.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pthread_sigmask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instead of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sigprocmask</a:t>
            </a:r>
            <a:endParaRPr sz="1200" u="sng">
              <a:solidFill>
                <a:schemeClr val="hlink"/>
              </a:solidFill>
              <a:highlight>
                <a:srgbClr val="DFDFD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Block a signal in all threads to prevent its asynchronous delivery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9"/>
          <p:cNvSpPr txBox="1"/>
          <p:nvPr/>
        </p:nvSpPr>
        <p:spPr>
          <a:xfrm>
            <a:off x="680375" y="3146650"/>
            <a:ext cx="8104800" cy="58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pthread_sigmask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(...);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set my mask to block delivery of some signals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n" sz="13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(...);</a:t>
            </a: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new thread will start with a copy of the same mask</a:t>
            </a:r>
            <a:endParaRPr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easiest method to ensure a signal is blocked in all threads is to set the signal mask in the main thread before new threads are created.</a:t>
            </a:r>
            <a:endParaRPr/>
          </a:p>
        </p:txBody>
      </p:sp>
      <p:sp>
        <p:nvSpPr>
          <p:cNvPr id="246" name="Google Shape;246;p40"/>
          <p:cNvSpPr txBox="1"/>
          <p:nvPr/>
        </p:nvSpPr>
        <p:spPr>
          <a:xfrm>
            <a:off x="552775" y="2177125"/>
            <a:ext cx="7058700" cy="169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sigemptyset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sigaddset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SIGQUIT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sigaddset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SIGINT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pthread_sigmask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SIG_BLOCK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this thread and the new thread will block SIGQUIT and SIGINT</a:t>
            </a:r>
            <a:endParaRPr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thread_id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myfunc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funcparam</a:t>
            </a:r>
            <a:r>
              <a:rPr lang="en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ust as we saw with </a:t>
            </a:r>
            <a:r>
              <a:rPr lang="en" sz="14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sigprocmask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4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pthread_sigmask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includes a ‘how’ parameter that defines how the signal set is to be used: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pthread_sigmask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SIG_SETMASK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replace the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en" sz="1200">
                <a:solidFill>
                  <a:srgbClr val="002B36"/>
                </a:solidFill>
                <a:highlight>
                  <a:srgbClr val="DC322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 mask with given signal set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pthread_sigmask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SIG_BLOCK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add the signal set to the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en" sz="1200">
                <a:solidFill>
                  <a:srgbClr val="002B36"/>
                </a:solidFill>
                <a:highlight>
                  <a:srgbClr val="DC322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 mask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8890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pthread_sigmask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SIG_UNBLOCK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remove the signal set from the </a:t>
            </a:r>
            <a:r>
              <a:rPr lang="en" sz="1200">
                <a:solidFill>
                  <a:srgbClr val="6C71C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en" sz="1200">
                <a:solidFill>
                  <a:srgbClr val="002B36"/>
                </a:solidFill>
                <a:highlight>
                  <a:srgbClr val="DC322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12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 mask</a:t>
            </a:r>
            <a:endParaRPr sz="12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Even though programs from the outside can’t send signals to specific threads, you can do that internally with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pthread_kill(pthread_t thread, int sig)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In the example below, the newly created thread executing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func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will be interrupted by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SIGINT</a:t>
            </a:r>
            <a:endParaRPr sz="1200">
              <a:solidFill>
                <a:srgbClr val="151515"/>
              </a:solidFill>
              <a:highlight>
                <a:srgbClr val="DFDFD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tid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func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args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pthread_kill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tid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SIGINT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pthread_kill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pthread_self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SIGKILL</a:t>
            </a:r>
            <a:r>
              <a:rPr lang="en" sz="1000">
                <a:solidFill>
                  <a:srgbClr val="93A1A1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" sz="10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57B83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// send SIGKILL to myself</a:t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8890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As a word of warning </a:t>
            </a:r>
            <a:r>
              <a:rPr b="1" lang="en" sz="1200" u="sng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pthread_kill(threadid, SIGKILL)</a:t>
            </a:r>
            <a:r>
              <a:rPr b="1" lang="en" sz="1400" u="sng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will kill the entire process.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Though individual threads can set a signal mask, the signal disposition is </a:t>
            </a:r>
            <a:r>
              <a:rPr i="1"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per-proces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 not </a:t>
            </a:r>
            <a:r>
              <a:rPr i="1"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per-thread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This means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sigaction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can be called from any thread because you will be setting a signal handler for all threads in the process.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