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embeddedFontLst>
    <p:embeddedFont>
      <p:font typeface="Robot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5ADB1C-74D0-4E3B-9544-D28B2B1A67AA}">
  <a:tblStyle styleId="{C65ADB1C-74D0-4E3B-9544-D28B2B1A67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oboto-italic.fntdata"/><Relationship Id="rId10" Type="http://schemas.openxmlformats.org/officeDocument/2006/relationships/slide" Target="slides/slide4.xml"/><Relationship Id="rId54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d769855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d769855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05f981fd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405f981fd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452198ad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452198ad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405f981fd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405f981fd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05f981fd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405f981fd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d452198ad5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d452198ad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405f981fd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405f981fd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d452198ad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d452198ad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d769855d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d769855d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d769855d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d769855d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cd769855d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cd769855d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d769855d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d769855d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d769855d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d769855d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23ae42d1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23ae42d1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96d905cd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c96d905cd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96d905cd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c96d905cd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405f981fd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405f981fd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723b1e48a2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723b1e48a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723b1e48a2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723b1e48a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d769855d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cd769855d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723b1e48a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723b1e48a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23b1e48a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723b1e48a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7c1ec5ec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27c1ec5ec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05f981fd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05f981fd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cd769855d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cd769855d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aebbb52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daebbb52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45b87185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445b8718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723ae42d1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723ae42d1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27beb9cdc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27beb9cdc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405f981fd4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405f981fd4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723b1e48a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723b1e48a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723b1e48a2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723b1e48a2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723b1e48a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723b1e48a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23b1e48a2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23b1e48a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723b1e48a2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723b1e48a2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723b1e48a2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723b1e48a2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cd769855d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cd769855d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23b1e48a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23b1e48a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723b1e48a2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723b1e48a2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405f981fd4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405f981fd4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cd769855d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cd769855d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cd769855d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cd769855d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45ab1de4e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45ab1de4e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723b1e48a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723b1e48a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d452198ad5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d452198ad5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angrave/SystemProgramming/wiki#5-synchronizatio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inux.die.net/man/3/pthread_mutex_lock" TargetMode="External"/><Relationship Id="rId4" Type="http://schemas.openxmlformats.org/officeDocument/2006/relationships/hyperlink" Target="https://linux.die.net/man/3/pthread_mutex_unlock" TargetMode="External"/><Relationship Id="rId5" Type="http://schemas.openxmlformats.org/officeDocument/2006/relationships/hyperlink" Target="https://linux.die.net/man/3/pthread_mutex_destroy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linux.die.net/man/3/pthread_mutex_ini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Synchronization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Mutex, </a:t>
            </a:r>
            <a:r>
              <a:rPr lang="en" sz="2400"/>
              <a:t>condition</a:t>
            </a:r>
            <a:r>
              <a:rPr lang="en" sz="2400"/>
              <a:t> variables, monitors, semaphores, thread safe data structures</a:t>
            </a:r>
            <a:endParaRPr sz="2400"/>
          </a:p>
        </p:txBody>
      </p:sp>
      <p:sp>
        <p:nvSpPr>
          <p:cNvPr id="56" name="Google Shape;56;p13"/>
          <p:cNvSpPr txBox="1"/>
          <p:nvPr/>
        </p:nvSpPr>
        <p:spPr>
          <a:xfrm>
            <a:off x="985150" y="4262050"/>
            <a:ext cx="657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content is mostly taken from ch. 7 of the course book,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https://github.com/angrave/SystemProgramming/wiki#5-synchronization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We will see some algorithmic and kernel details in BIL 301 Operating systems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95850" y="111250"/>
            <a:ext cx="8794500" cy="9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multithreading gets “interesting”!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176275" y="1302075"/>
            <a:ext cx="4272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3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3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//shared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countgold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param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//local to each thread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10000000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46750" y="765125"/>
            <a:ext cx="49776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countgold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countgold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//Wait for both threads to finish: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"ARRRRG sum is %d</a:t>
            </a:r>
            <a:r>
              <a:rPr b="1" lang="en" sz="130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3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180825" y="4177750"/>
            <a:ext cx="3760800" cy="831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gcc main.c -pthread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./a.out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??????????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95850" y="111250"/>
            <a:ext cx="4689900" cy="9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multithreading gets “interesting”!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176275" y="1302075"/>
            <a:ext cx="4272600" cy="39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3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3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//shared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countgold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param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//local to each thread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10000000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746750" y="765125"/>
            <a:ext cx="49776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countgold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countgold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//Wait for both threads to finish: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"ARRRRG sum is %d</a:t>
            </a:r>
            <a:r>
              <a:rPr b="1" lang="en" sz="1300">
                <a:solidFill>
                  <a:srgbClr val="EE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3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5158850" y="2070575"/>
            <a:ext cx="3760800" cy="2339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gcc main.c -pthread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./a.out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ARRRRG sum is 10214142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./a.out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ARRRRG sum is 11798888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./a.out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ARRRRG sum is 10576703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./a.out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ARRRRG sum is 10159994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177950" y="4580125"/>
            <a:ext cx="7632000" cy="400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is a r</a:t>
            </a:r>
            <a:r>
              <a:rPr lang="en">
                <a:solidFill>
                  <a:schemeClr val="dk1"/>
                </a:solidFill>
              </a:rPr>
              <a:t>ace condition if the end result may change based on the execution order.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synchronization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Mutex ( "mutual exclusion")</a:t>
            </a:r>
            <a:endParaRPr b="1"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Protect accesses to shared variables at the same time</a:t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Condition Variables</a:t>
            </a:r>
            <a:endParaRPr b="1" sz="2200"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Inform another thread about the change in the state of the shared variable</a:t>
            </a:r>
            <a:endParaRPr sz="22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synchronize based upon the actual value of the variable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 exclusion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From previous example</a:t>
            </a:r>
            <a:endParaRPr b="1" sz="1300">
              <a:solidFill>
                <a:srgbClr val="0000F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300">
              <a:solidFill>
                <a:srgbClr val="A3151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300">
              <a:solidFill>
                <a:srgbClr val="A3151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3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9865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8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//shared</a:t>
            </a:r>
            <a:endParaRPr b="1" sz="1300">
              <a:solidFill>
                <a:srgbClr val="008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countgold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param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//local to each thread</a:t>
            </a:r>
            <a:endParaRPr b="1" sz="1300">
              <a:solidFill>
                <a:srgbClr val="008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3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b="1" lang="en" sz="130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10000000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++) {</a:t>
            </a:r>
            <a:endParaRPr b="1" sz="13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3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3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b="1" lang="en" sz="1300">
                <a:solidFill>
                  <a:srgbClr val="098658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300"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3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rgbClr val="0000F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do not want two or more threads to update </a:t>
            </a:r>
            <a:r>
              <a:rPr b="1" lang="en" sz="1300">
                <a:solidFill>
                  <a:srgbClr val="00108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"/>
              <a:t> at the same time.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4572000" y="3182825"/>
            <a:ext cx="2838900" cy="951300"/>
          </a:xfrm>
          <a:prstGeom prst="wedgeEllipseCallout">
            <a:avLst>
              <a:gd fmla="val -153346" name="adj1"/>
              <a:gd fmla="val 3383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515"/>
                </a:solidFill>
              </a:rPr>
              <a:t>Critical section</a:t>
            </a:r>
            <a:r>
              <a:rPr lang="en"/>
              <a:t> of the code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 exclusion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31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 exclusion is a property that says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A31515"/>
                </a:solidFill>
              </a:rPr>
              <a:t>“no two or more processes (threads) can be in their critical section at the same time at any given point of time”.</a:t>
            </a:r>
            <a:endParaRPr b="1" sz="2000">
              <a:solidFill>
                <a:srgbClr val="A31515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More on this topic in Operating Systems course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Mutex variables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516575" y="140855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To </a:t>
            </a:r>
            <a:r>
              <a:rPr lang="en" sz="1800"/>
              <a:t>achieve</a:t>
            </a:r>
            <a:r>
              <a:rPr lang="en" sz="1800"/>
              <a:t> mutual exclusion we use </a:t>
            </a:r>
            <a:r>
              <a:rPr lang="en" sz="1800"/>
              <a:t>mutex variable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It ensures that only one thread at a time can access a global variable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In POSIX: </a:t>
            </a:r>
            <a:r>
              <a:rPr b="1" lang="en" sz="1800"/>
              <a:t>pthread_mutex_t, 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similar lock concepts in different </a:t>
            </a:r>
            <a:r>
              <a:rPr lang="en" sz="1800"/>
              <a:t>languages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" name="Google Shape;10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/* global variable should be used for static mutexes*/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m;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 = PTHREAD_MUTEX_INITIALIZER; </a:t>
            </a:r>
            <a:endParaRPr b="1" sz="12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/* start of Critical Section */</a:t>
            </a:r>
            <a:endParaRPr b="1" sz="1250">
              <a:solidFill>
                <a:srgbClr val="795E26"/>
              </a:solidFill>
              <a:highlight>
                <a:srgbClr val="D9EA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795E26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250">
                <a:solidFill>
                  <a:schemeClr val="dk1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250">
                <a:solidFill>
                  <a:srgbClr val="001080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250">
                <a:solidFill>
                  <a:schemeClr val="dk1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 b="1" sz="1250">
              <a:solidFill>
                <a:schemeClr val="dk1"/>
              </a:solidFill>
              <a:highlight>
                <a:srgbClr val="D9EAD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008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>
                <a:solidFill>
                  <a:srgbClr val="008000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// Critical section</a:t>
            </a:r>
            <a:endParaRPr b="1" sz="1650">
              <a:solidFill>
                <a:srgbClr val="008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008000"/>
              </a:solidFill>
              <a:highlight>
                <a:schemeClr val="accent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008000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/* end of Critical Section */</a:t>
            </a:r>
            <a:endParaRPr b="1" sz="1650">
              <a:solidFill>
                <a:srgbClr val="008000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rgbClr val="795E26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250">
                <a:solidFill>
                  <a:schemeClr val="dk1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250">
                <a:solidFill>
                  <a:srgbClr val="001080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250">
                <a:solidFill>
                  <a:schemeClr val="dk1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 b="1" sz="1600">
              <a:highlight>
                <a:srgbClr val="F4CCCC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Mutexes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//m</a:t>
            </a: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is a mutex variable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mutex_lock</a:t>
            </a:r>
            <a:r>
              <a:rPr b="1" lang="en" sz="14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1" lang="en" sz="14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//acquire lock</a:t>
            </a:r>
            <a:endParaRPr b="1" sz="14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critical_section</a:t>
            </a:r>
            <a:endParaRPr b="1" sz="14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mutex_unlock</a:t>
            </a:r>
            <a:r>
              <a:rPr b="1" lang="en" sz="14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1" lang="en" sz="14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4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b="1" lang="en" sz="14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//release lock</a:t>
            </a:r>
            <a:endParaRPr b="1" sz="14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consider lock as </a:t>
            </a:r>
            <a:r>
              <a:rPr b="1" lang="en"/>
              <a:t>“a mic among </a:t>
            </a:r>
            <a:r>
              <a:rPr b="1" lang="en" u="sng"/>
              <a:t>participants</a:t>
            </a:r>
            <a:r>
              <a:rPr b="1" lang="en"/>
              <a:t> that controls who has the right to speak”</a:t>
            </a:r>
            <a:r>
              <a:rPr lang="en"/>
              <a:t>,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 is whoever has the mic (m1) has the right to speak</a:t>
            </a:r>
            <a:endParaRPr/>
          </a:p>
          <a:p>
            <a:pPr indent="-317500" lvl="2" marL="1371600" rtl="0" algn="l">
              <a:spcBef>
                <a:spcPts val="1600"/>
              </a:spcBef>
              <a:spcAft>
                <a:spcPts val="1600"/>
              </a:spcAft>
              <a:buSzPts val="1400"/>
              <a:buChar char="■"/>
            </a:pPr>
            <a:r>
              <a:rPr lang="en"/>
              <a:t> in our case do ops on the memory shared among the participants.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Mutex variables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771475"/>
            <a:ext cx="8026500" cy="7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 mutex can either be allocated as a static (global) variable </a:t>
            </a:r>
            <a:endParaRPr sz="1700"/>
          </a:p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or be created dynamically at run time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/>
              <a:t> </a:t>
            </a:r>
            <a:endParaRPr sz="1700"/>
          </a:p>
        </p:txBody>
      </p:sp>
      <p:sp>
        <p:nvSpPr>
          <p:cNvPr id="115" name="Google Shape;115;p21"/>
          <p:cNvSpPr txBox="1"/>
          <p:nvPr>
            <p:ph idx="2" type="body"/>
          </p:nvPr>
        </p:nvSpPr>
        <p:spPr>
          <a:xfrm>
            <a:off x="72600" y="1654850"/>
            <a:ext cx="8520600" cy="12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 = PTHREAD_MUTEX_INITIALIZER;</a:t>
            </a:r>
            <a:endParaRPr b="1"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4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 b="1" sz="14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Critical section</a:t>
            </a:r>
            <a:endParaRPr b="1" sz="14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4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endParaRPr b="1" sz="1800"/>
          </a:p>
        </p:txBody>
      </p:sp>
      <p:sp>
        <p:nvSpPr>
          <p:cNvPr id="116" name="Google Shape;116;p21"/>
          <p:cNvSpPr txBox="1"/>
          <p:nvPr/>
        </p:nvSpPr>
        <p:spPr>
          <a:xfrm>
            <a:off x="1731975" y="3008450"/>
            <a:ext cx="73137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*lock = </a:t>
            </a:r>
            <a:r>
              <a:rPr b="1" lang="en" sz="15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pthread_mutex_init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(lock, </a:t>
            </a:r>
            <a:r>
              <a:rPr b="1" lang="en" sz="15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//critical section</a:t>
            </a:r>
            <a:endParaRPr b="1" sz="15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pthread_mutex_destroy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(lock);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r>
              <a:rPr b="1" lang="en" sz="15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(lock);</a:t>
            </a:r>
            <a:endParaRPr b="1" sz="15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Sum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225550" y="1023750"/>
            <a:ext cx="8452500" cy="4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Create a mutex this ready to be locked!*/</a:t>
            </a:r>
            <a:endParaRPr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 = </a:t>
            </a:r>
            <a:r>
              <a:rPr lang="en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PTHREAD_MUTEX_INITIALIZER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sum = </a:t>
            </a:r>
            <a:r>
              <a:rPr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countgold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param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Other threads that call lock will have to wait until we call unlock */</a:t>
            </a:r>
            <a:endParaRPr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1"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10000000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1" lang="en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sum += </a:t>
            </a:r>
            <a:r>
              <a:rPr b="1" lang="en">
                <a:solidFill>
                  <a:srgbClr val="098658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>
                <a:solidFill>
                  <a:schemeClr val="dk1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1" lang="en">
                <a:solidFill>
                  <a:srgbClr val="008000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/*-&gt;critical section*/</a:t>
            </a:r>
            <a:endParaRPr b="1">
              <a:solidFill>
                <a:srgbClr val="008000"/>
              </a:solidFill>
              <a:highlight>
                <a:srgbClr val="FCE5CD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22"/>
          <p:cNvSpPr txBox="1"/>
          <p:nvPr>
            <p:ph idx="2" type="body"/>
          </p:nvPr>
        </p:nvSpPr>
        <p:spPr>
          <a:xfrm>
            <a:off x="5268600" y="1152475"/>
            <a:ext cx="356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thread that locks the mutex must unlock it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Critical section is 'sum += 1'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76200" y="726350"/>
            <a:ext cx="3880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countgold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param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10000000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6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167500" y="3972900"/>
            <a:ext cx="4355100" cy="831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runs slower because we lock and unlock the mutex a million times, which is expensive - at least compared with incrementing a variable.</a:t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4951725" y="706000"/>
            <a:ext cx="38805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countgold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param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10000000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+=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one runs faster?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sum of elements in array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737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Write a concurrent program to find the sum of elements in array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Define a global sum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Each thread sums elements between start and end</a:t>
            </a:r>
            <a:endParaRPr sz="1600"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Start &amp; end are computed from thread index</a:t>
            </a:r>
            <a:endParaRPr sz="1400"/>
          </a:p>
          <a:p>
            <a:pPr indent="-330200" lvl="0" marL="457200" rtl="0" algn="l"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n" sz="1600"/>
              <a:t>Adds its resulting sum to the global sum 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2355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gotchas!</a:t>
            </a:r>
            <a:endParaRPr/>
          </a:p>
        </p:txBody>
      </p:sp>
      <p:sp>
        <p:nvSpPr>
          <p:cNvPr id="143" name="Google Shape;143;p25"/>
          <p:cNvSpPr txBox="1"/>
          <p:nvPr/>
        </p:nvSpPr>
        <p:spPr>
          <a:xfrm>
            <a:off x="235500" y="720125"/>
            <a:ext cx="58407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PTHREAD_MUTEX_INITIALIZER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m2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PTHREAD_MUTEX_INITIALIZER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later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Thread 1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m1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Thread 2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m2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m2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4818875" y="2717625"/>
            <a:ext cx="3000000" cy="109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>
                <a:solidFill>
                  <a:srgbClr val="A315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code creates a mutex that does effectively nothing!</a:t>
            </a:r>
            <a:endParaRPr sz="1800">
              <a:solidFill>
                <a:srgbClr val="A315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gotchas!</a:t>
            </a:r>
            <a:endParaRPr/>
          </a:p>
        </p:txBody>
      </p:sp>
      <p:sp>
        <p:nvSpPr>
          <p:cNvPr id="150" name="Google Shape;150;p26"/>
          <p:cNvSpPr txBox="1"/>
          <p:nvPr>
            <p:ph idx="2" type="body"/>
          </p:nvPr>
        </p:nvSpPr>
        <p:spPr>
          <a:xfrm>
            <a:off x="4705250" y="586825"/>
            <a:ext cx="4127100" cy="39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 startAt="5"/>
            </a:pPr>
            <a:r>
              <a:rPr lang="en" sz="1300">
                <a:highlight>
                  <a:srgbClr val="FFFFFF"/>
                </a:highlight>
              </a:rPr>
              <a:t>There will always be a small amount of overhead of calling </a:t>
            </a:r>
            <a:r>
              <a:rPr lang="en" sz="1300" u="sng">
                <a:solidFill>
                  <a:schemeClr val="hlink"/>
                </a:solidFill>
                <a:highlight>
                  <a:srgbClr val="DFDFDF"/>
                </a:highlight>
                <a:hlinkClick r:id="rId3"/>
              </a:rPr>
              <a:t>pthread_mutex_lock</a:t>
            </a:r>
            <a:r>
              <a:rPr lang="en" sz="1300">
                <a:highlight>
                  <a:srgbClr val="FFFFFF"/>
                </a:highlight>
              </a:rPr>
              <a:t> and </a:t>
            </a:r>
            <a:r>
              <a:rPr lang="en" sz="1300" u="sng">
                <a:solidFill>
                  <a:schemeClr val="hlink"/>
                </a:solidFill>
                <a:highlight>
                  <a:srgbClr val="DFDFDF"/>
                </a:highlight>
                <a:hlinkClick r:id="rId4"/>
              </a:rPr>
              <a:t>pthread_mutex_unlock</a:t>
            </a:r>
            <a:r>
              <a:rPr lang="en" sz="1300">
                <a:highlight>
                  <a:srgbClr val="FFFFFF"/>
                </a:highlight>
              </a:rPr>
              <a:t>. However, this is the price to pay for correctly functioning programs!</a:t>
            </a:r>
            <a:endParaRPr sz="1300"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 startAt="5"/>
            </a:pPr>
            <a:r>
              <a:rPr lang="en" sz="1300">
                <a:highlight>
                  <a:srgbClr val="FFFFFF"/>
                </a:highlight>
              </a:rPr>
              <a:t>Not unlocking a mutex due to an early return during an error condition</a:t>
            </a:r>
            <a:endParaRPr sz="1300"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 startAt="5"/>
            </a:pPr>
            <a:r>
              <a:rPr lang="en" sz="1300">
                <a:highlight>
                  <a:srgbClr val="FFFFFF"/>
                </a:highlight>
              </a:rPr>
              <a:t>Resource leak (not calling </a:t>
            </a:r>
            <a:r>
              <a:rPr lang="en" sz="1300" u="sng">
                <a:solidFill>
                  <a:schemeClr val="hlink"/>
                </a:solidFill>
                <a:highlight>
                  <a:srgbClr val="DFDFDF"/>
                </a:highlight>
                <a:hlinkClick r:id="rId5"/>
              </a:rPr>
              <a:t>pthread_mutex_destroy</a:t>
            </a:r>
            <a:r>
              <a:rPr lang="en" sz="1300">
                <a:highlight>
                  <a:srgbClr val="FFFFFF"/>
                </a:highlight>
              </a:rPr>
              <a:t>)</a:t>
            </a:r>
            <a:endParaRPr sz="1300"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 startAt="5"/>
            </a:pPr>
            <a:r>
              <a:rPr lang="en" sz="1300">
                <a:highlight>
                  <a:srgbClr val="FFFFFF"/>
                </a:highlight>
              </a:rPr>
              <a:t>Using an uninitialized mutex or using a mutex that has already been destroyed</a:t>
            </a:r>
            <a:endParaRPr sz="1300"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 startAt="5"/>
            </a:pPr>
            <a:r>
              <a:rPr lang="en" sz="1300">
                <a:highlight>
                  <a:srgbClr val="FFFFFF"/>
                </a:highlight>
              </a:rPr>
              <a:t>Locking a mutex twice on a thread without unlocking first</a:t>
            </a:r>
            <a:endParaRPr sz="1300"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 startAt="5"/>
            </a:pPr>
            <a:r>
              <a:rPr lang="en" sz="1300">
                <a:highlight>
                  <a:srgbClr val="FFFFFF"/>
                </a:highlight>
              </a:rPr>
              <a:t>Deadlock</a:t>
            </a:r>
            <a:endParaRPr sz="1300"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highlight>
                  <a:schemeClr val="lt1"/>
                </a:highlight>
              </a:rPr>
              <a:t>Don’t cross the streams! If using threads, don’t fork in the middle of your program. This means any time after your mutexes have been initialized.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highlight>
                  <a:schemeClr val="lt1"/>
                </a:highlight>
              </a:rPr>
              <a:t>The thread that locks a mutex is the only thread that can unlock it.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highlight>
                  <a:schemeClr val="lt1"/>
                </a:highlight>
              </a:rPr>
              <a:t>Each program can have multiple mutex locks. A thread safe design might include a lock with each data structure, one lock per heap, or one lock per set of data structures If a program has only one lock, then there may be significant contention for the lock. If two threads were updating two different counters, it isn’t necessary to use the same lock.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highlight>
                  <a:schemeClr val="lt1"/>
                </a:highlight>
              </a:rPr>
              <a:t>Locks are only tools. They don’t spot critical sections!</a:t>
            </a:r>
            <a:endParaRPr sz="1300"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 variables: Overview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mutexes </a:t>
            </a:r>
            <a:endParaRPr b="1"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implement synchronization by controlling thread access to data,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prevent multiple threads accessing the shared variable at the same time.</a:t>
            </a:r>
            <a:endParaRPr sz="1600"/>
          </a:p>
          <a:p>
            <a:pPr indent="-317500" lvl="1" marL="914400" rtl="0" algn="l">
              <a:spcBef>
                <a:spcPts val="1600"/>
              </a:spcBef>
              <a:spcAft>
                <a:spcPts val="1600"/>
              </a:spcAft>
              <a:buSzPts val="1400"/>
              <a:buChar char="○"/>
            </a:pPr>
            <a:r>
              <a:rPr lang="en" sz="1400"/>
              <a:t>Threads must be participating</a:t>
            </a:r>
            <a:endParaRPr sz="1400"/>
          </a:p>
        </p:txBody>
      </p:sp>
      <p:sp>
        <p:nvSpPr>
          <p:cNvPr id="158" name="Google Shape;158;p27"/>
          <p:cNvSpPr txBox="1"/>
          <p:nvPr>
            <p:ph idx="2" type="body"/>
          </p:nvPr>
        </p:nvSpPr>
        <p:spPr>
          <a:xfrm>
            <a:off x="4778250" y="1152475"/>
            <a:ext cx="40539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condition variables </a:t>
            </a:r>
            <a:endParaRPr b="1" sz="1600"/>
          </a:p>
          <a:p>
            <a:pPr indent="-33020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allow threads to synchronize based upon the actual value of data.</a:t>
            </a:r>
            <a:endParaRPr sz="1600"/>
          </a:p>
          <a:p>
            <a:pPr indent="-3175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one thread informs other threads about changes in the state of a shared variable (or other shared resource) </a:t>
            </a:r>
            <a:endParaRPr sz="1400"/>
          </a:p>
          <a:p>
            <a:pPr indent="-317500" lvl="1" marL="9144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and allows other threads to wait (block) for such notification.</a:t>
            </a:r>
            <a:endParaRPr sz="1400"/>
          </a:p>
          <a:p>
            <a:pPr indent="-330200" lvl="0" marL="45720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allow a set of threads to sleep until woken up.</a:t>
            </a:r>
            <a:endParaRPr sz="1600"/>
          </a:p>
          <a:p>
            <a:pPr indent="-330200" lvl="0" marL="457200" rtl="0" algn="l">
              <a:lnSpc>
                <a:spcPct val="9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●"/>
            </a:pPr>
            <a:r>
              <a:rPr lang="en" sz="1600"/>
              <a:t>A condition variable is always used in conjunction with a mutex lock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152475"/>
            <a:ext cx="3999900" cy="3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 monitor is 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synchronization construct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“Pattern”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A monitor consists of 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mutex (lock) 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900"/>
              <a:t>It uses the </a:t>
            </a:r>
            <a:r>
              <a:rPr b="1" lang="en" sz="1900"/>
              <a:t>lock</a:t>
            </a:r>
            <a:r>
              <a:rPr lang="en" sz="1900"/>
              <a:t> to protect a critical section. </a:t>
            </a:r>
            <a:endParaRPr sz="13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and at least </a:t>
            </a:r>
            <a:r>
              <a:rPr b="1" lang="en" sz="1500"/>
              <a:t>one condition variable</a:t>
            </a:r>
            <a:r>
              <a:rPr lang="en" sz="1500"/>
              <a:t>. 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allows them to wait for the state to change</a:t>
            </a:r>
            <a:endParaRPr sz="1300"/>
          </a:p>
        </p:txBody>
      </p:sp>
      <p:sp>
        <p:nvSpPr>
          <p:cNvPr id="165" name="Google Shape;16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It provides a mechanism for threads to temporarily give up exclusive access in order to wait for some condition to be met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basic monitor construct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1152475"/>
            <a:ext cx="8520600" cy="3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// Acquire this monitor's lock.</a:t>
            </a:r>
            <a:endParaRPr b="1"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/*... Critical section ...*/</a:t>
            </a:r>
            <a:endParaRPr b="1"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8F08C4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(!p) {</a:t>
            </a:r>
            <a:r>
              <a:rPr b="1" lang="en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// While the condition that we are waiting  for is not true</a:t>
            </a:r>
            <a:endParaRPr b="1"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(cv, m);</a:t>
            </a:r>
            <a:r>
              <a:rPr b="1" lang="en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// Wait on this monitor's lock and condition variable.</a:t>
            </a:r>
            <a:endParaRPr b="1"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/*... Critical section ...*/</a:t>
            </a:r>
            <a:endParaRPr b="1"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signal</a:t>
            </a: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(cv2);</a:t>
            </a:r>
            <a:r>
              <a:rPr b="1" lang="en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// Or: broadcast(cv2);</a:t>
            </a:r>
            <a:endParaRPr b="1"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b="1" lang="en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cv2 might be the same as cv or different.</a:t>
            </a:r>
            <a:endParaRPr b="1"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b="1"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" sz="15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// Release this monitor's lock.</a:t>
            </a:r>
            <a:endParaRPr b="1" sz="15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74531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30"/>
          <p:cNvGraphicFramePr/>
          <p:nvPr/>
        </p:nvGraphicFramePr>
        <p:xfrm>
          <a:off x="311725" y="86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{C65ADB1C-74D0-4E3B-9544-D28B2B1A67AA}</a:tableStyleId>
              </a:tblPr>
              <a:tblGrid>
                <a:gridCol w="4179175"/>
                <a:gridCol w="4179175"/>
              </a:tblGrid>
              <a:tr h="3280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//1st thread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mutex_lock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/*critical section entry*/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8F08C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chemeClr val="accent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need_to_wait_1 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){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cond_wait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 sz="180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/*critical section exit*/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cond_signal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c2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//or broadcast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mutex_unlock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2000">
                        <a:solidFill>
                          <a:srgbClr val="006A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2nd thread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mutex_lock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/*critical section entry*/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8F08C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chemeClr val="accent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need_to_wait_2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){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cond_wait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 sz="1800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c2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m1);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/*critical section exit*/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cond_signal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//or broadcast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mutex_unlock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2000">
                        <a:solidFill>
                          <a:srgbClr val="006A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4340750"/>
            <a:ext cx="8520600" cy="7122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m1:</a:t>
            </a:r>
            <a:r>
              <a:rPr lang="en" sz="1200"/>
              <a:t> mutex lock to control the access to the critical section.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c1: condition variable</a:t>
            </a:r>
            <a:r>
              <a:rPr lang="en" sz="1200"/>
              <a:t> is for one condition</a:t>
            </a:r>
            <a:endParaRPr sz="12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/>
              <a:t>c2: </a:t>
            </a:r>
            <a:r>
              <a:rPr b="1" lang="en" sz="1200"/>
              <a:t>condition variable </a:t>
            </a:r>
            <a:r>
              <a:rPr lang="en" sz="1200"/>
              <a:t>is for another condition</a:t>
            </a:r>
            <a:br>
              <a:rPr lang="en" sz="1500"/>
            </a:br>
            <a:br>
              <a:rPr lang="en" sz="1500"/>
            </a:br>
            <a:endParaRPr sz="1500"/>
          </a:p>
        </p:txBody>
      </p:sp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for waiting two different conditions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condition variables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211950" y="789125"/>
            <a:ext cx="8690400" cy="42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Condition variables must be declared with type </a:t>
            </a:r>
            <a:r>
              <a:rPr b="1" lang="en" sz="1500"/>
              <a:t>pthread_cond_t</a:t>
            </a:r>
            <a:r>
              <a:rPr lang="en" sz="1500"/>
              <a:t>, and must be initialized before they can be used. There are two ways to initialize a condition variable: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/>
              <a:t>Statically,. 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pthread_cond_t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cond = PTHREAD_COND_INITIALIZER;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500"/>
              <a:t>Dynamically, 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pthread_cond_init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pthread_cond_t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*cond, </a:t>
            </a: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pthread_condattr_t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 attr);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ID of the created condition variable is returned to the calling thread through the condition parameter. 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This method permits setting condition variable object attributes, attr.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pthread_cond_destroy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pthread_cond_t</a:t>
            </a:r>
            <a:r>
              <a:rPr b="1" lang="en" sz="13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*cond);</a:t>
            </a: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Signaling and waiting on condition variables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3411725"/>
            <a:ext cx="8451000" cy="11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return 0 on success, or a positive error number on error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400"/>
          </a:p>
        </p:txBody>
      </p:sp>
      <p:sp>
        <p:nvSpPr>
          <p:cNvPr id="191" name="Google Shape;191;p32"/>
          <p:cNvSpPr txBox="1"/>
          <p:nvPr/>
        </p:nvSpPr>
        <p:spPr>
          <a:xfrm>
            <a:off x="168500" y="1072025"/>
            <a:ext cx="9144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>
              <a:solidFill>
                <a:srgbClr val="A31515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pthread_cond_t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*cond, </a:t>
            </a: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*mutex);</a:t>
            </a:r>
            <a:endParaRPr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pthread_cond_signal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pthread_cond_t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*cond);/*only one waiting thread is woken*/</a:t>
            </a:r>
            <a:endParaRPr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pthread_cond_broadcast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pthread_cond_t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*cond); /*all waiting threads are woken*/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Condition variables are always used with a mutex lock.</a:t>
            </a:r>
            <a:endParaRPr sz="2700"/>
          </a:p>
        </p:txBody>
      </p:sp>
      <p:sp>
        <p:nvSpPr>
          <p:cNvPr id="197" name="Google Shape;197;p33"/>
          <p:cNvSpPr txBox="1"/>
          <p:nvPr>
            <p:ph idx="1" type="body"/>
          </p:nvPr>
        </p:nvSpPr>
        <p:spPr>
          <a:xfrm>
            <a:off x="311700" y="712925"/>
            <a:ext cx="8832300" cy="29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Before calling wait, the mutex lock must be locked and wait must be wrapped with a loop.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9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9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9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9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(condition_is_false)</a:t>
            </a:r>
            <a:endParaRPr b="1" sz="19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9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9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9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9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19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3"/>
          <p:cNvSpPr txBox="1"/>
          <p:nvPr/>
        </p:nvSpPr>
        <p:spPr>
          <a:xfrm>
            <a:off x="294900" y="3749100"/>
            <a:ext cx="8554200" cy="1204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</a:t>
            </a:r>
            <a:r>
              <a:rPr b="1" lang="en" sz="1500">
                <a:solidFill>
                  <a:schemeClr val="dk1"/>
                </a:solidFill>
              </a:rPr>
              <a:t> while loop</a:t>
            </a:r>
            <a:r>
              <a:rPr lang="en" sz="1500">
                <a:solidFill>
                  <a:schemeClr val="dk1"/>
                </a:solidFill>
              </a:rPr>
              <a:t> is used because the condition could change after </a:t>
            </a:r>
            <a:r>
              <a:rPr b="1" lang="en" sz="11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500">
                <a:solidFill>
                  <a:schemeClr val="dk1"/>
                </a:solidFill>
              </a:rPr>
              <a:t>Wait wakes the thread but the state of the buffer might change until the thread gets to really run.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producer-consumer example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833600"/>
            <a:ext cx="4407600" cy="29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mtx =          </a:t>
            </a:r>
            <a:endParaRPr b="1" sz="1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PTHREAD_MUTEX_INITIALIZER;</a:t>
            </a:r>
            <a:endParaRPr b="1" sz="1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avail = </a:t>
            </a:r>
            <a:r>
              <a:rPr b="1" lang="en" sz="17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b="1" lang="en" sz="17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producer</a:t>
            </a: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7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b="1" lang="en" sz="17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7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(&amp;mtx);</a:t>
            </a:r>
            <a:endParaRPr b="1" sz="1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avail++; </a:t>
            </a:r>
            <a:endParaRPr b="1" sz="17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7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(&amp;mtx);</a:t>
            </a:r>
            <a:endParaRPr b="1" sz="1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7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205" name="Google Shape;205;p34"/>
          <p:cNvSpPr txBox="1"/>
          <p:nvPr>
            <p:ph idx="2" type="body"/>
          </p:nvPr>
        </p:nvSpPr>
        <p:spPr>
          <a:xfrm>
            <a:off x="4653300" y="619075"/>
            <a:ext cx="4407600" cy="3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5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b="1" sz="1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5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(;;) {</a:t>
            </a:r>
            <a:endParaRPr b="1" sz="1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5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(&amp;mtx);</a:t>
            </a:r>
            <a:endParaRPr b="1" sz="1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5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(avail &gt; </a:t>
            </a:r>
            <a:r>
              <a:rPr b="1" lang="en" sz="15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endParaRPr b="1" sz="15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avail--;</a:t>
            </a:r>
            <a:endParaRPr b="1" sz="1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1" sz="1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5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(&amp;mtx);</a:t>
            </a:r>
            <a:endParaRPr b="1" sz="1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   </a:t>
            </a:r>
            <a:endParaRPr b="1" sz="15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1022500" y="3949100"/>
            <a:ext cx="71988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above code works, but it wastes CPU time, because the main thread continually loops, checking the state of the variable avail.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producer-consumer example with cond variable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311700" y="1152475"/>
            <a:ext cx="4977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mtx =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5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PTHREAD_MUTEX_INITIALIZER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avail = </a:t>
            </a:r>
            <a:r>
              <a:rPr lang="en" sz="15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producer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5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(&amp;mtx);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avail++;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(&amp;cv);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(&amp;mtx);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1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" name="Google Shape;213;p35"/>
          <p:cNvSpPr txBox="1"/>
          <p:nvPr>
            <p:ph idx="2" type="body"/>
          </p:nvPr>
        </p:nvSpPr>
        <p:spPr>
          <a:xfrm>
            <a:off x="4097850" y="1076275"/>
            <a:ext cx="4734600" cy="34164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3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3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3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(;;) {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(&amp;mtx);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(avail == </a:t>
            </a:r>
            <a:r>
              <a:rPr lang="en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 sz="13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(&amp;cv, &amp;mtx);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/*consume*/</a:t>
            </a:r>
            <a:endParaRPr sz="13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8F08C4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(avail &gt; </a:t>
            </a:r>
            <a:r>
              <a:rPr lang="en" sz="13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avail--;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3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(&amp;mtx);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rgbClr val="0000F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p35"/>
          <p:cNvSpPr txBox="1"/>
          <p:nvPr/>
        </p:nvSpPr>
        <p:spPr>
          <a:xfrm>
            <a:off x="200425" y="4483975"/>
            <a:ext cx="88008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condition variable  allows a thread to sleep (wait) until another thread notifies (signals) it that it must do something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6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(&amp;cv, &amp;mtx)</a:t>
            </a:r>
            <a:endParaRPr b="1" sz="12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unlocks the mutex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n"/>
              <a:t>and begins waiting for the condition variable to be signalled. </a:t>
            </a:r>
            <a:endParaRPr b="1" sz="17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Details of wait</a:t>
            </a:r>
            <a:endParaRPr/>
          </a:p>
        </p:txBody>
      </p:sp>
      <p:sp>
        <p:nvSpPr>
          <p:cNvPr id="221" name="Google Shape;221;p36"/>
          <p:cNvSpPr txBox="1"/>
          <p:nvPr>
            <p:ph idx="2" type="body"/>
          </p:nvPr>
        </p:nvSpPr>
        <p:spPr>
          <a:xfrm>
            <a:off x="4441850" y="1152475"/>
            <a:ext cx="439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7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(&amp;mtx);</a:t>
            </a:r>
            <a:endParaRPr b="1" sz="17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while</a:t>
            </a:r>
            <a:r>
              <a:rPr b="1" lang="en" sz="17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(avail == </a:t>
            </a:r>
            <a:r>
              <a:rPr b="1" lang="en" sz="170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7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endParaRPr b="1" sz="1700">
              <a:solidFill>
                <a:srgbClr val="008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7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7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(&amp;cv, &amp;mtx);</a:t>
            </a:r>
            <a:endParaRPr b="1" sz="17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" sz="17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7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before invoking wait(), you must have ownership of </a:t>
            </a:r>
            <a:r>
              <a:rPr b="1" lang="en" sz="1700"/>
              <a:t>mtx</a:t>
            </a:r>
            <a:r>
              <a:rPr lang="en" sz="1700"/>
              <a:t> </a:t>
            </a:r>
            <a:endParaRPr sz="1700"/>
          </a:p>
          <a:p>
            <a:pPr indent="-320357" lvl="0" marL="457200" rtl="0" algn="l">
              <a:spcBef>
                <a:spcPts val="1600"/>
              </a:spcBef>
              <a:spcAft>
                <a:spcPts val="0"/>
              </a:spcAft>
              <a:buSzPct val="100000"/>
              <a:buChar char="●"/>
            </a:pPr>
            <a:r>
              <a:rPr lang="en" sz="1700"/>
              <a:t>pthread_cond_wait() returns with the mutex </a:t>
            </a:r>
            <a:r>
              <a:rPr b="1" lang="en" sz="1700"/>
              <a:t>locked! You must unlock at the end!</a:t>
            </a:r>
            <a:endParaRPr b="1" sz="17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 sz="18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8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(&amp;mtx);</a:t>
            </a:r>
            <a:endParaRPr b="1" sz="17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" name="Google Shape;226;p37"/>
          <p:cNvGraphicFramePr/>
          <p:nvPr/>
        </p:nvGraphicFramePr>
        <p:xfrm>
          <a:off x="574675" y="151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{C65ADB1C-74D0-4E3B-9544-D28B2B1A67AA}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//1st thread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mutex_lock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/*critical section entry*/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8F08C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chemeClr val="accent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need_to_wait_1 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){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cond_wait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/*critical section exit*/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cond_signal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c2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//or broadcast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mutex_unlock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2000">
                        <a:solidFill>
                          <a:srgbClr val="006A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2nd thread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mutex_lock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/*critical section entry*/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8F08C4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chemeClr val="accent6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need_to_wait_2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){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cond_wait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rgbClr val="FF0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c2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};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/*critical section exit*/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cond_signal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b="1" lang="en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//or broadcast</a:t>
                      </a:r>
                      <a:endParaRPr b="1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33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74531F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mutex_unlock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m1</a:t>
                      </a:r>
                      <a:r>
                        <a:rPr b="1" lang="en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2000">
                        <a:solidFill>
                          <a:srgbClr val="006A00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37"/>
          <p:cNvSpPr txBox="1"/>
          <p:nvPr/>
        </p:nvSpPr>
        <p:spPr>
          <a:xfrm>
            <a:off x="574675" y="320225"/>
            <a:ext cx="6721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there is no-space, to prevent overflow: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★"/>
            </a:pPr>
            <a:r>
              <a:rPr b="1" lang="en"/>
              <a:t>You can also add condition to producer.</a:t>
            </a:r>
            <a:endParaRPr b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main design is the following: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/>
        </p:nvSpPr>
        <p:spPr>
          <a:xfrm>
            <a:off x="31050" y="108250"/>
            <a:ext cx="57864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 = </a:t>
            </a:r>
            <a:r>
              <a:rPr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PTHREAD_MUTEX_INITIALIZER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pthread_cond_t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notempty = </a:t>
            </a:r>
            <a:r>
              <a:rPr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PTHREAD_COND_INITIALIZER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B91A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pthread_cond_t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notfull = </a:t>
            </a:r>
            <a:r>
              <a:rPr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PTHREAD_COND_INITIALIZER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count = 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buffer[</a:t>
            </a:r>
            <a:r>
              <a:rPr lang="en" sz="1200">
                <a:solidFill>
                  <a:srgbClr val="8A1B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BUFFER_SIZE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4493050" y="1472125"/>
            <a:ext cx="4458000" cy="35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consumer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for(;;){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8F08C4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(count == </a:t>
            </a:r>
            <a:r>
              <a:rPr lang="en" sz="1200">
                <a:solidFill>
                  <a:srgbClr val="098658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b="1" lang="en" sz="120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notempty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&amp;m);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/*consume 1 item*/</a:t>
            </a:r>
            <a:endParaRPr sz="12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consumed item </a:t>
            </a:r>
            <a:r>
              <a:rPr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%d</a:t>
            </a:r>
            <a:r>
              <a:rPr lang="en" sz="12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" sz="1200">
                <a:solidFill>
                  <a:srgbClr val="1F377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%d</a:t>
            </a:r>
            <a:r>
              <a:rPr lang="en" sz="1200">
                <a:solidFill>
                  <a:srgbClr val="B776F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" sz="1200">
                <a:solidFill>
                  <a:srgbClr val="E21F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count, buffer[count]);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count = count - </a:t>
            </a:r>
            <a:r>
              <a:rPr lang="en" sz="12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 sz="1200">
                <a:solidFill>
                  <a:schemeClr val="dk1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notfull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74531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4" name="Google Shape;234;p38"/>
          <p:cNvSpPr txBox="1"/>
          <p:nvPr>
            <p:ph type="title"/>
          </p:nvPr>
        </p:nvSpPr>
        <p:spPr>
          <a:xfrm>
            <a:off x="5232025" y="152000"/>
            <a:ext cx="36003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</a:t>
            </a:r>
            <a:r>
              <a:rPr lang="en" sz="2200"/>
              <a:t>roducer-consumer with overflow control</a:t>
            </a:r>
            <a:endParaRPr sz="2200"/>
          </a:p>
        </p:txBody>
      </p:sp>
      <p:sp>
        <p:nvSpPr>
          <p:cNvPr id="235" name="Google Shape;235;p38"/>
          <p:cNvSpPr txBox="1"/>
          <p:nvPr/>
        </p:nvSpPr>
        <p:spPr>
          <a:xfrm>
            <a:off x="152400" y="1447800"/>
            <a:ext cx="3995400" cy="357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200">
                <a:solidFill>
                  <a:srgbClr val="7453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producer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" sz="1200">
                <a:solidFill>
                  <a:srgbClr val="80808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7453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pthread_mutex_lock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200">
                <a:solidFill>
                  <a:srgbClr val="8F08C4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(count &gt;= </a:t>
            </a:r>
            <a:r>
              <a:rPr lang="en" sz="1200">
                <a:solidFill>
                  <a:srgbClr val="8A1BFF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BUFFER_SIZE</a:t>
            </a:r>
            <a:r>
              <a:rPr lang="en" sz="120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" sz="1200">
                <a:solidFill>
                  <a:srgbClr val="7453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pthread_cond_wait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en" sz="1200">
                <a:solidFill>
                  <a:schemeClr val="dk1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notfull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&amp;m);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/*produce 1 item*/</a:t>
            </a:r>
            <a:endParaRPr sz="120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7453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E2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0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producing item:</a:t>
            </a:r>
            <a:r>
              <a:rPr lang="en" sz="1200">
                <a:solidFill>
                  <a:srgbClr val="1F377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%d</a:t>
            </a:r>
            <a:r>
              <a:rPr lang="en" sz="1200">
                <a:solidFill>
                  <a:srgbClr val="E21F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count);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buffer[count] = </a:t>
            </a:r>
            <a:r>
              <a:rPr lang="en" sz="1200">
                <a:solidFill>
                  <a:srgbClr val="7453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rand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count = count + </a:t>
            </a:r>
            <a:r>
              <a:rPr lang="en" sz="1200">
                <a:solidFill>
                  <a:srgbClr val="098658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7453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pthread_cond_signal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b="1" lang="en" sz="1200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notempty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74531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pthread_mutex_unlock</a:t>
            </a: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(&amp;m);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have more than one shared resources?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many mutexes?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What about processes?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Semaphores: Overview</a:t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800" y="1152475"/>
            <a:ext cx="8520600" cy="27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AA0D9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s;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sem_init(&amp;s, </a:t>
            </a:r>
            <a:r>
              <a:rPr lang="en" sz="1500">
                <a:solidFill>
                  <a:srgbClr val="1C00C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500">
                <a:solidFill>
                  <a:srgbClr val="1C00C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 //WE HAVE 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 available resources (say 10-chairs)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solidFill>
                  <a:srgbClr val="006A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//a thread that wants to occupy a chair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sem_wait(&amp;s); </a:t>
            </a:r>
            <a:r>
              <a:rPr lang="en" sz="1500">
                <a:solidFill>
                  <a:srgbClr val="006A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//down the value of s by 1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solidFill>
                  <a:srgbClr val="006A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//After done with the chair</a:t>
            </a:r>
            <a:b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sem_post(&amp;s); </a:t>
            </a:r>
            <a:r>
              <a:rPr lang="en" sz="1500">
                <a:solidFill>
                  <a:srgbClr val="006A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//up the value of s by 1</a:t>
            </a:r>
            <a:endParaRPr sz="1500">
              <a:solidFill>
                <a:srgbClr val="006A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6A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40"/>
          <p:cNvSpPr txBox="1"/>
          <p:nvPr/>
        </p:nvSpPr>
        <p:spPr>
          <a:xfrm>
            <a:off x="321600" y="4019275"/>
            <a:ext cx="8358300" cy="946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the return value of </a:t>
            </a: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sem_wait</a:t>
            </a:r>
            <a:r>
              <a:rPr lang="en" sz="1500">
                <a:solidFill>
                  <a:schemeClr val="dk1"/>
                </a:solidFill>
              </a:rPr>
              <a:t> is negative the thread waits as done in the mutex locks.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This happens when the value of s before </a:t>
            </a: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sem_wait</a:t>
            </a:r>
            <a:r>
              <a:rPr lang="en" sz="1500">
                <a:solidFill>
                  <a:schemeClr val="dk1"/>
                </a:solidFill>
              </a:rPr>
              <a:t> is 0.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sem_wait </a:t>
            </a:r>
            <a:r>
              <a:rPr lang="en" sz="1500">
                <a:solidFill>
                  <a:schemeClr val="dk1"/>
                </a:solidFill>
              </a:rPr>
              <a:t>and </a:t>
            </a: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sem_post</a:t>
            </a:r>
            <a:r>
              <a:rPr lang="en" sz="1500">
                <a:solidFill>
                  <a:schemeClr val="dk1"/>
                </a:solidFill>
              </a:rPr>
              <a:t> can be called from different processes/threads.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4380450" y="445025"/>
            <a:ext cx="44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POSIX Semaphores</a:t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5185900" y="1152475"/>
            <a:ext cx="3588300" cy="3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allow </a:t>
            </a:r>
            <a:r>
              <a:rPr lang="en" sz="1500">
                <a:solidFill>
                  <a:srgbClr val="FF0000"/>
                </a:solidFill>
              </a:rPr>
              <a:t>processes</a:t>
            </a:r>
            <a:r>
              <a:rPr lang="en" sz="1500"/>
              <a:t> and </a:t>
            </a:r>
            <a:r>
              <a:rPr lang="en" sz="1500">
                <a:solidFill>
                  <a:srgbClr val="FF0000"/>
                </a:solidFill>
              </a:rPr>
              <a:t>threads</a:t>
            </a:r>
            <a:r>
              <a:rPr lang="en" sz="1500"/>
              <a:t> to synchronize access to shared resources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A semaphore is a type of lockable object.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/>
              <a:t>sem_t s;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EEEEEE"/>
                </a:highlight>
              </a:rPr>
              <a:t>sem_init(&amp;s, 0, 10)</a:t>
            </a:r>
            <a:r>
              <a:rPr b="1" lang="en" sz="1300">
                <a:solidFill>
                  <a:srgbClr val="8959A8"/>
                </a:solidFill>
                <a:highlight>
                  <a:srgbClr val="EEEEEE"/>
                </a:highlight>
              </a:rPr>
              <a:t>; /*returns -1 on error*/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54" name="Google Shape;254;p41"/>
          <p:cNvSpPr txBox="1"/>
          <p:nvPr>
            <p:ph idx="2" type="body"/>
          </p:nvPr>
        </p:nvSpPr>
        <p:spPr>
          <a:xfrm>
            <a:off x="227100" y="536950"/>
            <a:ext cx="4401900" cy="14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sem_init</a:t>
            </a:r>
            <a:r>
              <a:rPr b="1"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sem_t</a:t>
            </a:r>
            <a:r>
              <a:rPr b="1"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*sem, </a:t>
            </a:r>
            <a:endParaRPr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int</a:t>
            </a:r>
            <a:r>
              <a:rPr b="1"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pshared, </a:t>
            </a:r>
            <a:endParaRPr b="1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unsigned</a:t>
            </a:r>
            <a:r>
              <a:rPr b="1"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value);</a:t>
            </a:r>
            <a:endParaRPr sz="1300"/>
          </a:p>
        </p:txBody>
      </p:sp>
      <p:sp>
        <p:nvSpPr>
          <p:cNvPr id="255" name="Google Shape;255;p41"/>
          <p:cNvSpPr txBox="1"/>
          <p:nvPr/>
        </p:nvSpPr>
        <p:spPr>
          <a:xfrm>
            <a:off x="139350" y="1838325"/>
            <a:ext cx="4644600" cy="3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</a:t>
            </a:r>
            <a:r>
              <a:rPr lang="en" sz="1500">
                <a:solidFill>
                  <a:schemeClr val="dk1"/>
                </a:solidFill>
              </a:rPr>
              <a:t>nitializes the unnamed semaphore at the address pointed to by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sem</a:t>
            </a:r>
            <a:r>
              <a:rPr lang="en" sz="1500">
                <a:solidFill>
                  <a:schemeClr val="dk1"/>
                </a:solidFill>
              </a:rPr>
              <a:t>. 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specifies t</a:t>
            </a:r>
            <a:r>
              <a:rPr b="1" lang="en" sz="1500">
                <a:solidFill>
                  <a:schemeClr val="dk1"/>
                </a:solidFill>
              </a:rPr>
              <a:t>he initial value</a:t>
            </a:r>
            <a:r>
              <a:rPr lang="en" sz="1500">
                <a:solidFill>
                  <a:schemeClr val="dk1"/>
                </a:solidFill>
              </a:rPr>
              <a:t> for </a:t>
            </a: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sem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pshared</a:t>
            </a:r>
            <a:r>
              <a:rPr lang="en" sz="1500">
                <a:solidFill>
                  <a:schemeClr val="dk1"/>
                </a:solidFill>
              </a:rPr>
              <a:t>: indicates whether between process or threads</a:t>
            </a:r>
            <a:endParaRPr sz="1500">
              <a:solidFill>
                <a:schemeClr val="dk1"/>
              </a:solidFill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0 between threads</a:t>
            </a:r>
            <a:endParaRPr sz="1500">
              <a:solidFill>
                <a:schemeClr val="dk1"/>
              </a:solidFill>
            </a:endParaRPr>
          </a:p>
          <a:p>
            <a:pPr indent="-31115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Should be visible to all threads,</a:t>
            </a:r>
            <a:endParaRPr sz="1300">
              <a:solidFill>
                <a:schemeClr val="dk1"/>
              </a:solidFill>
            </a:endParaRPr>
          </a:p>
          <a:p>
            <a:pPr indent="-311150" lvl="2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n" sz="1300">
                <a:solidFill>
                  <a:schemeClr val="dk1"/>
                </a:solidFill>
              </a:rPr>
              <a:t>Global variable</a:t>
            </a:r>
            <a:endParaRPr sz="1300">
              <a:solidFill>
                <a:schemeClr val="dk1"/>
              </a:solidFill>
            </a:endParaRPr>
          </a:p>
          <a:p>
            <a:pPr indent="-3238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Non-zero between processes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Decrementing the semaphore value</a:t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700" y="1152475"/>
            <a:ext cx="39981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sem_t s;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EEEEEE"/>
                </a:highlight>
              </a:rPr>
              <a:t>sem_init(&amp;s, 0, 10)</a:t>
            </a:r>
            <a:r>
              <a:rPr b="1" lang="en" sz="1600">
                <a:solidFill>
                  <a:srgbClr val="8959A8"/>
                </a:solidFill>
                <a:highlight>
                  <a:srgbClr val="EEEEEE"/>
                </a:highlight>
              </a:rPr>
              <a:t>; /*returns -1 on error*/</a:t>
            </a:r>
            <a:endParaRPr b="1" sz="1600">
              <a:solidFill>
                <a:srgbClr val="8959A8"/>
              </a:solidFill>
              <a:highlight>
                <a:srgbClr val="EEEEEE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8959A8"/>
              </a:solidFill>
              <a:highlight>
                <a:srgbClr val="EEEEEE"/>
              </a:highlight>
            </a:endParaRPr>
          </a:p>
        </p:txBody>
      </p:sp>
      <p:sp>
        <p:nvSpPr>
          <p:cNvPr id="262" name="Google Shape;262;p42"/>
          <p:cNvSpPr txBox="1"/>
          <p:nvPr>
            <p:ph idx="2" type="body"/>
          </p:nvPr>
        </p:nvSpPr>
        <p:spPr>
          <a:xfrm>
            <a:off x="3904925" y="1070450"/>
            <a:ext cx="4927500" cy="36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500"/>
              <a:t>decrementing</a:t>
            </a:r>
            <a:r>
              <a:rPr b="1" lang="en" sz="1500"/>
              <a:t> the value of semaphore:</a:t>
            </a:r>
            <a:r>
              <a:rPr lang="en" sz="1500"/>
              <a:t> You take ownership of a semaphore with a </a:t>
            </a:r>
            <a:r>
              <a:rPr i="1" lang="en" sz="1500"/>
              <a:t>wait</a:t>
            </a:r>
            <a:r>
              <a:rPr lang="en" sz="1500"/>
              <a:t> operation(abstractly called </a:t>
            </a:r>
            <a:r>
              <a:rPr i="1" lang="en" sz="1500"/>
              <a:t>P from Dijkstra’s paper</a:t>
            </a:r>
            <a:r>
              <a:rPr lang="en" sz="1500"/>
              <a:t>),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highlight>
                  <a:schemeClr val="lt2"/>
                </a:highlight>
              </a:rPr>
              <a:t>sem_wait(&amp;s)</a:t>
            </a:r>
            <a:r>
              <a:rPr b="1" lang="en" sz="1500">
                <a:solidFill>
                  <a:srgbClr val="8959A8"/>
                </a:solidFill>
                <a:highlight>
                  <a:schemeClr val="lt2"/>
                </a:highlight>
              </a:rPr>
              <a:t>; 	</a:t>
            </a:r>
            <a:endParaRPr b="1" sz="1500">
              <a:solidFill>
                <a:srgbClr val="EE0000"/>
              </a:solidFill>
              <a:highlight>
                <a:schemeClr val="lt2"/>
              </a:highlight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" sz="1500">
                <a:solidFill>
                  <a:srgbClr val="EE0000"/>
                </a:solidFill>
                <a:highlight>
                  <a:schemeClr val="lt2"/>
                </a:highlight>
              </a:rPr>
              <a:t>Could do this 10 times without blocking</a:t>
            </a:r>
            <a:endParaRPr b="1" i="1"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POSIX Semaphores</a:t>
            </a:r>
            <a:endParaRPr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311700" y="1152475"/>
            <a:ext cx="3998100" cy="32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600"/>
              <a:t>incrementing</a:t>
            </a:r>
            <a:r>
              <a:rPr b="1" lang="en" sz="1600"/>
              <a:t> the value of semaphore: </a:t>
            </a:r>
            <a:r>
              <a:rPr lang="en" sz="1600"/>
              <a:t>You release ownership with a </a:t>
            </a:r>
            <a:r>
              <a:rPr i="1" lang="en" sz="1600"/>
              <a:t>signal</a:t>
            </a:r>
            <a:r>
              <a:rPr lang="en" sz="1600"/>
              <a:t> operation, a </a:t>
            </a:r>
            <a:r>
              <a:rPr i="1" lang="en" sz="1600"/>
              <a:t>post</a:t>
            </a:r>
            <a:r>
              <a:rPr lang="en" sz="1600"/>
              <a:t> operation, or abstractly called </a:t>
            </a:r>
            <a:r>
              <a:rPr i="1" lang="en" sz="1600"/>
              <a:t>V.</a:t>
            </a:r>
            <a:endParaRPr i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chemeClr val="lt1"/>
                </a:highlight>
              </a:rPr>
              <a:t>sem_post(&amp;s)</a:t>
            </a:r>
            <a:r>
              <a:rPr b="1" lang="en" sz="1600">
                <a:solidFill>
                  <a:srgbClr val="8959A8"/>
                </a:solidFill>
                <a:highlight>
                  <a:schemeClr val="lt1"/>
                </a:highlight>
              </a:rPr>
              <a:t>; </a:t>
            </a:r>
            <a:endParaRPr b="1" sz="160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FF0000"/>
                </a:solidFill>
                <a:highlight>
                  <a:schemeClr val="lt1"/>
                </a:highlight>
              </a:rPr>
              <a:t>Announce that we’ve finished </a:t>
            </a:r>
            <a:endParaRPr b="1" sz="160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FF0000"/>
                </a:solidFill>
                <a:highlight>
                  <a:schemeClr val="lt1"/>
                </a:highlight>
              </a:rPr>
              <a:t>And one more resource item is available; </a:t>
            </a:r>
            <a:endParaRPr b="1" sz="160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FF0000"/>
                </a:solidFill>
                <a:highlight>
                  <a:schemeClr val="lt1"/>
                </a:highlight>
              </a:rPr>
              <a:t>increment the value of semaphore</a:t>
            </a:r>
            <a:endParaRPr b="1" sz="160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269" name="Google Shape;269;p43"/>
          <p:cNvSpPr txBox="1"/>
          <p:nvPr>
            <p:ph idx="2" type="body"/>
          </p:nvPr>
        </p:nvSpPr>
        <p:spPr>
          <a:xfrm>
            <a:off x="4465225" y="501775"/>
            <a:ext cx="4367100" cy="4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To destroy semaphore</a:t>
            </a:r>
            <a:endParaRPr b="1"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8E908C"/>
                </a:solidFill>
                <a:highlight>
                  <a:schemeClr val="lt1"/>
                </a:highlight>
              </a:rPr>
              <a:t>release resources of the semaphore</a:t>
            </a:r>
            <a:endParaRPr b="1" sz="1600"/>
          </a:p>
          <a:p>
            <a:pPr indent="45720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highlight>
                  <a:srgbClr val="FFFFFF"/>
                </a:highlight>
              </a:rPr>
              <a:t>sem_destroy(&amp;s)</a:t>
            </a:r>
            <a:r>
              <a:rPr b="1" lang="en" sz="1600">
                <a:solidFill>
                  <a:srgbClr val="8959A8"/>
                </a:solidFill>
                <a:highlight>
                  <a:srgbClr val="FFFFFF"/>
                </a:highlight>
              </a:rPr>
              <a:t>; </a:t>
            </a:r>
            <a:endParaRPr b="1" sz="1600"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semaphore vs mutex</a:t>
            </a:r>
            <a:endParaRPr/>
          </a:p>
        </p:txBody>
      </p:sp>
      <p:sp>
        <p:nvSpPr>
          <p:cNvPr id="275" name="Google Shape;275;p44"/>
          <p:cNvSpPr txBox="1"/>
          <p:nvPr>
            <p:ph idx="1" type="body"/>
          </p:nvPr>
        </p:nvSpPr>
        <p:spPr>
          <a:xfrm>
            <a:off x="311700" y="1152475"/>
            <a:ext cx="3999900" cy="3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binary semaphore is a semaphore with a maximum count of 1.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sem_t s;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highlight>
                  <a:schemeClr val="lt2"/>
                </a:highlight>
              </a:rPr>
              <a:t>sem_init(&amp;s, 0, 1)</a:t>
            </a:r>
            <a:r>
              <a:rPr b="1" lang="en" sz="1600">
                <a:solidFill>
                  <a:srgbClr val="8959A8"/>
                </a:solidFill>
                <a:highlight>
                  <a:schemeClr val="lt2"/>
                </a:highlight>
              </a:rPr>
              <a:t>; 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mutex is a semaphore that always </a:t>
            </a:r>
            <a:r>
              <a:rPr b="1" lang="en"/>
              <a:t>waits</a:t>
            </a:r>
            <a:r>
              <a:rPr lang="en"/>
              <a:t> before it </a:t>
            </a:r>
            <a:r>
              <a:rPr b="1" lang="en"/>
              <a:t>posts</a:t>
            </a:r>
            <a:r>
              <a:rPr lang="en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binary semaphore can be used as a mutex by requiring that a thread only signals the semaphore (to unlock the mutex) if it was the thread that last successfully </a:t>
            </a:r>
            <a:r>
              <a:rPr lang="en"/>
              <a:t>waited</a:t>
            </a:r>
            <a:r>
              <a:rPr lang="en"/>
              <a:t> on it (when it locked the mutex). </a:t>
            </a:r>
            <a:endParaRPr/>
          </a:p>
        </p:txBody>
      </p:sp>
      <p:sp>
        <p:nvSpPr>
          <p:cNvPr id="276" name="Google Shape;276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mutex ownership is tied to a thread, and only the thread that acquired the lock on a mutex can release 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semaphore doesn't care if the "wrong" thread signals the semaphore.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sem_wait and sem_post can be called from different threads!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Semaphore vs mutex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84775" y="771475"/>
            <a:ext cx="4226700" cy="4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8E908C"/>
              </a:buClr>
              <a:buSzPts val="1300"/>
              <a:buAutoNum type="arabicPeriod"/>
            </a:pPr>
            <a:r>
              <a:rPr lang="en" sz="1300">
                <a:solidFill>
                  <a:srgbClr val="8E908C"/>
                </a:solidFill>
                <a:highlight>
                  <a:srgbClr val="FFFFFF"/>
                </a:highlight>
              </a:rPr>
              <a:t>// Thread 1</a:t>
            </a:r>
            <a:endParaRPr sz="1300"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</a:rPr>
              <a:t>sem_wait(&amp;s)</a:t>
            </a:r>
            <a:r>
              <a:rPr lang="en" sz="1300">
                <a:solidFill>
                  <a:srgbClr val="8959A8"/>
                </a:solidFill>
                <a:highlight>
                  <a:srgbClr val="FFFFFF"/>
                </a:highlight>
              </a:rPr>
              <a:t>;</a:t>
            </a:r>
            <a:endParaRPr sz="1300"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8E908C"/>
              </a:buClr>
              <a:buSzPts val="1300"/>
              <a:buAutoNum type="arabicPeriod"/>
            </a:pPr>
            <a:r>
              <a:rPr lang="en" sz="1300">
                <a:solidFill>
                  <a:srgbClr val="8E908C"/>
                </a:solidFill>
                <a:highlight>
                  <a:srgbClr val="FFFFFF"/>
                </a:highlight>
              </a:rPr>
              <a:t>// Critical Section</a:t>
            </a:r>
            <a:endParaRPr sz="1300"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</a:rPr>
              <a:t>sem_post(&amp;s)</a:t>
            </a:r>
            <a:r>
              <a:rPr lang="en" sz="1300">
                <a:solidFill>
                  <a:srgbClr val="8959A8"/>
                </a:solidFill>
                <a:highlight>
                  <a:srgbClr val="FFFFFF"/>
                </a:highlight>
              </a:rPr>
              <a:t>; </a:t>
            </a:r>
            <a:endParaRPr sz="1300"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solidFill>
                  <a:srgbClr val="8E908C"/>
                </a:solidFill>
                <a:highlight>
                  <a:srgbClr val="FFFFFF"/>
                </a:highlight>
              </a:rPr>
              <a:t>// Thread 2</a:t>
            </a:r>
            <a:endParaRPr sz="1300"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908C"/>
              </a:buClr>
              <a:buSzPts val="1300"/>
              <a:buAutoNum type="arabicPeriod"/>
            </a:pPr>
            <a:r>
              <a:rPr lang="en" sz="1300">
                <a:solidFill>
                  <a:srgbClr val="8E908C"/>
                </a:solidFill>
                <a:highlight>
                  <a:srgbClr val="FFFFFF"/>
                </a:highlight>
              </a:rPr>
              <a:t>// Some threads want to see the world burn</a:t>
            </a:r>
            <a:endParaRPr sz="13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</a:rPr>
              <a:t>sem_post(&amp;s)</a:t>
            </a:r>
            <a:r>
              <a:rPr lang="en" sz="1300">
                <a:solidFill>
                  <a:srgbClr val="8959A8"/>
                </a:solidFill>
                <a:highlight>
                  <a:srgbClr val="FFFFFF"/>
                </a:highlight>
              </a:rPr>
              <a:t>;</a:t>
            </a:r>
            <a:endParaRPr sz="1300"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8E908C"/>
              </a:buClr>
              <a:buSzPts val="1300"/>
              <a:buAutoNum type="arabicPeriod"/>
            </a:pPr>
            <a:r>
              <a:rPr lang="en" sz="1300">
                <a:solidFill>
                  <a:srgbClr val="8E908C"/>
                </a:solidFill>
                <a:highlight>
                  <a:srgbClr val="FFFFFF"/>
                </a:highlight>
              </a:rPr>
              <a:t>// Thread 3</a:t>
            </a:r>
            <a:endParaRPr sz="1300"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</a:rPr>
              <a:t>sem_wait(&amp;s)</a:t>
            </a:r>
            <a:r>
              <a:rPr lang="en" sz="1300">
                <a:solidFill>
                  <a:srgbClr val="8959A8"/>
                </a:solidFill>
                <a:highlight>
                  <a:srgbClr val="FFFFFF"/>
                </a:highlight>
              </a:rPr>
              <a:t>;</a:t>
            </a:r>
            <a:endParaRPr sz="1300"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8E908C"/>
              </a:buClr>
              <a:buSzPts val="1300"/>
              <a:buAutoNum type="arabicPeriod"/>
            </a:pPr>
            <a:r>
              <a:rPr lang="en" sz="1300">
                <a:solidFill>
                  <a:srgbClr val="8E908C"/>
                </a:solidFill>
                <a:highlight>
                  <a:srgbClr val="FFFFFF"/>
                </a:highlight>
              </a:rPr>
              <a:t>// Not thread-safe!</a:t>
            </a:r>
            <a:endParaRPr sz="1300"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sz="1300">
                <a:solidFill>
                  <a:srgbClr val="000000"/>
                </a:solidFill>
                <a:highlight>
                  <a:srgbClr val="FFFFFF"/>
                </a:highlight>
              </a:rPr>
              <a:t>sem_post(&amp;s)</a:t>
            </a:r>
            <a:r>
              <a:rPr lang="en" sz="1300">
                <a:solidFill>
                  <a:srgbClr val="8959A8"/>
                </a:solidFill>
                <a:highlight>
                  <a:srgbClr val="FFFFFF"/>
                </a:highlight>
              </a:rPr>
              <a:t>;</a:t>
            </a:r>
            <a:endParaRPr sz="1300"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83" name="Google Shape;283;p45"/>
          <p:cNvSpPr txBox="1"/>
          <p:nvPr>
            <p:ph idx="2" type="body"/>
          </p:nvPr>
        </p:nvSpPr>
        <p:spPr>
          <a:xfrm>
            <a:off x="4832400" y="619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E908C"/>
              </a:buClr>
              <a:buSzPts val="1400"/>
              <a:buAutoNum type="arabicPeriod"/>
            </a:pPr>
            <a:r>
              <a:rPr lang="en">
                <a:solidFill>
                  <a:srgbClr val="8E908C"/>
                </a:solidFill>
                <a:highlight>
                  <a:srgbClr val="FFFFFF"/>
                </a:highlight>
              </a:rPr>
              <a:t>// Thread 1</a:t>
            </a:r>
            <a:endParaRPr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mutex_lock(&amp;s)</a:t>
            </a:r>
            <a:r>
              <a:rPr lang="en">
                <a:solidFill>
                  <a:srgbClr val="8959A8"/>
                </a:solidFill>
                <a:highlight>
                  <a:srgbClr val="FFFFFF"/>
                </a:highlight>
              </a:rPr>
              <a:t>;</a:t>
            </a:r>
            <a:endParaRPr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908C"/>
              </a:buClr>
              <a:buSzPts val="1400"/>
              <a:buAutoNum type="arabicPeriod"/>
            </a:pPr>
            <a:r>
              <a:rPr lang="en">
                <a:solidFill>
                  <a:srgbClr val="8E908C"/>
                </a:solidFill>
                <a:highlight>
                  <a:srgbClr val="FFFFFF"/>
                </a:highlight>
              </a:rPr>
              <a:t>// Critical Section</a:t>
            </a:r>
            <a:endParaRPr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mutex_unlock(&amp;s)</a:t>
            </a:r>
            <a:r>
              <a:rPr lang="en">
                <a:solidFill>
                  <a:srgbClr val="8959A8"/>
                </a:solidFill>
                <a:highlight>
                  <a:srgbClr val="FFFFFF"/>
                </a:highlight>
              </a:rPr>
              <a:t>;</a:t>
            </a:r>
            <a:endParaRPr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>
                <a:solidFill>
                  <a:srgbClr val="8959A8"/>
                </a:solidFill>
                <a:highlight>
                  <a:srgbClr val="FFFFFF"/>
                </a:highlight>
              </a:rPr>
              <a:t> </a:t>
            </a:r>
            <a:r>
              <a:rPr lang="en">
                <a:solidFill>
                  <a:srgbClr val="8E908C"/>
                </a:solidFill>
                <a:highlight>
                  <a:srgbClr val="FFFFFF"/>
                </a:highlight>
              </a:rPr>
              <a:t>// Thread 2</a:t>
            </a:r>
            <a:endParaRPr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8E908C"/>
              </a:buClr>
              <a:buSzPts val="1400"/>
              <a:buAutoNum type="arabicPeriod"/>
            </a:pPr>
            <a:r>
              <a:rPr lang="en">
                <a:solidFill>
                  <a:srgbClr val="8E908C"/>
                </a:solidFill>
                <a:highlight>
                  <a:srgbClr val="FFFFFF"/>
                </a:highlight>
              </a:rPr>
              <a:t>// Failed!</a:t>
            </a:r>
            <a:endParaRPr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mutex_unlock(&amp;s)</a:t>
            </a:r>
            <a:r>
              <a:rPr lang="en">
                <a:solidFill>
                  <a:srgbClr val="8959A8"/>
                </a:solidFill>
                <a:highlight>
                  <a:srgbClr val="FFFFFF"/>
                </a:highlight>
              </a:rPr>
              <a:t>;</a:t>
            </a:r>
            <a:endParaRPr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8E908C"/>
              </a:buClr>
              <a:buSzPts val="1400"/>
              <a:buAutoNum type="arabicPeriod"/>
            </a:pPr>
            <a:r>
              <a:rPr lang="en">
                <a:solidFill>
                  <a:srgbClr val="8E908C"/>
                </a:solidFill>
                <a:highlight>
                  <a:srgbClr val="FFFFFF"/>
                </a:highlight>
              </a:rPr>
              <a:t>// Thread 3</a:t>
            </a:r>
            <a:endParaRPr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mutex_lock(&amp;s)</a:t>
            </a:r>
            <a:r>
              <a:rPr lang="en">
                <a:solidFill>
                  <a:srgbClr val="8959A8"/>
                </a:solidFill>
                <a:highlight>
                  <a:srgbClr val="FFFFFF"/>
                </a:highlight>
              </a:rPr>
              <a:t>;</a:t>
            </a:r>
            <a:endParaRPr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8E908C"/>
              </a:buClr>
              <a:buSzPts val="1400"/>
              <a:buAutoNum type="arabicPeriod"/>
            </a:pPr>
            <a:r>
              <a:rPr lang="en">
                <a:solidFill>
                  <a:srgbClr val="8E908C"/>
                </a:solidFill>
                <a:highlight>
                  <a:srgbClr val="FFFFFF"/>
                </a:highlight>
              </a:rPr>
              <a:t>// Now it’s thread-safe</a:t>
            </a:r>
            <a:endParaRPr>
              <a:solidFill>
                <a:srgbClr val="8E908C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mutex_unlock(&amp;s)</a:t>
            </a:r>
            <a:r>
              <a:rPr lang="en">
                <a:solidFill>
                  <a:srgbClr val="8959A8"/>
                </a:solidFill>
                <a:highlight>
                  <a:srgbClr val="FFFFFF"/>
                </a:highlight>
              </a:rPr>
              <a:t>;</a:t>
            </a:r>
            <a:endParaRPr>
              <a:solidFill>
                <a:srgbClr val="8959A8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</a:t>
            </a:r>
            <a:r>
              <a:rPr lang="en"/>
              <a:t>Data Structures </a:t>
            </a:r>
            <a:r>
              <a:rPr lang="en"/>
              <a:t>Thread-Safe</a:t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11700" y="1152475"/>
            <a:ext cx="3999900" cy="35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 = 0;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[STACK_SIZE];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[count++] = v;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[--count];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is_empty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 ==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290" name="Google Shape;29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This implementation of the stack is thread-unsafe because if two threads call push or pop at the same time then the results or the stack can be inconsistent. 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highlight>
                  <a:srgbClr val="FFFFFF"/>
                </a:highlight>
              </a:rPr>
              <a:t>For example, imagine if two threads call pop at the same time then both threads may read the same value, both may read the original count value.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Version-2 of stack</a:t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STACK_SIZE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b="1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[STACK_SIZE];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m1 = PTHREAD_MUTEX_INITIALIZER;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m2 = PTHREAD_MUTEX_INITIALIZER;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[count++] = v;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 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297" name="Google Shape;297;p47"/>
          <p:cNvSpPr txBox="1"/>
          <p:nvPr>
            <p:ph idx="2" type="body"/>
          </p:nvPr>
        </p:nvSpPr>
        <p:spPr>
          <a:xfrm>
            <a:off x="4832400" y="238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(&amp;m2);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 =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[--count];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(&amp;m2);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is_empty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 == </a:t>
            </a:r>
            <a:r>
              <a:rPr b="1" lang="en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sp>
        <p:nvSpPr>
          <p:cNvPr id="298" name="Google Shape;298;p47"/>
          <p:cNvSpPr txBox="1"/>
          <p:nvPr/>
        </p:nvSpPr>
        <p:spPr>
          <a:xfrm>
            <a:off x="4311600" y="4155200"/>
            <a:ext cx="461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E0000"/>
                </a:solidFill>
                <a:highlight>
                  <a:srgbClr val="FFFFFF"/>
                </a:highlight>
              </a:rPr>
              <a:t>This version</a:t>
            </a:r>
            <a:r>
              <a:rPr b="1" lang="en" sz="1600">
                <a:solidFill>
                  <a:srgbClr val="EE0000"/>
                </a:solidFill>
                <a:highlight>
                  <a:srgbClr val="FFFFFF"/>
                </a:highlight>
              </a:rPr>
              <a:t>  contains 2 errors! </a:t>
            </a:r>
            <a:endParaRPr b="1" sz="1600">
              <a:solidFill>
                <a:srgbClr val="EE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E0000"/>
                </a:solidFill>
                <a:highlight>
                  <a:srgbClr val="FFFFFF"/>
                </a:highlight>
              </a:rPr>
              <a:t>What are the errors?</a:t>
            </a:r>
            <a:endParaRPr b="1" sz="1600">
              <a:solidFill>
                <a:srgbClr val="EE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3</a:t>
            </a:r>
            <a:endParaRPr/>
          </a:p>
        </p:txBody>
      </p:sp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228150" y="839975"/>
            <a:ext cx="4396800" cy="37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Another attempt to a thread-safe stack </a:t>
            </a:r>
            <a:endParaRPr b="1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STACK_SIZE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b="1" sz="12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[STACK_SIZE];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m1 = PTHREAD_MUTEX_INITIALIZER;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/*may be overflow*/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[count++] = v;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 }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305" name="Google Shape;305;p48"/>
          <p:cNvSpPr txBox="1"/>
          <p:nvPr>
            <p:ph idx="2" type="body"/>
          </p:nvPr>
        </p:nvSpPr>
        <p:spPr>
          <a:xfrm>
            <a:off x="4832400" y="856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{/*may be underflow*/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 =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[--count];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is_empty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 = count ==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(&amp;m1);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r;/*may be out of date*/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200"/>
          </a:p>
        </p:txBody>
      </p:sp>
      <p:sp>
        <p:nvSpPr>
          <p:cNvPr id="306" name="Google Shape;306;p48"/>
          <p:cNvSpPr txBox="1"/>
          <p:nvPr/>
        </p:nvSpPr>
        <p:spPr>
          <a:xfrm>
            <a:off x="289275" y="3801700"/>
            <a:ext cx="8726400" cy="1143600"/>
          </a:xfrm>
          <a:prstGeom prst="rect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</a:rPr>
              <a:t>is_empty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 is thread-safe but its result may already be out-of-date. This is usually why in thread-safe data structures, functions that return sizes are removed or deprecated.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There is no protection against underflow (popping on an empty stack) or overflow (pushing onto an already-full stack)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general stack </a:t>
            </a:r>
            <a:endParaRPr/>
          </a:p>
        </p:txBody>
      </p:sp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145675" y="784400"/>
            <a:ext cx="2566200" cy="35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highlight>
                  <a:srgbClr val="FFFFFF"/>
                </a:highlight>
              </a:rPr>
              <a:t>A more general-purpose version might include the mutex as part of the memory structure and use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hlinkClick r:id="rId3"/>
              </a:rPr>
              <a:t>pthread_mutex_init</a:t>
            </a:r>
            <a:r>
              <a:rPr lang="en">
                <a:highlight>
                  <a:srgbClr val="FFFFFF"/>
                </a:highlight>
              </a:rPr>
              <a:t> to initialize the mutex. </a:t>
            </a:r>
            <a:endParaRPr/>
          </a:p>
        </p:txBody>
      </p:sp>
      <p:sp>
        <p:nvSpPr>
          <p:cNvPr id="313" name="Google Shape;313;p49"/>
          <p:cNvSpPr txBox="1"/>
          <p:nvPr/>
        </p:nvSpPr>
        <p:spPr>
          <a:xfrm>
            <a:off x="3213825" y="884100"/>
            <a:ext cx="5737200" cy="3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typedef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stack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*values;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stack_create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capacity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*result =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* capacity);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pthread_mutex_init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result;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stack_destroy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pthread_mutex_destroy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>
            <p:ph idx="2" type="body"/>
          </p:nvPr>
        </p:nvSpPr>
        <p:spPr>
          <a:xfrm>
            <a:off x="4510225" y="2958350"/>
            <a:ext cx="4064100" cy="18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still need to control overflow/underflow in pop and push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This can be done by using semaphores</a:t>
            </a:r>
            <a:endParaRPr/>
          </a:p>
        </p:txBody>
      </p:sp>
      <p:sp>
        <p:nvSpPr>
          <p:cNvPr id="319" name="Google Shape;319;p50"/>
          <p:cNvSpPr txBox="1"/>
          <p:nvPr/>
        </p:nvSpPr>
        <p:spPr>
          <a:xfrm>
            <a:off x="291350" y="98625"/>
            <a:ext cx="4347900" cy="5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)++]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[--(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is_empty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0" name="Google Shape;320;p50"/>
          <p:cNvSpPr txBox="1"/>
          <p:nvPr/>
        </p:nvSpPr>
        <p:spPr>
          <a:xfrm>
            <a:off x="4123775" y="98625"/>
            <a:ext cx="50202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*s1 =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stack_create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Max capacity*/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*s2 =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stack_create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(s1,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3.141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(s2,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(s1));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stack_destroy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(s2);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stack_destroy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(s1);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700">
              <a:solidFill>
                <a:srgbClr val="0000FF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/>
          <p:nvPr>
            <p:ph type="title"/>
          </p:nvPr>
        </p:nvSpPr>
        <p:spPr>
          <a:xfrm>
            <a:off x="1593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semaphores</a:t>
            </a:r>
            <a:endParaRPr/>
          </a:p>
        </p:txBody>
      </p:sp>
      <p:sp>
        <p:nvSpPr>
          <p:cNvPr id="326" name="Google Shape;326;p51"/>
          <p:cNvSpPr txBox="1"/>
          <p:nvPr>
            <p:ph idx="1" type="body"/>
          </p:nvPr>
        </p:nvSpPr>
        <p:spPr>
          <a:xfrm>
            <a:off x="159300" y="805450"/>
            <a:ext cx="46077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SPACES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pthread_mutex_t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m= PTHREAD_MUTEX_INITIALIZER;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[SPACES];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sem_t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sitems, sremain;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sem_init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(&amp;sitems,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sem_init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(&amp;sremains,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SPACES);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327" name="Google Shape;327;p51"/>
          <p:cNvSpPr txBox="1"/>
          <p:nvPr>
            <p:ph idx="2" type="body"/>
          </p:nvPr>
        </p:nvSpPr>
        <p:spPr>
          <a:xfrm>
            <a:off x="4529650" y="717175"/>
            <a:ext cx="4607700" cy="3927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Wait until there’s 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at least one item*/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sem_wait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(&amp;sitems);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(&amp;m);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CRITICAL SECTION */</a:t>
            </a:r>
            <a:endParaRPr b="1" sz="13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[--count];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(&amp;m);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/*there’s at least one space*/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sem_post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(&amp;sremain); 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v;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2"/>
          <p:cNvSpPr txBox="1"/>
          <p:nvPr/>
        </p:nvSpPr>
        <p:spPr>
          <a:xfrm>
            <a:off x="764300" y="1443575"/>
            <a:ext cx="7425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Wait until there’s at least one space*/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sem_wait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(&amp;sremain);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CRITICAL SECTION 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[count++] = v;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(&amp;m);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sem_post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(&amp;sitems); </a:t>
            </a:r>
            <a:r>
              <a:rPr b="1" lang="en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 Hey world, there’s at least one item*/</a:t>
            </a:r>
            <a:endParaRPr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339" name="Google Shape;339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modify the previous stack example for processes?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mutex_lock, you need to use binary semaphore..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with condition variable: WRONG!</a:t>
            </a:r>
            <a:endParaRPr/>
          </a:p>
        </p:txBody>
      </p:sp>
      <p:sp>
        <p:nvSpPr>
          <p:cNvPr id="345" name="Google Shape;345;p54"/>
          <p:cNvSpPr txBox="1"/>
          <p:nvPr>
            <p:ph idx="2" type="body"/>
          </p:nvPr>
        </p:nvSpPr>
        <p:spPr>
          <a:xfrm>
            <a:off x="5920575" y="636725"/>
            <a:ext cx="2911800" cy="42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Errors?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>
                <a:highlight>
                  <a:srgbClr val="FFFFFF"/>
                </a:highlight>
              </a:rPr>
              <a:t>The first one is a simple one. In push, our check should be against the total capacity, not zero.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>
                <a:highlight>
                  <a:srgbClr val="FFFFFF"/>
                </a:highlight>
              </a:rPr>
              <a:t>We only have if statement checks. wait() could spuriously wake up</a:t>
            </a:r>
            <a:endParaRPr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>
                <a:highlight>
                  <a:srgbClr val="FFFFFF"/>
                </a:highlight>
              </a:rPr>
              <a:t>We never signal any of the threads! Threads could get stuck waiting indefinitely.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4"/>
          <p:cNvSpPr txBox="1"/>
          <p:nvPr/>
        </p:nvSpPr>
        <p:spPr>
          <a:xfrm>
            <a:off x="187575" y="543025"/>
            <a:ext cx="5733000" cy="4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)++]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[--(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with condition variable</a:t>
            </a:r>
            <a:endParaRPr/>
          </a:p>
        </p:txBody>
      </p:sp>
      <p:sp>
        <p:nvSpPr>
          <p:cNvPr id="352" name="Google Shape;352;p55"/>
          <p:cNvSpPr txBox="1"/>
          <p:nvPr>
            <p:ph idx="2" type="body"/>
          </p:nvPr>
        </p:nvSpPr>
        <p:spPr>
          <a:xfrm>
            <a:off x="6415250" y="1152475"/>
            <a:ext cx="2417100" cy="34164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Signal wakes any thread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Which might be another push thread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better to implement with two condition variable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See producer-consumer example</a:t>
            </a:r>
            <a:endParaRPr b="1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16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53" name="Google Shape;353;p55"/>
          <p:cNvSpPr txBox="1"/>
          <p:nvPr/>
        </p:nvSpPr>
        <p:spPr>
          <a:xfrm>
            <a:off x="141300" y="607350"/>
            <a:ext cx="64575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capacity)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)++]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pthread_cond_signal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cv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[--(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pthread_cond_broadcast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with 2 condition variables</a:t>
            </a:r>
            <a:endParaRPr/>
          </a:p>
        </p:txBody>
      </p:sp>
      <p:sp>
        <p:nvSpPr>
          <p:cNvPr id="359" name="Google Shape;359;p56"/>
          <p:cNvSpPr txBox="1"/>
          <p:nvPr/>
        </p:nvSpPr>
        <p:spPr>
          <a:xfrm>
            <a:off x="141300" y="607350"/>
            <a:ext cx="6457500" cy="4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capacity)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cv1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)++]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</a:t>
            </a:r>
            <a:r>
              <a:rPr b="1" lang="en" sz="13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broadcast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cv2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stack_t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pthread_cond_wait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cv2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[--(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)];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pthread_cond_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broadcast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cv1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pthread_mutex_unlock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5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Barriers</a:t>
            </a:r>
            <a:endParaRPr/>
          </a:p>
        </p:txBody>
      </p:sp>
      <p:sp>
        <p:nvSpPr>
          <p:cNvPr id="365" name="Google Shape;365;p5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wanted to perform a multi-threaded calculation that has two stages, but we don’t want to advance to the second stage until the first stage is completed.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 could use a synchronization method called a </a:t>
            </a:r>
            <a:r>
              <a:rPr b="1" lang="en"/>
              <a:t>barrier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a thread reaches a </a:t>
            </a:r>
            <a:r>
              <a:rPr b="1" lang="en"/>
              <a:t>barrier</a:t>
            </a:r>
            <a:r>
              <a:rPr lang="en"/>
              <a:t>, it will wait at the barrier until all the threads reach the barrier, and then they’ll all proceed together.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Pthreads has a function </a:t>
            </a:r>
            <a:r>
              <a:rPr b="1" lang="en"/>
              <a:t>pthread_barrier_wait() </a:t>
            </a:r>
            <a:r>
              <a:rPr lang="en"/>
              <a:t>that implements this.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You’ll need to declare a </a:t>
            </a:r>
            <a:r>
              <a:rPr b="1" lang="en"/>
              <a:t>pthread_barrier_t </a:t>
            </a:r>
            <a:r>
              <a:rPr lang="en"/>
              <a:t>variable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initialize it with </a:t>
            </a:r>
            <a:r>
              <a:rPr b="1" lang="en"/>
              <a:t>pthread_barrier_init()</a:t>
            </a:r>
            <a:r>
              <a:rPr lang="en"/>
              <a:t>. pthread_barrier_init() takes the number of threads that will be participating in the barrier as an argument.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</a:t>
            </a:r>
            <a:endParaRPr/>
          </a:p>
        </p:txBody>
      </p:sp>
      <p:sp>
        <p:nvSpPr>
          <p:cNvPr id="372" name="Google Shape;372;p5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Synchronization more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reader/writer problem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Deadlock and examples</a:t>
            </a:r>
            <a:endParaRPr/>
          </a:p>
        </p:txBody>
      </p:sp>
      <p:sp>
        <p:nvSpPr>
          <p:cNvPr id="373" name="Google Shape;373;p5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