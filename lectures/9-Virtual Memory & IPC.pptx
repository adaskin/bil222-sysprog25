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1cf311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1cf311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d6be4246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d6be4246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d6be424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d6be424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731cf3115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731cf3115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731cf3115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731cf3115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3359f51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73359f51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3359f51c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3359f51c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3359f51c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3359f51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73359f51c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73359f51c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73359f51c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73359f51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3359f51c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3359f51c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dd6be4246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dd6be4246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73359f51c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73359f51c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3359f51c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3359f51c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3359f51cc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73359f51cc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3359f51c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3359f51c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85288124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85288124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3359f51c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3359f51c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37ccd518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37ccd518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3359f51c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3359f51c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3359f51c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3359f51c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e37ccd518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e37ccd518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3359f51cc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3359f51cc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73359f51c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73359f51c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3359f51cc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73359f51c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73359f51c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73359f51c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73359f51cc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73359f51cc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73359f51c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73359f51c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73359f51cc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73359f51cc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da4f1ba88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da4f1ba88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37ccd51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e37ccd51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d6be4246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dd6be424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d6be4246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dd6be4246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d6be4246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dd6be4246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dd6be4246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dd6be424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dd6be4246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dd6be4246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dd6be4246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dd6be4246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dd6be4246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dd6be4246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dd6be4246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dd6be4246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73359f51cc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73359f51cc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73359f51c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73359f51c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3359f51c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3359f51c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73359f51c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73359f51c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73359f51c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73359f51c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73359f51c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73359f51c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73359f51c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73359f51c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73359f51cc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73359f51cc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73359f51cc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73359f51cc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73359f51cc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73359f51cc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73359f51cc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73359f51cc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73359f51cc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73359f51c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73359f51cc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73359f51cc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73359f51cc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73359f51cc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d6be4246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dd6be4246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1cb1b2251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1cb1b225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man7.org/linux/man-pages/man7/shm_overview.7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3.physnet.uni-hamburg.de/physnet/Tru64-Unix/HTML/APS33DTE/DOCU_004.HTM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linux.die.net/include/sys/types.h" TargetMode="External"/><Relationship Id="rId4" Type="http://schemas.openxmlformats.org/officeDocument/2006/relationships/hyperlink" Target="https://linux.die.net/include/sys/stat.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Memory &amp; IPC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5500" y="2803075"/>
            <a:ext cx="4105800" cy="16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brief</a:t>
            </a:r>
            <a:r>
              <a:rPr lang="en"/>
              <a:t> intro of virtual memory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 process communication </a:t>
            </a:r>
            <a:endParaRPr/>
          </a:p>
          <a:p>
            <a:pPr indent="-361950" lvl="0" marL="457200" rtl="0" algn="ctr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Mmap</a:t>
            </a:r>
            <a:endParaRPr/>
          </a:p>
          <a:p>
            <a:pPr indent="-361950" lvl="0" marL="457200" rtl="0" algn="ctr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Pipes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You will see more details of virtual memory in BIL 301 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299525"/>
            <a:ext cx="3999900" cy="4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simple embedded systems and early computers,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 processes directly access memory –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“Address 1234” corresponds to a particular byte stored in a particular part of physical memory.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5525" y="1635474"/>
            <a:ext cx="1888350" cy="25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603875" y="841375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For example, the IBM 709 had to read and write directly to tape with no level of abstraction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Picture in Modern architectures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Address translation (Memory </a:t>
            </a:r>
            <a:r>
              <a:rPr lang="en"/>
              <a:t>Management</a:t>
            </a:r>
            <a:r>
              <a:rPr lang="en"/>
              <a:t> Unit)</a:t>
            </a:r>
            <a:endParaRPr/>
          </a:p>
        </p:txBody>
      </p:sp>
      <p:pic>
        <p:nvPicPr>
          <p:cNvPr descr="W:\os-book\OS10\slide-dir\os-figures\9_04.jpg"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process of translating memory 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5804450" y="1160425"/>
            <a:ext cx="3149700" cy="3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 process makes a memory request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circuit first checks the Translation Lookaside Buffer (TLB) if the address page is cached into memory. It skips to the reading from/writing to phase if found otherwise the request goes to the MMU.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/>
              <a:t>The Memory Management Unit (MMU) </a:t>
            </a:r>
            <a:r>
              <a:rPr lang="en"/>
              <a:t>performs the address translation. 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If the translation succeeds, the page gets pulled from RAM – conceptually the entire page isn’t loaded up. </a:t>
            </a:r>
            <a:endParaRPr/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The result is cached in the TLB.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CPU performs the operation by either reading from the physical address or writing to the address.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446" y="1160425"/>
            <a:ext cx="5180455" cy="39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translation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Memory Management Unit(MMU)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 part of the CPU,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converts a virtual memory address into a physical address.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consider a 32-bit machine, meaning pointers are 32-bits.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can address 2^32 different locations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 4GB of memory where one address is one byte.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572000" y="526750"/>
            <a:ext cx="4260300" cy="44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magine we had a large table for every possible address where we will store the real i.e. physical address.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physical address will need 4 bytes–to hold the 32-bits.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Naturally, this scheme would require 16 billion bytes to store all of the entries.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should be painfully obvious that our lookup scheme would consume all of the memory that we could buy for our 4GB machine.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solution is to chunk memory into small regions called </a:t>
            </a:r>
            <a:r>
              <a:rPr b="1" lang="en"/>
              <a:t>‘pages’</a:t>
            </a:r>
            <a:r>
              <a:rPr lang="en"/>
              <a:t> and </a:t>
            </a:r>
            <a:r>
              <a:rPr b="1" lang="en"/>
              <a:t>‘frames’</a:t>
            </a:r>
            <a:r>
              <a:rPr lang="en"/>
              <a:t> and use a lookup table for each page.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page</a:t>
            </a:r>
            <a:r>
              <a:rPr lang="en"/>
              <a:t> is a block of virtual memory.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typical block size on Linux is 4KiB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or 2^12  addresses,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 can find examples of larger blocks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832400" y="743650"/>
            <a:ext cx="3999900" cy="38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b="1" lang="en"/>
              <a:t>frame</a:t>
            </a:r>
            <a:r>
              <a:rPr lang="en"/>
              <a:t> or sometimes called a </a:t>
            </a:r>
            <a:r>
              <a:rPr b="1" lang="en"/>
              <a:t>‘page frame’</a:t>
            </a:r>
            <a:r>
              <a:rPr lang="en"/>
              <a:t> is a block of physical memory or RAM – Random Access Memory.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frame is the same number of bytes as a virtual page or 4KiB on our machine.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0454" y="2571754"/>
            <a:ext cx="3123100" cy="219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table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452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32-bit computers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2^32 address/2^12(address/page) = 2^20 pages.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64-bit computer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2^64 address/2^12(address/page) = 2^52 pages =~ 10^15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 access a particular byte in a frame, an MMU goes from the start of the frame and adds the offset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100" y="2083000"/>
            <a:ext cx="3271725" cy="20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will assume that a 32-bit machine has 4KiB pages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2^20 pages, so first 20 bits is the page number,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The rest is the offset (address-index in the page)</a:t>
            </a:r>
            <a:endParaRPr/>
          </a:p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60283"/>
            <a:ext cx="3911875" cy="19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1600" y="2189293"/>
            <a:ext cx="4520700" cy="215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level dereferencing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671" y="1075738"/>
            <a:ext cx="6418755" cy="392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What is the page table size?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525" y="1152475"/>
            <a:ext cx="6950951" cy="38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 level page tables to reduce page-table size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3238125"/>
            <a:ext cx="3213600" cy="14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Multi-level page tables only allocates page-table space in proportion to the amount of address space you are using;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50" y="1152475"/>
            <a:ext cx="3301250" cy="15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550" y="1152475"/>
            <a:ext cx="5322300" cy="33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65900" y="3692575"/>
            <a:ext cx="81915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Page tables are slow. 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For a single page table, our machine is now twice as slow! Two memory accesses are required. 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1600"/>
              </a:spcAft>
              <a:buSzPts val="1200"/>
              <a:buChar char="○"/>
            </a:pPr>
            <a:r>
              <a:rPr lang="en"/>
              <a:t>For a two-level page table, memory access is now three times as slow – three memory accesses are required.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891" y="330200"/>
            <a:ext cx="5689375" cy="321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13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Table Disadvantages &amp; TLB (translation lookaside table)</a:t>
            </a:r>
            <a:endParaRPr/>
          </a:p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 overcome this overhead, the MMU includes an associative cache of recently-used virtual-page-to-frame lookups. This cache is called the TLB (“translation lookaside buffer”). </a:t>
            </a:r>
            <a:endParaRPr/>
          </a:p>
          <a:p>
            <a:pPr indent="-30416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Every time a virtual address needs to be translated into a physical memory location, the TLB is queried in parallel to the page table.</a:t>
            </a:r>
            <a:endParaRPr/>
          </a:p>
          <a:p>
            <a:pPr indent="-30416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 most memory accesses of most programs, there is a significant chance that the TLB has cached the results. However, if a program has inadequate cache coherence, the address will be missing in the TLB, meaning the MMU must use the much slower page table translation.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375" y="1311250"/>
            <a:ext cx="3999901" cy="302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MMU algorithm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here is a sort of pseudocode associated with the MMU. We will assume that this is for a single-level page table.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1. Receive address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2. Try to translate address according to the programmed scheme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3. If the translation fails, report an invalid address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4. Otherwise,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(a) If the TLB contains the physical memory, get the physical frame from the TLB and perform the read and write.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(b) </a:t>
            </a:r>
            <a:r>
              <a:rPr lang="en" sz="900">
                <a:solidFill>
                  <a:schemeClr val="dk1"/>
                </a:solidFill>
              </a:rPr>
              <a:t>If the page exists in memory, check if the process has permissions to perform the operation on the page </a:t>
            </a:r>
            <a:r>
              <a:rPr lang="en" sz="1000">
                <a:solidFill>
                  <a:schemeClr val="dk1"/>
                </a:solidFill>
              </a:rPr>
              <a:t>meaning the process has access to the page, and it is reading from the page/writing to a page that it has permission to do so.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LcPeriod"/>
            </a:pPr>
            <a:r>
              <a:rPr lang="en" sz="1000">
                <a:solidFill>
                  <a:schemeClr val="dk1"/>
                </a:solidFill>
              </a:rPr>
              <a:t>If so then do the dereference provide the address, cache the results in the TLB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LcPeriod"/>
            </a:pPr>
            <a:r>
              <a:rPr lang="en" sz="1000">
                <a:solidFill>
                  <a:schemeClr val="dk1"/>
                </a:solidFill>
              </a:rPr>
              <a:t>Otherwise, trigger a hardware interrupt. The kernel will most likely send a SIGSEGV or a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Segmentation Violation.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(c) If the page doesn’t exist in memory, generate an Interrupt.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LcPeriod"/>
            </a:pPr>
            <a:r>
              <a:rPr lang="en" sz="1000">
                <a:solidFill>
                  <a:schemeClr val="dk1"/>
                </a:solidFill>
              </a:rPr>
              <a:t>The kernel could realize that this page could either be not allocated or on disk. If it fits the mapping, allocate the page and try the operation again.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romanLcPeriod"/>
            </a:pPr>
            <a:r>
              <a:rPr lang="en" sz="1000">
                <a:solidFill>
                  <a:schemeClr val="dk1"/>
                </a:solidFill>
              </a:rPr>
              <a:t>Otherwise, this is invalid access and the kernel will most likely send a SIGSEGV to the process.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How would you alter this for a multi-level page table?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on pages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heavily dependent on the chipset. </a:t>
            </a:r>
            <a:r>
              <a:rPr lang="en"/>
              <a:t>We will include some bits that have historically been popular in chipsets.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AutoNum type="arabicPeriod"/>
            </a:pPr>
            <a:r>
              <a:rPr b="1" lang="en"/>
              <a:t>The read-only bit</a:t>
            </a:r>
            <a:r>
              <a:rPr lang="en"/>
              <a:t> marks the page as read-only. Attempts to write to the page will cause a page fault. </a:t>
            </a:r>
            <a:endParaRPr/>
          </a:p>
        </p:txBody>
      </p:sp>
      <p:sp>
        <p:nvSpPr>
          <p:cNvPr id="162" name="Google Shape;162;p27"/>
          <p:cNvSpPr txBox="1"/>
          <p:nvPr>
            <p:ph idx="2" type="body"/>
          </p:nvPr>
        </p:nvSpPr>
        <p:spPr>
          <a:xfrm>
            <a:off x="4832400" y="702325"/>
            <a:ext cx="3999900" cy="3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r>
              <a:rPr b="1" lang="en"/>
              <a:t> </a:t>
            </a:r>
            <a:r>
              <a:rPr b="1" lang="en"/>
              <a:t>The execution bit</a:t>
            </a:r>
            <a:r>
              <a:rPr lang="en"/>
              <a:t> defines whether bytes in a page can be executed as CPU instructions.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Processors may merge these bits into one and deem a page either writable or executable.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bit is useful because it prevents stack overflow or code injection attacks when writing user data into the heap or the stack because those are not read-only and thus not executable.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b="1" lang="en"/>
              <a:t>The dirty bit</a:t>
            </a:r>
            <a:r>
              <a:rPr lang="en"/>
              <a:t> allows for performance optimization.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And many others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Page faults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A page fault may happen when a process accesses an address in a frame missing in memory. There are three types of Page Faults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1. Minor</a:t>
            </a:r>
            <a:r>
              <a:rPr lang="en"/>
              <a:t> If there is no mapping yet for the page, but it is a valid address. </a:t>
            </a:r>
            <a:endParaRPr/>
          </a:p>
          <a:p>
            <a:pPr indent="-304165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could be memory asked for by sbrk(2) but not written to yet</a:t>
            </a:r>
            <a:endParaRPr/>
          </a:p>
          <a:p>
            <a:pPr indent="-293369" lvl="1" marL="914400" rtl="0" algn="l">
              <a:spcBef>
                <a:spcPts val="16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 meaning that the operating system can wait for the first write before allocating space </a:t>
            </a:r>
            <a:endParaRPr/>
          </a:p>
          <a:p>
            <a:pPr indent="-293369" lvl="2" marL="1371600" rtl="0" algn="l">
              <a:spcBef>
                <a:spcPts val="160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– if it was read from, the operating system could short circuit the operation to read 0.</a:t>
            </a:r>
            <a:endParaRPr/>
          </a:p>
          <a:p>
            <a:pPr indent="-293369" lvl="1" marL="914400" rtl="0" algn="l">
              <a:spcBef>
                <a:spcPts val="1600"/>
              </a:spcBef>
              <a:spcAft>
                <a:spcPts val="1600"/>
              </a:spcAft>
              <a:buSzPct val="100000"/>
              <a:buChar char="○"/>
            </a:pPr>
            <a:r>
              <a:rPr lang="en"/>
              <a:t> The OS simply makes the page, loads it into memory, and moves on.</a:t>
            </a:r>
            <a:endParaRPr/>
          </a:p>
        </p:txBody>
      </p:sp>
      <p:sp>
        <p:nvSpPr>
          <p:cNvPr id="169" name="Google Shape;169;p28"/>
          <p:cNvSpPr txBox="1"/>
          <p:nvPr>
            <p:ph idx="2" type="body"/>
          </p:nvPr>
        </p:nvSpPr>
        <p:spPr>
          <a:xfrm>
            <a:off x="4863125" y="753300"/>
            <a:ext cx="3969300" cy="38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 </a:t>
            </a:r>
            <a:r>
              <a:rPr b="1" lang="en"/>
              <a:t>Major</a:t>
            </a:r>
            <a:r>
              <a:rPr lang="en"/>
              <a:t> If the mapping to the page is exclusively on disk.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operating system will swap the page into memory and swap another page out.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this happens frequently enough, your program is said to thrash the MMU.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3. Invalid</a:t>
            </a:r>
            <a:r>
              <a:rPr lang="en"/>
              <a:t> When a program tries to write to a non-writable memory address or read to a non-readable memory address.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MMU generates an invalid fault and the OS will usually generate a SIGSEGV meaning segmentation violation meaning that the program wrote outside the segment that it could write 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does this have to do with IPC?</a:t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Before, we knew that processes had isolation.</a:t>
            </a:r>
            <a:endParaRPr sz="19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you didn’t know how that isolation mapped. </a:t>
            </a: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you may not know how you can break this isolation.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Interprocess communication requires “breaking” this isolation in some way.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does this have to do with IPC?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152475"/>
            <a:ext cx="810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To </a:t>
            </a:r>
            <a:r>
              <a:rPr lang="en" sz="1700"/>
              <a:t>break a memory level isolation,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 we have two avenues. </a:t>
            </a:r>
            <a:endParaRPr sz="1700"/>
          </a:p>
          <a:p>
            <a:pPr indent="-323850" lvl="1" marL="914400" rtl="0" algn="l">
              <a:spcBef>
                <a:spcPts val="16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One is to ask the kernel to provide some kind of interface. </a:t>
            </a:r>
            <a:endParaRPr sz="1500"/>
          </a:p>
          <a:p>
            <a:pPr indent="-323850" lvl="1" marL="914400" rtl="0" algn="l">
              <a:spcBef>
                <a:spcPts val="1600"/>
              </a:spcBef>
              <a:spcAft>
                <a:spcPts val="1600"/>
              </a:spcAft>
              <a:buSzPts val="1500"/>
              <a:buChar char="○"/>
            </a:pPr>
            <a:r>
              <a:rPr lang="en" sz="1500"/>
              <a:t>The other is to ask the kernel to map two pages of memory to the same virtual memory area and handle all the synchronization yourself.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Mmap: </a:t>
            </a:r>
            <a:r>
              <a:rPr lang="en"/>
              <a:t>map or unmap files or devices into memory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9238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mmap is a trick of virtual memory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instead of mapping a page to a frame, it can be mapped to a file on disk,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and the frame can be shared among processes.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We can use </a:t>
            </a:r>
            <a:r>
              <a:rPr b="1" lang="en">
                <a:solidFill>
                  <a:schemeClr val="dk1"/>
                </a:solidFill>
              </a:rPr>
              <a:t>mmap</a:t>
            </a:r>
            <a:r>
              <a:rPr lang="en" sz="1400">
                <a:solidFill>
                  <a:schemeClr val="dk1"/>
                </a:solidFill>
              </a:rPr>
              <a:t> to read from a file on disk efficiently or sync changes to the file.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One of the big optimizations is a file may be </a:t>
            </a:r>
            <a:r>
              <a:rPr b="1" lang="en" sz="1400">
                <a:solidFill>
                  <a:schemeClr val="dk1"/>
                </a:solidFill>
              </a:rPr>
              <a:t>“lazily”</a:t>
            </a:r>
            <a:r>
              <a:rPr lang="en" sz="1400">
                <a:solidFill>
                  <a:schemeClr val="dk1"/>
                </a:solidFill>
              </a:rPr>
              <a:t> allocated to memory.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"merhaba"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len 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(buf);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offset 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fd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"hello.txt"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O_WRONLY);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lseek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(fd, offset, SEEK_SET);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(fd, buf, len);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9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idx="2" type="body"/>
          </p:nvPr>
        </p:nvSpPr>
        <p:spPr>
          <a:xfrm>
            <a:off x="408175" y="1187625"/>
            <a:ext cx="37734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/*standard file I/O*/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buf[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merhaba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len 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(buf);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offset =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fd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hello.txt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O_WRONLY);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lseek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SEEK_SET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9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4572000" y="177100"/>
            <a:ext cx="4495800" cy="43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/*with mmap*/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sys/mman.h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fcntl.h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unistd.h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stdio.h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=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fd2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hello.txt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O_RDWR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PROT_WRITE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MAP_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SHARED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fd2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%.100s</a:t>
            </a:r>
            <a:r>
              <a:rPr lang="en" sz="135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munmap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fd2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mmap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123950" y="1152475"/>
            <a:ext cx="485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len  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offset 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fd2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"hello.txt"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O_RDWR);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*addr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len, PROT_WRITE, 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MAP_SHARED, fd2, offset);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'B'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"%.100s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addr);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munmap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(addr, len);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(fd2);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1" name="Google Shape;201;p33"/>
          <p:cNvSpPr txBox="1"/>
          <p:nvPr>
            <p:ph idx="2" type="body"/>
          </p:nvPr>
        </p:nvSpPr>
        <p:spPr>
          <a:xfrm>
            <a:off x="5284800" y="98925"/>
            <a:ext cx="3814500" cy="44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kernel sees that the program wants to mmap the file into memory, so it will reserve some space in your address space that is the length of the file.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That means when the program writes to </a:t>
            </a:r>
            <a:r>
              <a:rPr b="1" lang="en" sz="1500">
                <a:solidFill>
                  <a:schemeClr val="dk1"/>
                </a:solidFill>
              </a:rPr>
              <a:t>addr[0] </a:t>
            </a:r>
            <a:r>
              <a:rPr lang="en" sz="1500">
                <a:solidFill>
                  <a:schemeClr val="dk1"/>
                </a:solidFill>
              </a:rPr>
              <a:t>that it writes to the first byte of the file.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kernel can do some optimizations too. Instead of loading the whole file into memory, it may only load pages at a time.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A program may only access 3 or 4 pages making loading the entire file a waste of time. Page faults are so powerful because let the operating system take control of when a file is used.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mmap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&lt;sys/mman.h&gt;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●"/>
            </a:pP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○"/>
            </a:pPr>
            <a:r>
              <a:rPr lang="en"/>
              <a:t>Start address of new mapping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If NULL, kernel chooses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ourier New"/>
              <a:buChar char="●"/>
            </a:pP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○"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 </a:t>
            </a:r>
            <a:r>
              <a:rPr lang="en"/>
              <a:t>of the mapping in bytes starting from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offset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●"/>
            </a:pPr>
            <a:r>
              <a:t/>
            </a:r>
            <a:endParaRPr b="1" sz="1200"/>
          </a:p>
        </p:txBody>
      </p:sp>
      <p:sp>
        <p:nvSpPr>
          <p:cNvPr id="208" name="Google Shape;208;p34"/>
          <p:cNvSpPr txBox="1"/>
          <p:nvPr>
            <p:ph idx="2" type="body"/>
          </p:nvPr>
        </p:nvSpPr>
        <p:spPr>
          <a:xfrm>
            <a:off x="4767100" y="172750"/>
            <a:ext cx="3999900" cy="45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</a:t>
            </a:r>
            <a:r>
              <a:rPr lang="en" sz="1200"/>
              <a:t> determines the type of access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PROT_READ</a:t>
            </a:r>
            <a:r>
              <a:rPr lang="en">
                <a:solidFill>
                  <a:schemeClr val="dk1"/>
                </a:solidFill>
              </a:rPr>
              <a:t> This means the process can read the memory. The underlying file descriptor, in this case, must be opened with read privileges.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PROT_WRITE</a:t>
            </a:r>
            <a:r>
              <a:rPr lang="en">
                <a:solidFill>
                  <a:schemeClr val="dk1"/>
                </a:solidFill>
              </a:rPr>
              <a:t> This means the process can write to the memory.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PROT_EXEC</a:t>
            </a:r>
            <a:r>
              <a:rPr lang="en">
                <a:solidFill>
                  <a:schemeClr val="dk1"/>
                </a:solidFill>
              </a:rPr>
              <a:t> This means the process can execute this piece of memory.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PROT_NONE</a:t>
            </a:r>
            <a:r>
              <a:rPr lang="en">
                <a:solidFill>
                  <a:schemeClr val="dk1"/>
                </a:solidFill>
              </a:rPr>
              <a:t> This means the process can’t do anything with the mapping. This could be useful if you implement guard pages in terms of security.</a:t>
            </a:r>
            <a:endParaRPr b="1">
              <a:solidFill>
                <a:srgbClr val="502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lang="en" sz="1200"/>
              <a:t> determines how to handle the changed data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MAP_SHARED</a:t>
            </a:r>
            <a:r>
              <a:rPr lang="en">
                <a:solidFill>
                  <a:schemeClr val="dk1"/>
                </a:solidFill>
              </a:rPr>
              <a:t> This mapping will be synchronized to the underlying file object. The file descriptor must’ve been opened with write permissions in this case.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>
                <a:solidFill>
                  <a:schemeClr val="dk1"/>
                </a:solidFill>
              </a:rPr>
              <a:t>MAP_PRIVATE</a:t>
            </a:r>
            <a:r>
              <a:rPr lang="en">
                <a:solidFill>
                  <a:schemeClr val="dk1"/>
                </a:solidFill>
              </a:rPr>
              <a:t> This mapping will only be visible to the process itself. Useful to not thrash the operating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sys/mman.h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35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[.length],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flags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350">
                <a:solidFill>
                  <a:srgbClr val="0000FF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808080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 is a file descriptor can be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350"/>
              <a:buFont typeface="Consolas"/>
              <a:buChar char="●"/>
            </a:pPr>
            <a:r>
              <a:rPr lang="en" sz="1350">
                <a:solidFill>
                  <a:schemeClr val="dk1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hello.txt</a:t>
            </a:r>
            <a:r>
              <a:rPr lang="en" sz="135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O_WRONLY);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350"/>
              <a:buFont typeface="Consolas"/>
              <a:buChar char="●"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 = </a:t>
            </a:r>
            <a:r>
              <a:rPr lang="en" sz="135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shm_open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(shmpath,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O_CREAT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O_EXCL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lang="en" sz="135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O_RDWR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0600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u="sng">
                <a:solidFill>
                  <a:schemeClr val="hlink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https://man7.org/linux/man-pages/man7/shm_overview.7.html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guidance for</a:t>
            </a:r>
            <a:r>
              <a:rPr lang="en"/>
              <a:t> memory-mapped files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Get a file descriptor with a call to the </a:t>
            </a:r>
            <a:r>
              <a:rPr b="1" lang="en"/>
              <a:t>open</a:t>
            </a:r>
            <a:r>
              <a:rPr lang="en"/>
              <a:t> or </a:t>
            </a:r>
            <a:r>
              <a:rPr b="1" lang="en"/>
              <a:t>shm_open</a:t>
            </a:r>
            <a:r>
              <a:rPr lang="en"/>
              <a:t> function.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Map the object using the file descriptor with a call to the </a:t>
            </a:r>
            <a:r>
              <a:rPr b="1" lang="en"/>
              <a:t>mmap</a:t>
            </a:r>
            <a:r>
              <a:rPr lang="en"/>
              <a:t> function.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Unmap the object with a call to the </a:t>
            </a:r>
            <a:r>
              <a:rPr b="1" lang="en"/>
              <a:t>munmap</a:t>
            </a:r>
            <a:r>
              <a:rPr lang="en"/>
              <a:t> function.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Close the object with a call to the </a:t>
            </a:r>
            <a:r>
              <a:rPr b="1" lang="en"/>
              <a:t>close</a:t>
            </a:r>
            <a:r>
              <a:rPr lang="en"/>
              <a:t> function.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Remove the shared-memory object with a call to the shm_unlink function or optionally remove a memory-mapped file with a call to the unlink function.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800"/>
              <a:t>Taken from </a:t>
            </a:r>
            <a:r>
              <a:rPr lang="en" sz="800" u="sng">
                <a:solidFill>
                  <a:schemeClr val="hlink"/>
                </a:solidFill>
                <a:hlinkClick r:id="rId3"/>
              </a:rPr>
              <a:t>https://www3.physnet.uni-hamburg.de/physnet/Tru64-Unix/HTML/APS33DTE/DOCU_004.HTM</a:t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311700" y="248200"/>
            <a:ext cx="8520600" cy="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</a:t>
            </a:r>
            <a:r>
              <a:rPr lang="en"/>
              <a:t>alkthrough of the example code in the man pages</a:t>
            </a:r>
            <a:endParaRPr sz="1800"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311700" y="836025"/>
            <a:ext cx="51486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Our command-line utility will take a file, offset, and length to print.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To obtain file info in linux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&lt;sys/stat.h&gt;</a:t>
            </a:r>
            <a:endParaRPr b="1" sz="10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stat {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dev_t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st_dev; 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ID of device containing file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ino_t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st_ino; 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Inode number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st_mode;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File type and mode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nlink_t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st_nlink;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Number of hard links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uid_t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st_uid; 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User ID of owner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gid_t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st_gid; 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Group ID of owner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dev_t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st_rdev;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Device ID (if special file)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st_size;  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Total size, in bytes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blksize_t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st_blksize;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Block size for filesystem I/O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blkcnt_t</a:t>
            </a: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st_blocks;   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Number of 512B blocks allocated */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7"/>
          <p:cNvSpPr txBox="1"/>
          <p:nvPr>
            <p:ph idx="2" type="body"/>
          </p:nvPr>
        </p:nvSpPr>
        <p:spPr>
          <a:xfrm>
            <a:off x="5525575" y="1152475"/>
            <a:ext cx="350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fd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"hello.txt"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O_RDWR);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stat sb;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fstat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(fd, &amp;sb);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sb.st_size is the file size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mmap doesn’t let the program pass in any value as an offset, it needs to be a multiple of the page size.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off_t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offset =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atoi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pa_offset = offset &amp; ~(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sysconf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(_SC_PAGE_SIZE) -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offset for mmap() must be page aligned, it rounds down the value: 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example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 Page size be 4096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~(4096-1) = ~4095 = -4096 that is</a:t>
            </a:r>
            <a:r>
              <a:rPr lang="en" sz="2400">
                <a:solidFill>
                  <a:schemeClr val="accent2"/>
                </a:solidFill>
                <a:highlight>
                  <a:srgbClr val="FFFFFF"/>
                </a:highlight>
              </a:rPr>
              <a:t>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1111...1000000000000 which zeros the lowest bits of offset*/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152475"/>
            <a:ext cx="435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addr =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 + offset - page_offset,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PROT_READ, MAP_PRIVATE,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fd, page_offset);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1. </a:t>
            </a:r>
            <a:r>
              <a:rPr b="1" lang="en">
                <a:solidFill>
                  <a:schemeClr val="dk1"/>
                </a:solidFill>
              </a:rPr>
              <a:t>NULL</a:t>
            </a:r>
            <a:r>
              <a:rPr lang="en">
                <a:solidFill>
                  <a:schemeClr val="dk1"/>
                </a:solidFill>
              </a:rPr>
              <a:t>, this tells mmap we don’t need any particular address to start 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2. </a:t>
            </a:r>
            <a:r>
              <a:rPr b="1" lang="en">
                <a:solidFill>
                  <a:schemeClr val="dk1"/>
                </a:solidFill>
              </a:rPr>
              <a:t>length + offset - page_offset</a:t>
            </a:r>
            <a:r>
              <a:rPr lang="en">
                <a:solidFill>
                  <a:schemeClr val="dk1"/>
                </a:solidFill>
              </a:rPr>
              <a:t>, mmaps the “rest” of the file into memory (starting from offset)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</a:t>
            </a:r>
            <a:r>
              <a:rPr b="1" lang="en">
                <a:solidFill>
                  <a:schemeClr val="dk1"/>
                </a:solidFill>
              </a:rPr>
              <a:t>PROT_READ</a:t>
            </a:r>
            <a:r>
              <a:rPr lang="en">
                <a:solidFill>
                  <a:schemeClr val="dk1"/>
                </a:solidFill>
              </a:rPr>
              <a:t>, we want to read the file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4.</a:t>
            </a:r>
            <a:r>
              <a:rPr b="1" lang="en">
                <a:solidFill>
                  <a:schemeClr val="dk1"/>
                </a:solidFill>
              </a:rPr>
              <a:t> MAP_PRIVATE</a:t>
            </a:r>
            <a:r>
              <a:rPr lang="en">
                <a:solidFill>
                  <a:schemeClr val="dk1"/>
                </a:solidFill>
              </a:rPr>
              <a:t>, tell the OS, we don’t want to share our mapping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5. </a:t>
            </a:r>
            <a:r>
              <a:rPr b="1" lang="en">
                <a:solidFill>
                  <a:schemeClr val="dk1"/>
                </a:solidFill>
              </a:rPr>
              <a:t>fd</a:t>
            </a:r>
            <a:r>
              <a:rPr lang="en">
                <a:solidFill>
                  <a:schemeClr val="dk1"/>
                </a:solidFill>
              </a:rPr>
              <a:t>, object descriptor that we refer 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6. </a:t>
            </a:r>
            <a:r>
              <a:rPr b="1" lang="en">
                <a:solidFill>
                  <a:schemeClr val="dk1"/>
                </a:solidFill>
              </a:rPr>
              <a:t>pa_offset</a:t>
            </a:r>
            <a:r>
              <a:rPr lang="en">
                <a:solidFill>
                  <a:schemeClr val="dk1"/>
                </a:solidFill>
              </a:rPr>
              <a:t>, the page aligned offset to start 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834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addr + offset - page_offset, length);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munmap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(addr, length + offset - pa_offset);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can interact with the address as if it were a normal buffer.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After, we have to unmap the file and close the file descriptor to make sure other system resources are freed.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</a:t>
            </a:r>
            <a:r>
              <a:rPr lang="en"/>
              <a:t> mmap to communicate across processes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/*allocate some space with mmap*</a:t>
            </a:r>
            <a:endParaRPr b="1" sz="14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size =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*addr = </a:t>
            </a:r>
            <a:r>
              <a:rPr b="1" lang="en" sz="14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mmap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size, PROT_READ | PROT_WRITE, 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MAP_SHARED | MAP_ANONYMOUS,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*shared = addr;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02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MAP_ANONYMOUS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mapping is not backed by any file;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its contents are initialized to zero.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fd argument is ignored; however, some implementations require fd to be -1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offset argument should be zero.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204475" y="104500"/>
            <a:ext cx="8627700" cy="48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child = </a:t>
            </a:r>
            <a:r>
              <a:rPr b="1" lang="en" sz="14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(child &gt;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sleep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Check the synchronization chapter for a better way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"%d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4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+ </a:t>
            </a:r>
            <a:r>
              <a:rPr b="1" lang="en" sz="14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shared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munmap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(addr, size);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sleep is not a mutex there is no assurance that the values are communicated (use semaphores)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</a:t>
            </a:r>
            <a:r>
              <a:rPr lang="en"/>
              <a:t>ote that each process should call munmap when done using the piece of memory.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MMAP for Two different process (not parent-child)</a:t>
            </a:r>
            <a:endParaRPr/>
          </a:p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b="1" lang="en"/>
              <a:t>shm_open</a:t>
            </a:r>
            <a:r>
              <a:rPr lang="en"/>
              <a:t> function.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int</a:t>
            </a:r>
            <a:endParaRPr sz="1350" u="sng">
              <a:solidFill>
                <a:srgbClr val="121212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    </a:t>
            </a:r>
            <a:r>
              <a:rPr b="1" lang="en" sz="1350">
                <a:solidFill>
                  <a:srgbClr val="1D1D1D"/>
                </a:solidFill>
                <a:highlight>
                  <a:srgbClr val="DBDBDB"/>
                </a:highlight>
              </a:rPr>
              <a:t>shm_open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(</a:t>
            </a: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const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</a:t>
            </a: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char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</a:t>
            </a: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*name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, </a:t>
            </a: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int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</a:t>
            </a: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oflag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, </a:t>
            </a:r>
            <a:r>
              <a:rPr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...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);</a:t>
            </a:r>
            <a:endParaRPr sz="1350">
              <a:solidFill>
                <a:srgbClr val="121212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121212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The shared memory object referenced by </a:t>
            </a:r>
            <a:r>
              <a:rPr b="1"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name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is opened for reading and/or writing as specified by the argument </a:t>
            </a:r>
            <a:r>
              <a:rPr b="1" lang="en" sz="1350" u="sng">
                <a:solidFill>
                  <a:srgbClr val="121212"/>
                </a:solidFill>
                <a:highlight>
                  <a:srgbClr val="DBDBDB"/>
                </a:highlight>
              </a:rPr>
              <a:t>oflag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and the file descriptor returned to the calling process.  </a:t>
            </a:r>
            <a:endParaRPr sz="1350">
              <a:solidFill>
                <a:srgbClr val="121212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Repeated calls to </a:t>
            </a:r>
            <a:r>
              <a:rPr b="1" lang="en" sz="1350">
                <a:solidFill>
                  <a:srgbClr val="1D1D1D"/>
                </a:solidFill>
                <a:highlight>
                  <a:srgbClr val="DBDBDB"/>
                </a:highlight>
              </a:rPr>
              <a:t>shm_open</a:t>
            </a:r>
            <a:endParaRPr b="1" sz="1350">
              <a:solidFill>
                <a:srgbClr val="1D1D1D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    with the same string value for </a:t>
            </a:r>
            <a:r>
              <a:rPr b="1" lang="en" sz="1350">
                <a:solidFill>
                  <a:srgbClr val="1D1D1D"/>
                </a:solidFill>
                <a:highlight>
                  <a:srgbClr val="DBDBDB"/>
                </a:highlight>
              </a:rPr>
              <a:t>name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() will return a file descriptor referring to the same shared memory</a:t>
            </a:r>
            <a:endParaRPr sz="1350">
              <a:solidFill>
                <a:srgbClr val="121212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     object, provided that the object has not been unlinked by a call to </a:t>
            </a:r>
            <a:r>
              <a:rPr b="1" lang="en" sz="1350">
                <a:solidFill>
                  <a:srgbClr val="1D1D1D"/>
                </a:solidFill>
                <a:highlight>
                  <a:srgbClr val="DBDBDB"/>
                </a:highlight>
              </a:rPr>
              <a:t>shm_unlink</a:t>
            </a:r>
            <a:r>
              <a:rPr lang="en" sz="1350">
                <a:solidFill>
                  <a:srgbClr val="121212"/>
                </a:solidFill>
                <a:highlight>
                  <a:srgbClr val="DBDBDB"/>
                </a:highlight>
              </a:rPr>
              <a:t>(). </a:t>
            </a:r>
            <a:endParaRPr sz="1350">
              <a:solidFill>
                <a:srgbClr val="121212"/>
              </a:solidFill>
              <a:highlight>
                <a:srgbClr val="DBDBD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See man shm_open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process writes data to shared memory, the other one converts it to uppercase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need to wait for the data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need to wait for the uppercase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shmbuf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sem1;      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POSIX unnamed semaphore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sem2;      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POSIX unnamed semaphore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cnt;          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Number of bytes used in 'buf'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buf[BUF_SIZE];   </a:t>
            </a:r>
            <a:r>
              <a:rPr lang="en" sz="13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Data being transferred */</a:t>
            </a:r>
            <a:endParaRPr sz="13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(from $ man shm_open)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type="title"/>
          </p:nvPr>
        </p:nvSpPr>
        <p:spPr>
          <a:xfrm>
            <a:off x="311700" y="15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shared memory object</a:t>
            </a:r>
            <a:endParaRPr/>
          </a:p>
        </p:txBody>
      </p:sp>
      <p:sp>
        <p:nvSpPr>
          <p:cNvPr id="275" name="Google Shape;275;p45"/>
          <p:cNvSpPr txBox="1"/>
          <p:nvPr>
            <p:ph idx="1" type="body"/>
          </p:nvPr>
        </p:nvSpPr>
        <p:spPr>
          <a:xfrm>
            <a:off x="311700" y="692200"/>
            <a:ext cx="8563200" cy="42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</a:t>
            </a:r>
            <a:r>
              <a:rPr b="1" i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pshm_ucase_bounce.c*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ctype.h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120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pshm_ucase.h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stderr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Usage: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%s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/shm-path</a:t>
            </a:r>
            <a:r>
              <a:rPr b="1" lang="en" sz="12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EXIT_FAILURE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shmpath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Create shared memory object and set its size to the size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of our structure.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shm_open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shmpath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O_CREAT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O_EXCL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O_RDWR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S_IRUSR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S_IWUSR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shm_open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ftruncate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shmbuf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== 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ftruncate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the object into caller’s </a:t>
            </a:r>
            <a:r>
              <a:rPr lang="en"/>
              <a:t>address</a:t>
            </a:r>
            <a:r>
              <a:rPr lang="en"/>
              <a:t> space</a:t>
            </a:r>
            <a:endParaRPr/>
          </a:p>
        </p:txBody>
      </p:sp>
      <p:sp>
        <p:nvSpPr>
          <p:cNvPr id="281" name="Google Shape;28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Map the object into the caller's address space.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shmbuf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(*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PROT_READ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PROT_WRITE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MAP_SHARED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MAP_FAILED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Initialize semaphore and wait</a:t>
            </a:r>
            <a:endParaRPr/>
          </a:p>
        </p:txBody>
      </p:sp>
      <p:sp>
        <p:nvSpPr>
          <p:cNvPr id="287" name="Google Shape;28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Initialize semaphores as process-shared, with value 0.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sem_init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-&gt;sem1,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==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sem_init-sem1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sem_init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-&gt;sem2,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==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sem_init-sem2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Wait for 'sem1' to be posted by peer before touching shared memory. */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sem_wait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-&gt;sem1) ==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sem_wait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shared data and post sem2</a:t>
            </a:r>
            <a:endParaRPr/>
          </a:p>
        </p:txBody>
      </p:sp>
      <p:sp>
        <p:nvSpPr>
          <p:cNvPr id="293" name="Google Shape;29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Convert data in shared memory into upper case.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-&gt;cnt;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-&gt;buf[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toupper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-&gt;buf[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Post 'sem2' to tell the peer that it can now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access the modified data in shared memory. */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sem_post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-&gt;sem2) == 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sem_post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Unlink the shared memory object. Even if the peer process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is still using the object, this is okay. The object will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be removed only after all open references are closed. */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shm_unlink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shmpath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EXIT_SUCCESS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Sender process: take a string msg and shm-path</a:t>
            </a:r>
            <a:endParaRPr/>
          </a:p>
        </p:txBody>
      </p:sp>
      <p:sp>
        <p:nvSpPr>
          <p:cNvPr id="299" name="Google Shape;29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</a:t>
            </a:r>
            <a:r>
              <a:rPr b="1" i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pshm_ucase_send.c*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string.h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1200">
              <a:solidFill>
                <a:srgbClr val="E2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pshm_ucase.h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stderr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Usage: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%s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/shm-path string</a:t>
            </a:r>
            <a:r>
              <a:rPr b="1" lang="en" sz="12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EXIT_FAILURE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shmpath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BUF_SIZE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stderr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 is too long</a:t>
            </a:r>
            <a:r>
              <a:rPr b="1" lang="en" sz="12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EXIT_FAILURE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shared object and map it to address space</a:t>
            </a:r>
            <a:endParaRPr/>
          </a:p>
        </p:txBody>
      </p:sp>
      <p:sp>
        <p:nvSpPr>
          <p:cNvPr id="305" name="Google Shape;305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Open the existing shared memory object and map it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into the caller's address space.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shm_open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shmpath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O_RDWR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shm_open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shmbuf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(*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PROT_READ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PROT_WRITE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MAP_SHARED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MAP_FAILED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data into shared memory</a:t>
            </a:r>
            <a:endParaRPr/>
          </a:p>
        </p:txBody>
      </p:sp>
      <p:sp>
        <p:nvSpPr>
          <p:cNvPr id="311" name="Google Shape;311;p51"/>
          <p:cNvSpPr txBox="1"/>
          <p:nvPr>
            <p:ph idx="1" type="body"/>
          </p:nvPr>
        </p:nvSpPr>
        <p:spPr>
          <a:xfrm>
            <a:off x="350025" y="1152475"/>
            <a:ext cx="84822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Copy data into the shared memory object.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-&gt;cnt =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memcpy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-&gt;buf,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Tell peer that it can now access shared memory.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sem_post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-&gt;sem1) ==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sem_post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400"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for response</a:t>
            </a:r>
            <a:endParaRPr/>
          </a:p>
        </p:txBody>
      </p:sp>
      <p:sp>
        <p:nvSpPr>
          <p:cNvPr id="317" name="Google Shape;31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Wait until peer says that it has finished accessing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the shared memory.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sem_wait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-&gt;sem2) == -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errExit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sem_wait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/* Write modified data in shared memory to standard output.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STDOUT_FILENO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shmp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-&gt;buf, </a:t>
            </a:r>
            <a:r>
              <a:rPr b="1" lang="en" sz="14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STDOUT_FILENO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4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EXIT_SUCCESS</a:t>
            </a: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/>
          <p:nvPr>
            <p:ph idx="1" type="body"/>
          </p:nvPr>
        </p:nvSpPr>
        <p:spPr>
          <a:xfrm>
            <a:off x="496400" y="248200"/>
            <a:ext cx="8335800" cy="4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Sharing anonymous memory is an efficient form of inter-process communication because there is no copying, system call, or disk-access overhead - the two processes share the same physical frame of main memory.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the other hand, shared memory, like in a multithreading context, creates room for data races. Processes that share writable memory might need to use synchronization primitives like mutexes to prevent these from happening.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Pipes</a:t>
            </a:r>
            <a:endParaRPr/>
          </a:p>
        </p:txBody>
      </p:sp>
      <p:sp>
        <p:nvSpPr>
          <p:cNvPr id="328" name="Google Shape;328;p54"/>
          <p:cNvSpPr txBox="1"/>
          <p:nvPr>
            <p:ph idx="1" type="body"/>
          </p:nvPr>
        </p:nvSpPr>
        <p:spPr>
          <a:xfrm>
            <a:off x="311700" y="1152475"/>
            <a:ext cx="842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You’ve seen the virtual memory way of IPC, but there are more standard versions of IPC that are provided by the kernel. One of the big utilities is POSIX pipes. A pipe simply takes in a stream of bytes and spits out a sequence of bytes.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pipes were invented to take the output of one program and feed it to the input of another program though they have other uses today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4"/>
          <p:cNvSpPr txBox="1"/>
          <p:nvPr/>
        </p:nvSpPr>
        <p:spPr>
          <a:xfrm>
            <a:off x="311700" y="3892750"/>
            <a:ext cx="71976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$ ls -l | more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/>
          <p:nvPr/>
        </p:nvSpPr>
        <p:spPr>
          <a:xfrm>
            <a:off x="770700" y="600900"/>
            <a:ext cx="78378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ls -1 | cut -d'.' -f1 | sort | uniq | tee dirents</a:t>
            </a:r>
            <a:endParaRPr/>
          </a:p>
        </p:txBody>
      </p:sp>
      <p:sp>
        <p:nvSpPr>
          <p:cNvPr id="335" name="Google Shape;33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following code do?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it lists the current directory.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-1 means that it outputs one entry per line.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cut</a:t>
            </a:r>
            <a:r>
              <a:rPr lang="en"/>
              <a:t> command then takes everything before the first period.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sort</a:t>
            </a:r>
            <a:r>
              <a:rPr lang="en"/>
              <a:t> sorts all the input lines,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uniq makes sure all the lines are unique.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Finally, </a:t>
            </a:r>
            <a:r>
              <a:rPr b="1" lang="en"/>
              <a:t>tee</a:t>
            </a:r>
            <a:r>
              <a:rPr lang="en"/>
              <a:t> outputs the contents to the file </a:t>
            </a:r>
            <a:r>
              <a:rPr b="1" lang="en"/>
              <a:t>dirents</a:t>
            </a:r>
            <a:r>
              <a:rPr lang="en"/>
              <a:t> and the terminal for your perusal.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important part is that bash creates 5 separate processes and connects their standard outs/stdins with pipes the trail looks something like this.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6"/>
          <p:cNvSpPr txBox="1"/>
          <p:nvPr>
            <p:ph idx="1" type="body"/>
          </p:nvPr>
        </p:nvSpPr>
        <p:spPr>
          <a:xfrm>
            <a:off x="311700" y="2795450"/>
            <a:ext cx="8520600" cy="17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numbers in the pipes are the file descriptors for each process and the arrow represents the redirect or where the output of the pipe is going.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775" y="445013"/>
            <a:ext cx="61912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POSIX pipes: pipe() system call</a:t>
            </a:r>
            <a:endParaRPr/>
          </a:p>
        </p:txBody>
      </p:sp>
      <p:sp>
        <p:nvSpPr>
          <p:cNvPr id="348" name="Google Shape;348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POSIX pipe is almost like its real counterpart - a program can stuff bytes down one end and they will appear at the other end in the same order.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Unlike real pipes, however, the flow is always in the same direction, one file descriptor is used for reading and the other for writing.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pipe system call is used to create a pipe. These file descriptors can be used with </a:t>
            </a:r>
            <a:r>
              <a:rPr b="1" lang="en"/>
              <a:t>read</a:t>
            </a:r>
            <a:r>
              <a:rPr lang="en"/>
              <a:t> and </a:t>
            </a:r>
            <a:r>
              <a:rPr b="1" lang="en"/>
              <a:t>write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common method of using pipes is to create the pipe before forking to communicate with a child process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50" name="Google Shape;35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8975" y="2174813"/>
            <a:ext cx="3733800" cy="2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7"/>
          <p:cNvSpPr txBox="1"/>
          <p:nvPr/>
        </p:nvSpPr>
        <p:spPr>
          <a:xfrm>
            <a:off x="4990000" y="4568875"/>
            <a:ext cx="6570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https://www.geeksforgeeks.org/pipe-system-call/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8"/>
          <p:cNvSpPr txBox="1"/>
          <p:nvPr>
            <p:ph idx="1" type="body"/>
          </p:nvPr>
        </p:nvSpPr>
        <p:spPr>
          <a:xfrm>
            <a:off x="222075" y="1152475"/>
            <a:ext cx="4480500" cy="3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/*fd[0] is set up for reading, 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fd[1] is set up for writing*/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child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file descriptors remain open across child and parent processes.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we call fork after creating a pipe, then the parent and child can communicate via the pipe.</a:t>
            </a:r>
            <a:endParaRPr sz="9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200"/>
          </a:p>
        </p:txBody>
      </p:sp>
      <p:pic>
        <p:nvPicPr>
          <p:cNvPr id="358" name="Google Shape;35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63" y="1152475"/>
            <a:ext cx="420052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8"/>
          <p:cNvSpPr txBox="1"/>
          <p:nvPr/>
        </p:nvSpPr>
        <p:spPr>
          <a:xfrm>
            <a:off x="4990000" y="4568875"/>
            <a:ext cx="6570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https://www.geeksforgeeks.org/pipe-system-call/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9"/>
          <p:cNvSpPr txBox="1"/>
          <p:nvPr>
            <p:ph idx="1" type="body"/>
          </p:nvPr>
        </p:nvSpPr>
        <p:spPr>
          <a:xfrm>
            <a:off x="311700" y="175575"/>
            <a:ext cx="8508600" cy="4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(filedes);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child =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(child &gt;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I must be the parent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bytesread =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buffer,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(buffer));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something with the bytes read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"done"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infinite</a:t>
            </a:r>
            <a:r>
              <a:rPr lang="en"/>
              <a:t> loop!</a:t>
            </a:r>
            <a:endParaRPr/>
          </a:p>
        </p:txBody>
      </p:sp>
      <p:sp>
        <p:nvSpPr>
          <p:cNvPr id="370" name="Google Shape;370;p60"/>
          <p:cNvSpPr txBox="1"/>
          <p:nvPr>
            <p:ph idx="1" type="body"/>
          </p:nvPr>
        </p:nvSpPr>
        <p:spPr>
          <a:xfrm>
            <a:off x="311700" y="1152475"/>
            <a:ext cx="62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(fd);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"Reading from %d, writing to %d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/*the parent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"Hi Child!"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wait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buf;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bytesread;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read one byte at a time.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((bytesread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&amp;buf,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&gt;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putchar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(buf);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371" name="Google Shape;371;p60"/>
          <p:cNvSpPr txBox="1"/>
          <p:nvPr>
            <p:ph idx="2" type="body"/>
          </p:nvPr>
        </p:nvSpPr>
        <p:spPr>
          <a:xfrm>
            <a:off x="4832400" y="399617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When there are no characters, child blocks and waits more character because the pipe is not closed.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solution</a:t>
            </a:r>
            <a:endParaRPr/>
          </a:p>
        </p:txBody>
      </p:sp>
      <p:sp>
        <p:nvSpPr>
          <p:cNvPr id="377" name="Google Shape;377;p61"/>
          <p:cNvSpPr txBox="1"/>
          <p:nvPr>
            <p:ph idx="1" type="body"/>
          </p:nvPr>
        </p:nvSpPr>
        <p:spPr>
          <a:xfrm>
            <a:off x="311700" y="1152475"/>
            <a:ext cx="7052400" cy="22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((bytesread =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&amp;buf,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&gt;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putchar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(buf);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a solution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(buf == 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'!'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End of message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close all writers</a:t>
            </a:r>
            <a:endParaRPr/>
          </a:p>
        </p:txBody>
      </p:sp>
      <p:sp>
        <p:nvSpPr>
          <p:cNvPr id="383" name="Google Shape;383;p62"/>
          <p:cNvSpPr txBox="1"/>
          <p:nvPr>
            <p:ph idx="1" type="body"/>
          </p:nvPr>
        </p:nvSpPr>
        <p:spPr>
          <a:xfrm>
            <a:off x="311700" y="1152475"/>
            <a:ext cx="717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(p &gt;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"Hi Child!"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buf;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bytesread;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close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((bytesread = </a:t>
            </a:r>
            <a:r>
              <a:rPr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&amp;buf,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 &gt;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putchar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(buf);  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6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548" y="563750"/>
            <a:ext cx="3637150" cy="27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there is no readers!</a:t>
            </a:r>
            <a:endParaRPr/>
          </a:p>
        </p:txBody>
      </p:sp>
      <p:sp>
        <p:nvSpPr>
          <p:cNvPr id="391" name="Google Shape;391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all file descriptors referring to the read end of a pipe have been closed,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a write(2) will cause a </a:t>
            </a:r>
            <a:r>
              <a:rPr b="1" lang="en"/>
              <a:t>SIGPIPE</a:t>
            </a:r>
            <a:r>
              <a:rPr lang="en"/>
              <a:t> signal to be generated for the calling process.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63" y="1152475"/>
            <a:ext cx="420052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idx="1" type="body"/>
          </p:nvPr>
        </p:nvSpPr>
        <p:spPr>
          <a:xfrm>
            <a:off x="74125" y="258200"/>
            <a:ext cx="4212000" cy="4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&lt;signal.h&gt;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no_one_listening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signal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 one is listening!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399" name="Google Shape;399;p64"/>
          <p:cNvSpPr txBox="1"/>
          <p:nvPr>
            <p:ph idx="2" type="body"/>
          </p:nvPr>
        </p:nvSpPr>
        <p:spPr>
          <a:xfrm>
            <a:off x="4059025" y="82625"/>
            <a:ext cx="4916100" cy="44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signal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(SIGPIPE, no_one_listening);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(filedes);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pid_t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child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(child &gt;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 the parent.*/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Close the listening end of the pipe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Child writes messages to the pipe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filedes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"One"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"Done</a:t>
            </a:r>
            <a:r>
              <a:rPr b="1" lang="en" sz="12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 file descriptor</a:t>
            </a:r>
            <a:endParaRPr/>
          </a:p>
        </p:txBody>
      </p:sp>
      <p:sp>
        <p:nvSpPr>
          <p:cNvPr id="405" name="Google Shape;405;p65"/>
          <p:cNvSpPr txBox="1"/>
          <p:nvPr>
            <p:ph idx="1" type="body"/>
          </p:nvPr>
        </p:nvSpPr>
        <p:spPr>
          <a:xfrm>
            <a:off x="311700" y="1152475"/>
            <a:ext cx="452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dup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);   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dup2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oldfd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dup() system call creates a copy of the file descriptor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pipefd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flags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2000"/>
              </a:buClr>
              <a:buSzPts val="1200"/>
              <a:buFont typeface="Courier New"/>
              <a:buChar char="●"/>
            </a:pP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lags</a:t>
            </a:r>
            <a:endParaRPr b="1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2000"/>
              </a:buClr>
              <a:buSzPts val="1200"/>
              <a:buFont typeface="Courier New"/>
              <a:buChar char="○"/>
            </a:pPr>
            <a:r>
              <a:rPr b="1" lang="en" sz="1200">
                <a:solidFill>
                  <a:srgbClr val="502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O_CLOEXEC</a:t>
            </a:r>
            <a:r>
              <a:rPr lang="en" sz="1200">
                <a:solidFill>
                  <a:srgbClr val="18181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18181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Sets the close-on-exec flag on the two new file descriptors.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181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Courier New"/>
              <a:buChar char="●"/>
            </a:pPr>
            <a:r>
              <a:t/>
            </a:r>
            <a:endParaRPr>
              <a:solidFill>
                <a:srgbClr val="18181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406" name="Google Shape;406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$ ls -1 | cut -f1 -d.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command takes the output of ls -1 which lists the content of the current directory on one line each and pipes it to cut.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Cut take a delimiter, in this case, a dot, and a field position, in our case 1, and outputs per line the nth field by each delimiter.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At a high level, this grabs the file names without the extension of our current directory.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6"/>
          <p:cNvSpPr txBox="1"/>
          <p:nvPr>
            <p:ph idx="1" type="body"/>
          </p:nvPr>
        </p:nvSpPr>
        <p:spPr>
          <a:xfrm>
            <a:off x="227225" y="216900"/>
            <a:ext cx="4084500" cy="4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_GNU_SOURCE</a:t>
            </a:r>
            <a:endParaRPr b="1" sz="12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&lt;fcntl.h&gt;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1" sz="12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pipe_fds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100">
                <a:solidFill>
                  <a:srgbClr val="7453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pipe_fds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100">
                <a:solidFill>
                  <a:srgbClr val="7453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fcntl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pipe_fds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 sz="1100">
                <a:solidFill>
                  <a:srgbClr val="8A1B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F_SETFL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00">
                <a:solidFill>
                  <a:srgbClr val="8A1B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O_NONBLOCK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Call with the O_CLOEXEC flag to prevent any commands from blocking in Linux, pipe2(pipe_fds, O_CLOEXEC);*/</a:t>
            </a:r>
            <a:endParaRPr b="1" sz="1200">
              <a:solidFill>
                <a:srgbClr val="795E26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/*Remember for pipe_fds,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the program read then write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(reading is 0 and writing is 1)*/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1" sz="1200"/>
          </a:p>
        </p:txBody>
      </p:sp>
      <p:sp>
        <p:nvSpPr>
          <p:cNvPr id="412" name="Google Shape;412;p66"/>
          <p:cNvSpPr txBox="1"/>
          <p:nvPr>
            <p:ph idx="2" type="body"/>
          </p:nvPr>
        </p:nvSpPr>
        <p:spPr>
          <a:xfrm>
            <a:off x="3997050" y="216775"/>
            <a:ext cx="4998900" cy="43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fork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Child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Make the stdout of the process, 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the write end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dup2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pipe_fds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Exec! Don’t forget the cast*/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execlp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"ls"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"ls"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"-1"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/*parent: the stdin of the process is 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the read end */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dup2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pipe_fds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execlp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"cut"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"cut"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"-f1"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"-d."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pipes with standard file functions(scanf, printf)</a:t>
            </a:r>
            <a:endParaRPr/>
          </a:p>
        </p:txBody>
      </p:sp>
      <p:sp>
        <p:nvSpPr>
          <p:cNvPr id="418" name="Google Shape;418;p67"/>
          <p:cNvSpPr txBox="1"/>
          <p:nvPr>
            <p:ph idx="1" type="body"/>
          </p:nvPr>
        </p:nvSpPr>
        <p:spPr>
          <a:xfrm>
            <a:off x="311700" y="1152475"/>
            <a:ext cx="4308600" cy="3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&lt;unistd.h&gt;</a:t>
            </a:r>
            <a:endParaRPr b="1"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&lt;stdlib.h&gt;</a:t>
            </a:r>
            <a:endParaRPr b="1"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 b="1"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int main() {</a:t>
            </a:r>
            <a:endParaRPr b="1" sz="9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int fh[2];</a:t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pipe(fh);</a:t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FILE *reader = fdopen(fh[0], "r");</a:t>
            </a:r>
            <a:endParaRPr b="1" sz="12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FILE *writer = fdopen(fh[1], "w");</a:t>
            </a:r>
            <a:endParaRPr b="1" sz="12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b="1"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67"/>
          <p:cNvSpPr txBox="1"/>
          <p:nvPr/>
        </p:nvSpPr>
        <p:spPr>
          <a:xfrm>
            <a:off x="3879025" y="2397125"/>
            <a:ext cx="5145000" cy="26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pid_t p = fork();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if (p &gt; 0) {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int score;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1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fscanf(reader, "Score %d", &amp;score);</a:t>
            </a:r>
            <a:endParaRPr b="1" sz="11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printf("The child says the score is %d\n", score);</a:t>
            </a:r>
            <a:endParaRPr b="1" sz="11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} else {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fprintf(writer, "Score %d", 10 + 10);</a:t>
            </a:r>
            <a:endParaRPr b="1" sz="11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fflush(writer);</a:t>
            </a:r>
            <a:endParaRPr b="1" sz="1100">
              <a:solidFill>
                <a:srgbClr val="A31515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return 0;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pipes</a:t>
            </a:r>
            <a:endParaRPr/>
          </a:p>
        </p:txBody>
      </p:sp>
      <p:sp>
        <p:nvSpPr>
          <p:cNvPr id="425" name="Google Shape;42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man mkfifo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44444"/>
                </a:solidFill>
                <a:highlight>
                  <a:srgbClr val="FFFFFF"/>
                </a:highlight>
              </a:rPr>
              <a:t>#include &lt;</a:t>
            </a:r>
            <a:r>
              <a:rPr b="1" lang="en" sz="1200" u="sng">
                <a:solidFill>
                  <a:srgbClr val="660000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sys/types.h</a:t>
            </a:r>
            <a:r>
              <a:rPr b="1" lang="en" sz="1200">
                <a:solidFill>
                  <a:srgbClr val="444444"/>
                </a:solidFill>
                <a:highlight>
                  <a:srgbClr val="FFFFFF"/>
                </a:highlight>
              </a:rPr>
              <a:t>&gt;</a:t>
            </a:r>
            <a:endParaRPr b="1" sz="12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44444"/>
                </a:solidFill>
                <a:highlight>
                  <a:srgbClr val="FFFFFF"/>
                </a:highlight>
              </a:rPr>
              <a:t>#include &lt;</a:t>
            </a:r>
            <a:r>
              <a:rPr b="1" lang="en" sz="1200" u="sng">
                <a:solidFill>
                  <a:srgbClr val="660000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sys/stat.h</a:t>
            </a:r>
            <a:r>
              <a:rPr b="1" lang="en" sz="1200">
                <a:solidFill>
                  <a:srgbClr val="444444"/>
                </a:solidFill>
                <a:highlight>
                  <a:srgbClr val="FFFFFF"/>
                </a:highlight>
              </a:rPr>
              <a:t>&gt;</a:t>
            </a:r>
            <a:endParaRPr b="1" sz="12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marR="279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444444"/>
                </a:solidFill>
                <a:highlight>
                  <a:srgbClr val="FFFFFF"/>
                </a:highlight>
              </a:rPr>
              <a:t>int mkfifo(const char *pathname, mode_t mode);</a:t>
            </a:r>
            <a:endParaRPr b="1" sz="1200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