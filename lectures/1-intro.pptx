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embeddedFontLst>
    <p:embeddedFont>
      <p:font typeface="Roboto Mon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regular.fntdata"/><Relationship Id="rId50" Type="http://schemas.openxmlformats.org/officeDocument/2006/relationships/slide" Target="slides/slide45.xml"/><Relationship Id="rId53" Type="http://schemas.openxmlformats.org/officeDocument/2006/relationships/font" Target="fonts/RobotoMono-italic.fntdata"/><Relationship Id="rId52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6e985c82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6e985c82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11714f25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11714f25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6e985c82c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6e985c82c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6e985c82c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6e985c82c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12791cd656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12791cd656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11714f254f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11714f254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6e985c82c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6e985c82c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6e985c82c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6e985c82c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1244b8094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1244b8094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1244b8094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1244b8094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1244b8094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1244b8094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6e985c82c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6e985c82c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6e985c82c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6e985c82c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1714f254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11714f254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11714f254f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11714f254f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e985c82c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6e985c82c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bb81a1742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bb81a1742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bb81a17420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bb81a17420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bb81a17420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bb81a17420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bb81a17420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bb81a17420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bb81a17420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bb81a17420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bb81a17420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bb81a17420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bb81a17420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bb81a17420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bb81a17420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bb81a17420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e985c82c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6e985c82c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6e985c82c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6e985c82c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bb81a17420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bb81a17420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1244b8094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1244b8094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6ecf87e1d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6ecf87e1d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6ecf87e1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6ecf87e1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6ecf87e1d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6ecf87e1d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6ecf87e1d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6ecf87e1d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132b5a09d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132b5a09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132b5a09d3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132b5a09d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132b5a09d3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132b5a09d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32b5a09d3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132b5a09d3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32b5a09d3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32b5a09d3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132b5a09d3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132b5a09d3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132b5a09d3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132b5a09d3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bb81a17420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bb81a17420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132b5a09d3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132b5a09d3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132b5a09d3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132b5a09d3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132b5a09d3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132b5a09d3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132b5a09d3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132b5a09d3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with code">
  <p:cSld name="ONE_COLUMN_TEXT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19725" y="1208350"/>
            <a:ext cx="44604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7187232" y="4663225"/>
            <a:ext cx="1833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88125" y="1496425"/>
            <a:ext cx="3720600" cy="3166800"/>
          </a:xfrm>
          <a:prstGeom prst="rect">
            <a:avLst/>
          </a:prstGeom>
          <a:effectLst>
            <a:outerShdw blurRad="57150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cs241.cs.illinois.edu/coursebook/index.html" TargetMode="External"/><Relationship Id="rId4" Type="http://schemas.openxmlformats.org/officeDocument/2006/relationships/hyperlink" Target="https://github.com/angrave/SystemProgramming/wiki" TargetMode="External"/><Relationship Id="rId5" Type="http://schemas.openxmlformats.org/officeDocument/2006/relationships/hyperlink" Target="https://man7.org/index.html" TargetMode="External"/><Relationship Id="rId6" Type="http://schemas.openxmlformats.org/officeDocument/2006/relationships/hyperlink" Target="https://sites.google.com/view/adaskin/teaching/c-programming-lecture-notes" TargetMode="External"/><Relationship Id="rId7" Type="http://schemas.openxmlformats.org/officeDocument/2006/relationships/hyperlink" Target="https://man7.org/index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hyperlink" Target="https://www.guru99.com/system-call-operating-system.html#2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hyperlink" Target="https://www.javatpoint.com/system-calls-in-operating-syste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hyperlink" Target="https://www.guru99.com/system-call-operating-system.html#2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hyperlink" Target="https://en.wikipedia.org/wiki/System_cal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hyperlink" Target="https://en.wikipedia.org/wiki/Linux_kernel_interfaces#Linux_API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hyperlink" Target="https://git-scm.com/book/en/v2/Getting-Started-What-is-Git%3F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hyperlink" Target="https://git-scm.com/book/en/v2/Getting-Started-What-is-Git%3F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-scm.com/book/en/v2/Git-Basics-Getting-a-Git-Repository#ch02-git-basics-chapter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github.com/en/migrations/importing-source-code/using-the-command-line-to-import-source-code/adding-locally-hosted-code-to-github" TargetMode="External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lassroom.github.com/a/%E2%80%A6" TargetMode="External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github.com/en/authentication/connecting-to-github-with-ssh/generating-a-new-ssh-key-and-adding-it-to-the-ssh-agent" TargetMode="External"/><Relationship Id="rId4" Type="http://schemas.openxmlformats.org/officeDocument/2006/relationships/hyperlink" Target="https://docs.github.com/en/authentication/managing-commit-signature-verification/adding-a-gpg-key-to-your-github-account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sites.google.com/view/adaskin/teaching/c-programming-lecture-notes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hyperlink" Target="https://en.wikipedia.org/wiki/GNU_Compiler_Collection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cc.gnu.org/onlinedocs/gcc/Option-Summary.html#Option-Summary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hyperlink" Target="https://makefiletutorial.com/" TargetMode="External"/><Relationship Id="rId5" Type="http://schemas.openxmlformats.org/officeDocument/2006/relationships/hyperlink" Target="https://www.gnu.org/software/make/manual/make.html#Introduction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makefiletutorial.com/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BIL 222 System Programming-Spring 2024</a:t>
            </a:r>
            <a:endParaRPr sz="3200"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272000" y="2797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Ammar Daşkın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Hours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Fridays at 2:30pm at B517, slides and class examples are posted on classroom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Thursdays</a:t>
            </a:r>
            <a:r>
              <a:rPr lang="en"/>
              <a:t> at 3:30pm at B517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hw/quiz will be given on github.com or in class with different tools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Prerequisites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passing grade from BIL 121 C programming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little data structures, algorithms, and computer architecture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636725"/>
            <a:ext cx="8520600" cy="42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Textbooks and Course Material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Lectures follow the book  on the link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 </a:t>
            </a:r>
            <a:r>
              <a:rPr lang="en" sz="1200" u="sng">
                <a:solidFill>
                  <a:srgbClr val="0C4466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https://github.com/angrave/SystemProgramming/wiki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 </a:t>
            </a:r>
            <a:r>
              <a:rPr lang="en" sz="1200" u="sng">
                <a:solidFill>
                  <a:srgbClr val="0C4466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https://man7.org/index.html</a:t>
            </a:r>
            <a:r>
              <a:rPr lang="en" sz="1200">
                <a:solidFill>
                  <a:srgbClr val="1C1C1C"/>
                </a:solidFill>
              </a:rPr>
              <a:t>  by Michael Kerrisk.</a:t>
            </a:r>
            <a:r>
              <a:rPr lang="en" sz="1400"/>
              <a:t>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For C programming, 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you can refer to the book "The C Programming Language", Brian W Kernighan, Dennis M Ritchie, 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BIL121 lecture notes: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https://sites.google.com/view/adaskin/teaching/c-programming-lecture-notes</a:t>
            </a:r>
            <a:r>
              <a:rPr lang="en"/>
              <a:t>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Other Books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More complete guide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The Linux Programming Interface: A Linux and UNIX System Programming Handbook, by Michael Kerrisk, </a:t>
            </a:r>
            <a:r>
              <a:rPr lang="en" sz="1200" u="sng">
                <a:solidFill>
                  <a:srgbClr val="0C4466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https://man7.org/index.html</a:t>
            </a:r>
            <a:r>
              <a:rPr lang="en" sz="1200">
                <a:solidFill>
                  <a:srgbClr val="1C1C1C"/>
                </a:solidFill>
              </a:rPr>
              <a:t>  by Michael Kerrisk.</a:t>
            </a:r>
            <a:r>
              <a:rPr lang="en" sz="1400"/>
              <a:t>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Just for the topics in this course 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Linux System Programming: Talking Directly To The Kernel And C Library Second Edition by Robert Love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Advanced Programming in the UNIX Environment 3rd Edition, by W. Richard Stevens 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Grading policy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10% Weekly Labs/Quizzes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quiz covers the topics in the previous lecture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lowest grade is not considered in the final grade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through </a:t>
            </a:r>
            <a:r>
              <a:rPr b="1" lang="en"/>
              <a:t>google classroom or github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30% 3-4 programming assignments (including group projects)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20% midterm exam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40%  final exam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study this course?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lecture shows theory and simple implementations of the topic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➔"/>
            </a:pPr>
            <a:r>
              <a:rPr lang="en"/>
              <a:t>You may need to take notes, some concepts or details may not be in the slides.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Labs, you practice and review the topics discussed in the lectures, 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➔"/>
            </a:pPr>
            <a:r>
              <a:rPr lang="en"/>
              <a:t>some topics that are skipped in the lectures may be included in the lab write-ups.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hw and projects, you complete the implementations discussed in the lectures or implement some algorithms/concepts discussed in the lectures.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➔"/>
            </a:pPr>
            <a:r>
              <a:rPr lang="en"/>
              <a:t>Function prototypes and algorithms are given or described.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"/>
              <a:t>Submitted through github and classroom.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this course about?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system programming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practice of writing system software by </a:t>
            </a:r>
            <a:r>
              <a:rPr b="1" lang="en"/>
              <a:t>using core system libraries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System softwares interfaces with the OS-kernel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Text editor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Debugger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daemons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Database server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system programming?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majority of operating systems are written at the system level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Knowledge of system programming provides you to understand how to write low level interface programs and  write better high level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programming in Linux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calls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 invocations made from user space into the kernel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Kernel provides a mechanism for user space applications to </a:t>
            </a:r>
            <a:r>
              <a:rPr b="1" lang="en"/>
              <a:t>signal</a:t>
            </a:r>
            <a:r>
              <a:rPr lang="en"/>
              <a:t> the kernel  to invoke a </a:t>
            </a:r>
            <a:r>
              <a:rPr b="1" lang="en"/>
              <a:t>system call</a:t>
            </a:r>
            <a:endParaRPr/>
          </a:p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 library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Standard C compiler is provided by GNU compiler collection (gcc), GNU version of cc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OS Structure</a:t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 rotWithShape="1">
          <a:blip r:embed="rId3">
            <a:alphaModFix/>
          </a:blip>
          <a:srcRect b="10273" l="6916" r="0" t="0"/>
          <a:stretch/>
        </p:blipFill>
        <p:spPr>
          <a:xfrm>
            <a:off x="4463950" y="9525"/>
            <a:ext cx="2906000" cy="482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3"/>
          <p:cNvSpPr txBox="1"/>
          <p:nvPr/>
        </p:nvSpPr>
        <p:spPr>
          <a:xfrm>
            <a:off x="3757000" y="4703625"/>
            <a:ext cx="518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https://www.guru99.com/system-call-operating-system.html#2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168325"/>
            <a:ext cx="87141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What type of system calls we can use in our system programs</a:t>
            </a:r>
            <a:endParaRPr sz="2420"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900" y="1152463"/>
            <a:ext cx="57150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2245450" y="4628275"/>
            <a:ext cx="604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https://www.javatpoint.com/system-calls-in-operating-system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services the system calls!</a:t>
            </a:r>
            <a:endParaRPr/>
          </a:p>
        </p:txBody>
      </p:sp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11929" l="1866" r="6170" t="4527"/>
          <a:stretch/>
        </p:blipFill>
        <p:spPr>
          <a:xfrm>
            <a:off x="675450" y="1152475"/>
            <a:ext cx="7445375" cy="32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1403400" y="4743300"/>
            <a:ext cx="545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https://www.guru99.com/system-call-operating-system.html#2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portability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API (</a:t>
            </a:r>
            <a:r>
              <a:rPr lang="en" sz="1700"/>
              <a:t>application programming interface</a:t>
            </a:r>
            <a:r>
              <a:rPr lang="en" sz="1700"/>
              <a:t>)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Defines interfaces by which one software can be invoked from another software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Generally between a low level software and a high level software (API-user)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Example: Interfaces defined by C library for memory management and string manipulations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ABI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Binary interfaces between two software pieces on particular architecture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Guarantees that a piece of software function on any system with the same ABI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Compliance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aims to comply with two of the POSIX and the Single UNIX Specification (SUS) standards.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POSIX (Portable Operating System Interface)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Suggested by Richard Stallman, founder of free software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Issued by IEEE in 1988 and revised on later years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system calls and interfaces are standardized by POSIX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 Language standards: gcc compiler is ISO C99-compliant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725" y="264150"/>
            <a:ext cx="5897549" cy="442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8"/>
          <p:cNvSpPr txBox="1"/>
          <p:nvPr/>
        </p:nvSpPr>
        <p:spPr>
          <a:xfrm>
            <a:off x="546350" y="5143500"/>
            <a:ext cx="759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https://upload.wikimedia.org/wikipedia/commons/thumb/6/68/Linux_kernel_interfaces.svg/600px-Linux_kernel_interfaces.svg.png</a:t>
            </a:r>
            <a:endParaRPr/>
          </a:p>
        </p:txBody>
      </p:sp>
      <p:sp>
        <p:nvSpPr>
          <p:cNvPr id="149" name="Google Shape;149;p28"/>
          <p:cNvSpPr txBox="1"/>
          <p:nvPr/>
        </p:nvSpPr>
        <p:spPr>
          <a:xfrm>
            <a:off x="1850200" y="4807775"/>
            <a:ext cx="72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https://en.wikipedia.org/wiki/System_call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075" y="279225"/>
            <a:ext cx="5508627" cy="41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9"/>
          <p:cNvSpPr txBox="1"/>
          <p:nvPr/>
        </p:nvSpPr>
        <p:spPr>
          <a:xfrm>
            <a:off x="-49125" y="4549125"/>
            <a:ext cx="559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https://en.wikipedia.org/wiki/Linux_kernel_interfaces#Linux_API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Content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Course administrivia,  git, gcc, gdb, crash course on C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Review of  pointers, C memory model, makefiles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Processes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Memory allocators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Threads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Synchronization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Midterm review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Deadlock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Virtual memory &amp; IPC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Scheduling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Networking-Socket programming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Filesystems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Signals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Final-Review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 intro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152475"/>
            <a:ext cx="210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semester we will use github.com for assignments…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Github uses </a:t>
            </a:r>
            <a:r>
              <a:rPr b="1" lang="en"/>
              <a:t>git </a:t>
            </a:r>
            <a:r>
              <a:rPr lang="en"/>
              <a:t>version control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1"/>
          <p:cNvSpPr txBox="1"/>
          <p:nvPr>
            <p:ph idx="2" type="body"/>
          </p:nvPr>
        </p:nvSpPr>
        <p:spPr>
          <a:xfrm>
            <a:off x="3874275" y="1152475"/>
            <a:ext cx="495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what is git?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version control system such as CVS, subversion, Perforce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stores an entire directory-called </a:t>
            </a:r>
            <a:r>
              <a:rPr b="1" lang="en"/>
              <a:t>repository</a:t>
            </a:r>
            <a:endParaRPr b="1"/>
          </a:p>
        </p:txBody>
      </p:sp>
      <p:pic>
        <p:nvPicPr>
          <p:cNvPr id="169" name="Google Shape;1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5750" y="2446347"/>
            <a:ext cx="5866626" cy="22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1"/>
          <p:cNvSpPr txBox="1"/>
          <p:nvPr/>
        </p:nvSpPr>
        <p:spPr>
          <a:xfrm>
            <a:off x="0" y="4743300"/>
            <a:ext cx="617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https://git-scm.com/book/en/v2/Getting-Started-What-is-Git%3F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states (modified, staged, and committed)</a:t>
            </a:r>
            <a:endParaRPr/>
          </a:p>
        </p:txBody>
      </p:sp>
      <p:sp>
        <p:nvSpPr>
          <p:cNvPr id="176" name="Google Shape;176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525" y="1017724"/>
            <a:ext cx="7293774" cy="402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2"/>
          <p:cNvSpPr txBox="1"/>
          <p:nvPr/>
        </p:nvSpPr>
        <p:spPr>
          <a:xfrm>
            <a:off x="0" y="4743300"/>
            <a:ext cx="617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https://git-scm.com/book/en/v2/Getting-Started-What-is-Git%3F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Initializing a repository in an existing directory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for Linux: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cd /home/user/my_project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for macOS: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cd /Users/user/my_project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for Windows: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cd C:/Users/user/my_project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and type: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$ git init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creates a new subdirectory named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.git</a:t>
            </a:r>
            <a:r>
              <a:rPr lang="en" sz="1100">
                <a:solidFill>
                  <a:schemeClr val="dk1"/>
                </a:solidFill>
              </a:rPr>
              <a:t> that contains all of your necessary repository files 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Begin tracking existing files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git add *.c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git add LICENSE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do an initial commit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git commit -m 'Initial project version'</a:t>
            </a:r>
            <a:endParaRPr/>
          </a:p>
        </p:txBody>
      </p:sp>
      <p:sp>
        <p:nvSpPr>
          <p:cNvPr id="186" name="Google Shape;186;p33"/>
          <p:cNvSpPr txBox="1"/>
          <p:nvPr/>
        </p:nvSpPr>
        <p:spPr>
          <a:xfrm>
            <a:off x="0" y="4703625"/>
            <a:ext cx="766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https://git-scm.com/book/en/v2/Git-Basics-Getting-a-Git-Repository#ch02-git-basics-chapter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add this to github</a:t>
            </a:r>
            <a:endParaRPr/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$git init -b main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git add 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git commit -m "First commit"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4"/>
          <p:cNvSpPr txBox="1"/>
          <p:nvPr>
            <p:ph idx="2" type="body"/>
          </p:nvPr>
        </p:nvSpPr>
        <p:spPr>
          <a:xfrm>
            <a:off x="4723100" y="2872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new repo on github.com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git remote add origin REMOTE-URL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check if url is correct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git remote -v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Push changes to github.com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git push origin main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have submitted your assignment</a:t>
            </a:r>
            <a:endParaRPr/>
          </a:p>
        </p:txBody>
      </p:sp>
      <p:sp>
        <p:nvSpPr>
          <p:cNvPr id="194" name="Google Shape;194;p34"/>
          <p:cNvSpPr txBox="1"/>
          <p:nvPr/>
        </p:nvSpPr>
        <p:spPr>
          <a:xfrm>
            <a:off x="831025" y="4469025"/>
            <a:ext cx="7696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for windows, macos, and linux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https://docs.github.com/en/migrations/importing-source-code/using-the-command-line-to-import-source-code/adding-locally-hosted-code-to-github</a:t>
            </a:r>
            <a:r>
              <a:rPr lang="en"/>
              <a:t> </a:t>
            </a:r>
            <a:endParaRPr/>
          </a:p>
        </p:txBody>
      </p:sp>
      <p:pic>
        <p:nvPicPr>
          <p:cNvPr id="195" name="Google Shape;19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7043" y="633425"/>
            <a:ext cx="4572007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assignments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2732650" y="1017725"/>
            <a:ext cx="4753200" cy="9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given assignment link on your browser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https://classroom.github.com/a/?????…</a:t>
            </a:r>
            <a:r>
              <a:rPr lang="en"/>
              <a:t>.</a:t>
            </a:r>
            <a:endParaRPr/>
          </a:p>
        </p:txBody>
      </p:sp>
      <p:pic>
        <p:nvPicPr>
          <p:cNvPr id="202" name="Google Shape;20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2375" y="1830550"/>
            <a:ext cx="5291975" cy="2825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5"/>
          <p:cNvSpPr/>
          <p:nvPr/>
        </p:nvSpPr>
        <p:spPr>
          <a:xfrm>
            <a:off x="0" y="2120950"/>
            <a:ext cx="2151900" cy="1558800"/>
          </a:xfrm>
          <a:prstGeom prst="wedgeRectCallout">
            <a:avLst>
              <a:gd fmla="val 92416" name="adj1"/>
              <a:gd fmla="val 8697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Choose your name in </a:t>
            </a:r>
            <a:r>
              <a:rPr b="1" lang="en">
                <a:solidFill>
                  <a:schemeClr val="dk2"/>
                </a:solidFill>
              </a:rPr>
              <a:t>identifiers</a:t>
            </a:r>
            <a:r>
              <a:rPr lang="en">
                <a:solidFill>
                  <a:schemeClr val="dk2"/>
                </a:solidFill>
              </a:rPr>
              <a:t> to link your github account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1152475"/>
            <a:ext cx="3610200" cy="10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you accepted an assignment,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click the assignment to open on browser</a:t>
            </a:r>
            <a:endParaRPr/>
          </a:p>
        </p:txBody>
      </p:sp>
      <p:pic>
        <p:nvPicPr>
          <p:cNvPr id="210" name="Google Shape;21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247" y="1714500"/>
            <a:ext cx="5442800" cy="307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36"/>
          <p:cNvCxnSpPr>
            <a:stCxn id="209" idx="2"/>
          </p:cNvCxnSpPr>
          <p:nvPr/>
        </p:nvCxnSpPr>
        <p:spPr>
          <a:xfrm>
            <a:off x="2116800" y="2176675"/>
            <a:ext cx="2344800" cy="175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37"/>
          <p:cNvGrpSpPr/>
          <p:nvPr/>
        </p:nvGrpSpPr>
        <p:grpSpPr>
          <a:xfrm>
            <a:off x="4740045" y="1760525"/>
            <a:ext cx="4299724" cy="2430525"/>
            <a:chOff x="3978045" y="388925"/>
            <a:chExt cx="4299724" cy="2430525"/>
          </a:xfrm>
        </p:grpSpPr>
        <p:pic>
          <p:nvPicPr>
            <p:cNvPr id="218" name="Google Shape;21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78045" y="388925"/>
              <a:ext cx="4299724" cy="2430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37"/>
            <p:cNvSpPr/>
            <p:nvPr/>
          </p:nvSpPr>
          <p:spPr>
            <a:xfrm>
              <a:off x="5828534" y="1576660"/>
              <a:ext cx="378650" cy="524350"/>
            </a:xfrm>
            <a:custGeom>
              <a:rect b="b" l="l" r="r" t="t"/>
              <a:pathLst>
                <a:path extrusionOk="0" h="20974" w="15146">
                  <a:moveTo>
                    <a:pt x="10730" y="182"/>
                  </a:moveTo>
                  <a:cubicBezTo>
                    <a:pt x="7699" y="182"/>
                    <a:pt x="3343" y="-544"/>
                    <a:pt x="1840" y="2087"/>
                  </a:cubicBezTo>
                  <a:cubicBezTo>
                    <a:pt x="-1332" y="7639"/>
                    <a:pt x="-363" y="19914"/>
                    <a:pt x="5967" y="20820"/>
                  </a:cubicBezTo>
                  <a:cubicBezTo>
                    <a:pt x="8127" y="21129"/>
                    <a:pt x="10641" y="20629"/>
                    <a:pt x="12317" y="19232"/>
                  </a:cubicBezTo>
                  <a:cubicBezTo>
                    <a:pt x="16987" y="15342"/>
                    <a:pt x="15531" y="-1583"/>
                    <a:pt x="10095" y="1135"/>
                  </a:cubicBezTo>
                </a:path>
              </a:pathLst>
            </a:custGeom>
            <a:noFill/>
            <a:ln cap="flat" cmpd="sng" w="2857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20" name="Google Shape;220;p37"/>
          <p:cNvSpPr txBox="1"/>
          <p:nvPr>
            <p:ph idx="4294967295" type="body"/>
          </p:nvPr>
        </p:nvSpPr>
        <p:spPr>
          <a:xfrm>
            <a:off x="262700" y="1120825"/>
            <a:ext cx="8191500" cy="3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git clone https://github.com/YOUR-USERNAME/YOUR-REPOSITORY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cd YOUR-REPOSITORY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Make some changes or add 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$ echo "int main(){}" &gt; newfile.c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git add newfile.c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git commit -m "new file added!"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git push origin main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have pushed the changes to remote repo on github.comand submitted your assignment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secure connection</a:t>
            </a:r>
            <a:endParaRPr/>
          </a:p>
        </p:txBody>
      </p:sp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ssh-key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https://docs.github.com/en/authentication/connecting-to-github-with-ssh/generating-a-new-ssh-key-and-adding-it-to-the-ssh-agent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use gpg-key for signing commits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https://docs.github.com/en/authentication/managing-commit-signature-verification/adding-a-gpg-key-to-your-github-account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40"/>
              <a:t>Crash course on C </a:t>
            </a:r>
            <a:endParaRPr sz="3240"/>
          </a:p>
        </p:txBody>
      </p:sp>
      <p:sp>
        <p:nvSpPr>
          <p:cNvPr id="232" name="Google Shape;232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40">
                <a:solidFill>
                  <a:schemeClr val="dk1"/>
                </a:solidFill>
              </a:rPr>
              <a:t>see .c files posted on classroom</a:t>
            </a:r>
            <a:endParaRPr/>
          </a:p>
        </p:txBody>
      </p:sp>
      <p:sp>
        <p:nvSpPr>
          <p:cNvPr id="233" name="Google Shape;233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647700" rtl="0" algn="l">
              <a:spcBef>
                <a:spcPts val="1500"/>
              </a:spcBef>
              <a:spcAft>
                <a:spcPts val="0"/>
              </a:spcAft>
              <a:buClr>
                <a:srgbClr val="1C1C1C"/>
              </a:buClr>
              <a:buSzPts val="1800"/>
              <a:buChar char="■"/>
            </a:pPr>
            <a:r>
              <a:rPr b="1" lang="en">
                <a:solidFill>
                  <a:srgbClr val="1C1C1C"/>
                </a:solidFill>
              </a:rPr>
              <a:t>For C programming, </a:t>
            </a:r>
            <a:r>
              <a:rPr lang="en">
                <a:solidFill>
                  <a:srgbClr val="1C1C1C"/>
                </a:solidFill>
              </a:rPr>
              <a:t>you can refer to "The C Programming Language", Brian W Kernighan, Dennis M Ritchie. </a:t>
            </a:r>
            <a:endParaRPr>
              <a:solidFill>
                <a:srgbClr val="1C1C1C"/>
              </a:solidFill>
            </a:endParaRPr>
          </a:p>
          <a:p>
            <a:pPr indent="-342900" lvl="0" marL="64770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Char char="■"/>
            </a:pPr>
            <a:r>
              <a:rPr lang="en">
                <a:solidFill>
                  <a:srgbClr val="1C1C1C"/>
                </a:solidFill>
              </a:rPr>
              <a:t>C-Lecture notes from BIL121:</a:t>
            </a:r>
            <a:endParaRPr sz="324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4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https://sites.google.com/view/adaskin/teaching/c-programming-lecture-notes</a:t>
            </a:r>
            <a:endParaRPr sz="204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files</a:t>
            </a:r>
            <a:endParaRPr/>
          </a:p>
        </p:txBody>
      </p:sp>
      <p:sp>
        <p:nvSpPr>
          <p:cNvPr id="239" name="Google Shape;23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A program file contains all the necessary information to load an application into memory and make it run.It includes:</a:t>
            </a:r>
            <a:endParaRPr sz="1900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machine instructions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initialized data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List of library dependencies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List of memory sections that the program will use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List of undefined values in the executable that will be known until the program is loaded into memory.</a:t>
            </a:r>
            <a:endParaRPr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Compiling a c program</a:t>
            </a:r>
            <a:endParaRPr/>
          </a:p>
        </p:txBody>
      </p:sp>
      <p:sp>
        <p:nvSpPr>
          <p:cNvPr id="245" name="Google Shape;245;p41"/>
          <p:cNvSpPr txBox="1"/>
          <p:nvPr>
            <p:ph idx="1" type="body"/>
          </p:nvPr>
        </p:nvSpPr>
        <p:spPr>
          <a:xfrm>
            <a:off x="3588525" y="152450"/>
            <a:ext cx="5492700" cy="49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Preprocessing: </a:t>
            </a:r>
            <a:endParaRPr b="1" sz="1300"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The preprocessor expands all preprocessor directives.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Parsing: </a:t>
            </a:r>
            <a:endParaRPr b="1" sz="1300"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The compiler parses the text file for function declarations, variable declarations, etc.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Assembly Generation: </a:t>
            </a:r>
            <a:endParaRPr b="1" sz="1300"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The compiler then generates assembly code for all the functions after some optimizations if enabled.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Assembler (compiling assembly code):</a:t>
            </a:r>
            <a:r>
              <a:rPr lang="en" sz="1300"/>
              <a:t> </a:t>
            </a:r>
            <a:endParaRPr sz="1300"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The assembler turns the assembly into 0s and 1s and creates an object file. This object file maps names to pieces of code.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Static Linking:</a:t>
            </a:r>
            <a:r>
              <a:rPr lang="en" sz="1300"/>
              <a:t> </a:t>
            </a:r>
            <a:endParaRPr sz="1300"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The linker takes a series of objects and static libraries and resolves references of variables and functions from one object file to another. </a:t>
            </a:r>
            <a:endParaRPr sz="1300"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The linker finds the main method and makes that the entry point for the function. </a:t>
            </a:r>
            <a:endParaRPr sz="1300"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The linker also notices when a function is meant to be dynamically linked. </a:t>
            </a:r>
            <a:endParaRPr sz="1300"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The compiler also creates a section in the executable that tells the operating system that these functions need addresses right before running.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Dynamic Linking: </a:t>
            </a:r>
            <a:r>
              <a:rPr lang="en" sz="1300"/>
              <a:t>As the program is getting ready to be executed, the operating system looks at what libraries that the program needs and links those functions to the dynamic library.</a:t>
            </a:r>
            <a:endParaRPr sz="1300"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The program is run.</a:t>
            </a:r>
            <a:endParaRPr sz="1300"/>
          </a:p>
        </p:txBody>
      </p:sp>
      <p:sp>
        <p:nvSpPr>
          <p:cNvPr id="246" name="Google Shape;246;p41"/>
          <p:cNvSpPr txBox="1"/>
          <p:nvPr>
            <p:ph idx="2" type="body"/>
          </p:nvPr>
        </p:nvSpPr>
        <p:spPr>
          <a:xfrm>
            <a:off x="311700" y="1017725"/>
            <a:ext cx="2522700" cy="3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>
                <a:latin typeface="Consolas"/>
                <a:ea typeface="Consolas"/>
                <a:cs typeface="Consolas"/>
                <a:sym typeface="Consolas"/>
              </a:rPr>
              <a:t>$ cat main.c</a:t>
            </a:r>
            <a:endParaRPr b="1"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 b="1"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 b="1"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>
                <a:latin typeface="Consolas"/>
                <a:ea typeface="Consolas"/>
                <a:cs typeface="Consolas"/>
                <a:sym typeface="Consolas"/>
              </a:rPr>
              <a:t>    printf("Hello World!\n");</a:t>
            </a:r>
            <a:endParaRPr b="1"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>
                <a:latin typeface="Consolas"/>
                <a:ea typeface="Consolas"/>
                <a:cs typeface="Consolas"/>
                <a:sym typeface="Consolas"/>
              </a:rPr>
              <a:t>    return 0;</a:t>
            </a:r>
            <a:endParaRPr b="1"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1"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>
                <a:latin typeface="Consolas"/>
                <a:ea typeface="Consolas"/>
                <a:cs typeface="Consolas"/>
                <a:sym typeface="Consolas"/>
              </a:rPr>
              <a:t>$ gcc main.c -o main</a:t>
            </a:r>
            <a:endParaRPr b="1"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>
                <a:latin typeface="Consolas"/>
                <a:ea typeface="Consolas"/>
                <a:cs typeface="Consolas"/>
                <a:sym typeface="Consolas"/>
              </a:rPr>
              <a:t>$ ./main</a:t>
            </a:r>
            <a:endParaRPr b="1"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>
                <a:latin typeface="Consolas"/>
                <a:ea typeface="Consolas"/>
                <a:cs typeface="Consolas"/>
                <a:sym typeface="Consolas"/>
              </a:rPr>
              <a:t>Hello World!</a:t>
            </a:r>
            <a:endParaRPr b="1" sz="108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>
                <a:latin typeface="Consolas"/>
                <a:ea typeface="Consolas"/>
                <a:cs typeface="Consolas"/>
                <a:sym typeface="Consolas"/>
              </a:rPr>
              <a:t>$</a:t>
            </a:r>
            <a:endParaRPr b="1" sz="108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/>
          <p:nvPr>
            <p:ph idx="2" type="body"/>
          </p:nvPr>
        </p:nvSpPr>
        <p:spPr>
          <a:xfrm>
            <a:off x="488125" y="1496425"/>
            <a:ext cx="37206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gcc main.c aux.c -o tut_prog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./main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Hello World!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0475" y="1554200"/>
            <a:ext cx="5492100" cy="213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2"/>
          <p:cNvSpPr txBox="1"/>
          <p:nvPr/>
        </p:nvSpPr>
        <p:spPr>
          <a:xfrm>
            <a:off x="4154100" y="4552200"/>
            <a:ext cx="475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Img src: </a:t>
            </a:r>
            <a:r>
              <a:rPr lang="en" sz="1000" u="sng">
                <a:solidFill>
                  <a:schemeClr val="hlink"/>
                </a:solidFill>
                <a:hlinkClick r:id="rId4"/>
              </a:rPr>
              <a:t>https://en.wikipedia.org/wiki/GNU_Compiler_Collection</a:t>
            </a: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idx="1" type="body"/>
          </p:nvPr>
        </p:nvSpPr>
        <p:spPr>
          <a:xfrm>
            <a:off x="3220400" y="317775"/>
            <a:ext cx="5760000" cy="43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The preprocessor 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expands </a:t>
            </a:r>
            <a:r>
              <a:rPr b="1" lang="en"/>
              <a:t>#define, #include, #ifdef </a:t>
            </a:r>
            <a:r>
              <a:rPr lang="en"/>
              <a:t>etc preprocessor statements and generates a </a:t>
            </a:r>
            <a:r>
              <a:rPr b="1" lang="en"/>
              <a:t>main.i</a:t>
            </a:r>
            <a:r>
              <a:rPr lang="en"/>
              <a:t> file.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 compiler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compiles </a:t>
            </a:r>
            <a:r>
              <a:rPr b="1" lang="en"/>
              <a:t>main.i</a:t>
            </a:r>
            <a:r>
              <a:rPr lang="en"/>
              <a:t>, optimizes it and generates an assembly instruction: </a:t>
            </a:r>
            <a:r>
              <a:rPr b="1" lang="en"/>
              <a:t>main.s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 </a:t>
            </a:r>
            <a:r>
              <a:rPr b="1" lang="en"/>
              <a:t>assembler (as) 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takes input assembly file </a:t>
            </a:r>
            <a:r>
              <a:rPr b="1" lang="en"/>
              <a:t>main.s</a:t>
            </a:r>
            <a:r>
              <a:rPr lang="en"/>
              <a:t> and generates an object file </a:t>
            </a:r>
            <a:r>
              <a:rPr b="1" lang="en"/>
              <a:t>main.o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 compiler (cc or gcc) by default hides all these intermediate steps. You can use compiler options to run each step independently.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3"/>
          <p:cNvSpPr txBox="1"/>
          <p:nvPr>
            <p:ph idx="2" type="body"/>
          </p:nvPr>
        </p:nvSpPr>
        <p:spPr>
          <a:xfrm>
            <a:off x="488125" y="1496425"/>
            <a:ext cx="37206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cat main.c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#include &lt;stdio.h&gt;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 main() {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printf("Hello World!\n");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return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gcc main.c -o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./main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Hello World!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idx="1" type="body"/>
          </p:nvPr>
        </p:nvSpPr>
        <p:spPr>
          <a:xfrm>
            <a:off x="3220400" y="317775"/>
            <a:ext cx="5760000" cy="43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gcc -E main.c &gt; main.i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-E stops compiler after running preprocessor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gcc -S main.c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-S stops compiler after  assembly file generated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Assembler uses “.s” file to generate an object file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gcc -c main.c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Generates object file main.o</a:t>
            </a:r>
            <a:endParaRPr b="1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main.o has undefined symbols like printf we don’t know where it is placed</a:t>
            </a:r>
            <a:endParaRPr b="1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nm main.o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gcc -o main main.c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Generates executable main</a:t>
            </a:r>
            <a:endParaRPr b="1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printf does not have a value yet until the program is loaded</a:t>
            </a:r>
            <a:endParaRPr b="1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nm main.o</a:t>
            </a:r>
            <a:endParaRPr b="1"/>
          </a:p>
        </p:txBody>
      </p:sp>
      <p:sp>
        <p:nvSpPr>
          <p:cNvPr id="265" name="Google Shape;265;p44"/>
          <p:cNvSpPr txBox="1"/>
          <p:nvPr>
            <p:ph idx="2" type="body"/>
          </p:nvPr>
        </p:nvSpPr>
        <p:spPr>
          <a:xfrm>
            <a:off x="488125" y="1496775"/>
            <a:ext cx="35202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cat main.c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#include &lt;stdio.h&gt;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 main() {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printf("Hello World!\n");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return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gcc main.c -o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./main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Hello World!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4"/>
          <p:cNvSpPr txBox="1"/>
          <p:nvPr/>
        </p:nvSpPr>
        <p:spPr>
          <a:xfrm>
            <a:off x="3894475" y="4213300"/>
            <a:ext cx="486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Gcc options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https://gcc.gnu.org/onlinedocs/gcc/Option-Summary.html#Option-Summary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Loading a program</a:t>
            </a:r>
            <a:endParaRPr/>
          </a:p>
        </p:txBody>
      </p:sp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loader is a program that is used to run an executable file in a process.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Before the program starts running, the loader allocates space for all the sections of the executable file (text, data, bss etc)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It loads into memory the executable and shared libraries (if not loaded yet)</a:t>
            </a:r>
            <a:endParaRPr sz="1700"/>
          </a:p>
        </p:txBody>
      </p:sp>
      <p:sp>
        <p:nvSpPr>
          <p:cNvPr id="273" name="Google Shape;273;p45"/>
          <p:cNvSpPr txBox="1"/>
          <p:nvPr>
            <p:ph idx="2" type="body"/>
          </p:nvPr>
        </p:nvSpPr>
        <p:spPr>
          <a:xfrm>
            <a:off x="4945800" y="258800"/>
            <a:ext cx="3886500" cy="43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It also writes (resolves) any values in the executable to point to the functions/variables in the shared libraries.(E.g. calls to printf in main.c)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Once memory image is ready, the loader jumps to the </a:t>
            </a:r>
            <a:r>
              <a:rPr b="1" lang="en" sz="1500"/>
              <a:t>_start </a:t>
            </a:r>
            <a:r>
              <a:rPr lang="en" sz="1500"/>
              <a:t>entry point that calls </a:t>
            </a:r>
            <a:r>
              <a:rPr b="1" lang="en" sz="1500"/>
              <a:t>init() </a:t>
            </a:r>
            <a:r>
              <a:rPr lang="en" sz="1500"/>
              <a:t>of all libraries and initializes static constructors. Then it calls </a:t>
            </a:r>
            <a:r>
              <a:rPr b="1" lang="en" sz="1500"/>
              <a:t>main()</a:t>
            </a:r>
            <a:r>
              <a:rPr lang="en" sz="1500"/>
              <a:t> and the program begins.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_start</a:t>
            </a:r>
            <a:r>
              <a:rPr lang="en" sz="1500"/>
              <a:t> also calls </a:t>
            </a:r>
            <a:r>
              <a:rPr b="1" lang="en" sz="1500"/>
              <a:t>exit() </a:t>
            </a:r>
            <a:r>
              <a:rPr lang="en" sz="1500"/>
              <a:t>when </a:t>
            </a:r>
            <a:r>
              <a:rPr b="1" lang="en" sz="1500"/>
              <a:t>main() </a:t>
            </a:r>
            <a:r>
              <a:rPr lang="en" sz="1500"/>
              <a:t>returns.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loader is also called “</a:t>
            </a:r>
            <a:r>
              <a:rPr b="1" lang="en" sz="1500"/>
              <a:t>runtime linker”</a:t>
            </a:r>
            <a:r>
              <a:rPr lang="en" sz="1500"/>
              <a:t>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 see dependent shared libraries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$ ldd a.out</a:t>
            </a:r>
            <a:r>
              <a:rPr lang="en" sz="1500"/>
              <a:t> </a:t>
            </a:r>
            <a:endParaRPr sz="1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and Shared Libraries</a:t>
            </a:r>
            <a:endParaRPr/>
          </a:p>
        </p:txBody>
      </p:sp>
      <p:sp>
        <p:nvSpPr>
          <p:cNvPr id="279" name="Google Shape;279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Shared libraries are shared across different processes.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.so files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Does not add to the size of executable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There is only one instance of each shared library for the entire system.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Static libraries are not shared.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.a files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Add to the size of the executable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There is an instance of an static library for each process.</a:t>
            </a:r>
            <a:endParaRPr sz="1600"/>
          </a:p>
        </p:txBody>
      </p:sp>
      <p:sp>
        <p:nvSpPr>
          <p:cNvPr id="280" name="Google Shape;280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Static or Compilation Time– Events that happen during program building.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Example: Static linker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Dynamic or Runtime – Events that happen while program is running.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 Example: Dynamic linker</a:t>
            </a:r>
            <a:endParaRPr sz="1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idx="2" type="body"/>
          </p:nvPr>
        </p:nvSpPr>
        <p:spPr>
          <a:xfrm>
            <a:off x="5017200" y="2505100"/>
            <a:ext cx="3759300" cy="191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 simple makefile describes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rules to compile and link source and header files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and/or rules to recompile them</a:t>
            </a:r>
            <a:endParaRPr/>
          </a:p>
        </p:txBody>
      </p:sp>
      <p:sp>
        <p:nvSpPr>
          <p:cNvPr id="286" name="Google Shape;286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Makefiles</a:t>
            </a:r>
            <a:endParaRPr/>
          </a:p>
        </p:txBody>
      </p:sp>
      <p:sp>
        <p:nvSpPr>
          <p:cNvPr id="287" name="Google Shape;287;p47"/>
          <p:cNvSpPr txBox="1"/>
          <p:nvPr/>
        </p:nvSpPr>
        <p:spPr>
          <a:xfrm>
            <a:off x="568375" y="3855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225" y="94800"/>
            <a:ext cx="493395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https://makefiletutorial.com/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https://www.gnu.org/software/make/manual/make.html#Introduction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Alternatives to make</a:t>
            </a:r>
            <a:endParaRPr/>
          </a:p>
        </p:txBody>
      </p:sp>
      <p:sp>
        <p:nvSpPr>
          <p:cNvPr id="295" name="Google Shape;295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Popular C/C++ alternative build systems are SCons, CMake, Bazel, and Ninja.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Microsoft Visual Studio have their own built in build tools.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Java, there's Ant, Maven, and Gradle.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languages like Go and Rust have their own build tools.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simple Makefile</a:t>
            </a:r>
            <a:endParaRPr/>
          </a:p>
        </p:txBody>
      </p:sp>
      <p:sp>
        <p:nvSpPr>
          <p:cNvPr id="301" name="Google Shape;301;p49"/>
          <p:cNvSpPr txBox="1"/>
          <p:nvPr/>
        </p:nvSpPr>
        <p:spPr>
          <a:xfrm>
            <a:off x="666625" y="3862550"/>
            <a:ext cx="3000000" cy="831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make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echo "Hello, World"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Hello, World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2" name="Google Shape;302;p49"/>
          <p:cNvSpPr txBox="1"/>
          <p:nvPr/>
        </p:nvSpPr>
        <p:spPr>
          <a:xfrm>
            <a:off x="5162425" y="3938750"/>
            <a:ext cx="3000000" cy="831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make hello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echo "Hello, World"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Hello, World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" name="Google Shape;303;p49"/>
          <p:cNvSpPr txBox="1"/>
          <p:nvPr/>
        </p:nvSpPr>
        <p:spPr>
          <a:xfrm>
            <a:off x="429875" y="1093950"/>
            <a:ext cx="30000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… : prerequisites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recipe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</p:txBody>
      </p:sp>
      <p:grpSp>
        <p:nvGrpSpPr>
          <p:cNvPr id="304" name="Google Shape;304;p49"/>
          <p:cNvGrpSpPr/>
          <p:nvPr/>
        </p:nvGrpSpPr>
        <p:grpSpPr>
          <a:xfrm>
            <a:off x="-4150" y="2338650"/>
            <a:ext cx="3819925" cy="970738"/>
            <a:chOff x="-4150" y="2338650"/>
            <a:chExt cx="3819925" cy="970738"/>
          </a:xfrm>
        </p:grpSpPr>
        <p:sp>
          <p:nvSpPr>
            <p:cNvPr id="305" name="Google Shape;305;p49"/>
            <p:cNvSpPr txBox="1"/>
            <p:nvPr/>
          </p:nvSpPr>
          <p:spPr>
            <a:xfrm>
              <a:off x="815775" y="2693788"/>
              <a:ext cx="30000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hello: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	echo "Hello, World"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06" name="Google Shape;306;p49"/>
            <p:cNvSpPr txBox="1"/>
            <p:nvPr/>
          </p:nvSpPr>
          <p:spPr>
            <a:xfrm>
              <a:off x="-4150" y="2338650"/>
              <a:ext cx="12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Makefile</a:t>
              </a:r>
              <a:endParaRPr/>
            </a:p>
          </p:txBody>
        </p:sp>
      </p:grpSp>
      <p:sp>
        <p:nvSpPr>
          <p:cNvPr id="307" name="Google Shape;307;p49"/>
          <p:cNvSpPr txBox="1"/>
          <p:nvPr/>
        </p:nvSpPr>
        <p:spPr>
          <a:xfrm>
            <a:off x="-4150" y="3405450"/>
            <a:ext cx="2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with make command</a:t>
            </a:r>
            <a:endParaRPr/>
          </a:p>
        </p:txBody>
      </p:sp>
      <p:grpSp>
        <p:nvGrpSpPr>
          <p:cNvPr id="308" name="Google Shape;308;p49"/>
          <p:cNvGrpSpPr/>
          <p:nvPr/>
        </p:nvGrpSpPr>
        <p:grpSpPr>
          <a:xfrm>
            <a:off x="2172475" y="446150"/>
            <a:ext cx="6202425" cy="738900"/>
            <a:chOff x="2172475" y="446150"/>
            <a:chExt cx="6202425" cy="738900"/>
          </a:xfrm>
        </p:grpSpPr>
        <p:cxnSp>
          <p:nvCxnSpPr>
            <p:cNvPr id="309" name="Google Shape;309;p49"/>
            <p:cNvCxnSpPr/>
            <p:nvPr/>
          </p:nvCxnSpPr>
          <p:spPr>
            <a:xfrm flipH="1" rot="10800000">
              <a:off x="2172475" y="658850"/>
              <a:ext cx="2444700" cy="484200"/>
            </a:xfrm>
            <a:prstGeom prst="straightConnector1">
              <a:avLst/>
            </a:prstGeom>
            <a:noFill/>
            <a:ln cap="flat" cmpd="sng" w="9525">
              <a:solidFill>
                <a:srgbClr val="BF9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0" name="Google Shape;310;p49"/>
            <p:cNvSpPr txBox="1"/>
            <p:nvPr/>
          </p:nvSpPr>
          <p:spPr>
            <a:xfrm>
              <a:off x="4707700" y="446150"/>
              <a:ext cx="3667200" cy="738900"/>
            </a:xfrm>
            <a:prstGeom prst="rect">
              <a:avLst/>
            </a:prstGeom>
            <a:noFill/>
            <a:ln cap="flat" cmpd="sng" w="9525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prerequisite</a:t>
              </a:r>
              <a:r>
                <a:rPr lang="en" sz="1800">
                  <a:solidFill>
                    <a:schemeClr val="dk2"/>
                  </a:solidFill>
                </a:rPr>
                <a:t> : An input file to create target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311" name="Google Shape;311;p49"/>
          <p:cNvGrpSpPr/>
          <p:nvPr/>
        </p:nvGrpSpPr>
        <p:grpSpPr>
          <a:xfrm>
            <a:off x="1492010" y="1360550"/>
            <a:ext cx="7533751" cy="461700"/>
            <a:chOff x="1966900" y="1284350"/>
            <a:chExt cx="7058700" cy="461700"/>
          </a:xfrm>
        </p:grpSpPr>
        <p:cxnSp>
          <p:nvCxnSpPr>
            <p:cNvPr id="312" name="Google Shape;312;p49"/>
            <p:cNvCxnSpPr>
              <a:endCxn id="313" idx="1"/>
            </p:cNvCxnSpPr>
            <p:nvPr/>
          </p:nvCxnSpPr>
          <p:spPr>
            <a:xfrm>
              <a:off x="1966900" y="1498400"/>
              <a:ext cx="2664600" cy="16800"/>
            </a:xfrm>
            <a:prstGeom prst="straightConnector1">
              <a:avLst/>
            </a:prstGeom>
            <a:noFill/>
            <a:ln cap="flat" cmpd="sng" w="9525">
              <a:solidFill>
                <a:srgbClr val="BF9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3" name="Google Shape;313;p49"/>
            <p:cNvSpPr txBox="1"/>
            <p:nvPr/>
          </p:nvSpPr>
          <p:spPr>
            <a:xfrm>
              <a:off x="4631500" y="1284350"/>
              <a:ext cx="4394100" cy="461700"/>
            </a:xfrm>
            <a:prstGeom prst="rect">
              <a:avLst/>
            </a:prstGeom>
            <a:noFill/>
            <a:ln cap="flat" cmpd="sng" w="9525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recipe</a:t>
              </a:r>
              <a:r>
                <a:rPr lang="en" sz="1800">
                  <a:solidFill>
                    <a:schemeClr val="dk2"/>
                  </a:solidFill>
                </a:rPr>
                <a:t> : An action (a terminal command)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simple Makefile</a:t>
            </a:r>
            <a:endParaRPr/>
          </a:p>
        </p:txBody>
      </p:sp>
      <p:sp>
        <p:nvSpPr>
          <p:cNvPr id="319" name="Google Shape;319;p50"/>
          <p:cNvSpPr txBox="1"/>
          <p:nvPr/>
        </p:nvSpPr>
        <p:spPr>
          <a:xfrm>
            <a:off x="815775" y="2693788"/>
            <a:ext cx="30000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cc main.c -o program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" name="Google Shape;320;p50"/>
          <p:cNvSpPr txBox="1"/>
          <p:nvPr/>
        </p:nvSpPr>
        <p:spPr>
          <a:xfrm>
            <a:off x="666625" y="3862550"/>
            <a:ext cx="3000000" cy="61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make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1" name="Google Shape;321;p50"/>
          <p:cNvSpPr txBox="1"/>
          <p:nvPr/>
        </p:nvSpPr>
        <p:spPr>
          <a:xfrm>
            <a:off x="5162425" y="3938750"/>
            <a:ext cx="3000000" cy="400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make main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2" name="Google Shape;322;p50"/>
          <p:cNvSpPr txBox="1"/>
          <p:nvPr/>
        </p:nvSpPr>
        <p:spPr>
          <a:xfrm>
            <a:off x="815775" y="1017725"/>
            <a:ext cx="30000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… : prerequisites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recipe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</p:txBody>
      </p:sp>
      <p:sp>
        <p:nvSpPr>
          <p:cNvPr id="323" name="Google Shape;323;p50"/>
          <p:cNvSpPr txBox="1"/>
          <p:nvPr/>
        </p:nvSpPr>
        <p:spPr>
          <a:xfrm>
            <a:off x="-4150" y="2338650"/>
            <a:ext cx="12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</a:t>
            </a:r>
            <a:endParaRPr/>
          </a:p>
        </p:txBody>
      </p:sp>
      <p:sp>
        <p:nvSpPr>
          <p:cNvPr id="324" name="Google Shape;324;p50"/>
          <p:cNvSpPr txBox="1"/>
          <p:nvPr/>
        </p:nvSpPr>
        <p:spPr>
          <a:xfrm>
            <a:off x="-4150" y="3405450"/>
            <a:ext cx="2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with make command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Target</a:t>
            </a:r>
            <a:endParaRPr/>
          </a:p>
        </p:txBody>
      </p:sp>
      <p:sp>
        <p:nvSpPr>
          <p:cNvPr id="330" name="Google Shape;330;p51"/>
          <p:cNvSpPr txBox="1"/>
          <p:nvPr/>
        </p:nvSpPr>
        <p:spPr>
          <a:xfrm>
            <a:off x="1019250" y="1655338"/>
            <a:ext cx="3000000" cy="169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cc main.c -o aprogram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./aprogram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rm aprogram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1"/>
          <p:cNvSpPr txBox="1"/>
          <p:nvPr/>
        </p:nvSpPr>
        <p:spPr>
          <a:xfrm>
            <a:off x="666625" y="3862550"/>
            <a:ext cx="3000000" cy="61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make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" name="Google Shape;332;p51"/>
          <p:cNvSpPr txBox="1"/>
          <p:nvPr/>
        </p:nvSpPr>
        <p:spPr>
          <a:xfrm>
            <a:off x="5129475" y="2109950"/>
            <a:ext cx="3033000" cy="2555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make main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cc main.c -o aprogram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make run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./aprogram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hello world!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make clean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rm aprogram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51"/>
          <p:cNvSpPr txBox="1"/>
          <p:nvPr/>
        </p:nvSpPr>
        <p:spPr>
          <a:xfrm>
            <a:off x="3917300" y="337050"/>
            <a:ext cx="30000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… : prerequisites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recipe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</p:txBody>
      </p:sp>
      <p:sp>
        <p:nvSpPr>
          <p:cNvPr id="334" name="Google Shape;334;p51"/>
          <p:cNvSpPr txBox="1"/>
          <p:nvPr/>
        </p:nvSpPr>
        <p:spPr>
          <a:xfrm>
            <a:off x="-4150" y="2338650"/>
            <a:ext cx="12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</a:t>
            </a:r>
            <a:endParaRPr/>
          </a:p>
        </p:txBody>
      </p:sp>
      <p:sp>
        <p:nvSpPr>
          <p:cNvPr id="335" name="Google Shape;335;p51"/>
          <p:cNvSpPr txBox="1"/>
          <p:nvPr/>
        </p:nvSpPr>
        <p:spPr>
          <a:xfrm>
            <a:off x="-4150" y="3405450"/>
            <a:ext cx="2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with make command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Target</a:t>
            </a:r>
            <a:endParaRPr/>
          </a:p>
        </p:txBody>
      </p:sp>
      <p:sp>
        <p:nvSpPr>
          <p:cNvPr id="341" name="Google Shape;341;p52"/>
          <p:cNvSpPr txBox="1"/>
          <p:nvPr/>
        </p:nvSpPr>
        <p:spPr>
          <a:xfrm>
            <a:off x="219300" y="1672350"/>
            <a:ext cx="5261100" cy="147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some_file: </a:t>
            </a:r>
            <a:r>
              <a:rPr b="1" lang="en"/>
              <a:t>other_file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echo "This will always run, and runs second"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touch some_file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other_file: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echo "This will always run, and runs first"</a:t>
            </a:r>
            <a:endParaRPr/>
          </a:p>
        </p:txBody>
      </p:sp>
      <p:sp>
        <p:nvSpPr>
          <p:cNvPr id="342" name="Google Shape;342;p52"/>
          <p:cNvSpPr txBox="1"/>
          <p:nvPr/>
        </p:nvSpPr>
        <p:spPr>
          <a:xfrm>
            <a:off x="4525150" y="2948150"/>
            <a:ext cx="4475400" cy="2339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make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echo "This will always run, and runs first"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This will always run, and runs first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echo "This will always run, and runs second"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This will always run, and runs second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touch some_file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" name="Google Shape;343;p52"/>
          <p:cNvSpPr txBox="1"/>
          <p:nvPr/>
        </p:nvSpPr>
        <p:spPr>
          <a:xfrm>
            <a:off x="3917300" y="337050"/>
            <a:ext cx="30000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… : prerequisites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recipe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</p:txBody>
      </p:sp>
      <p:sp>
        <p:nvSpPr>
          <p:cNvPr id="344" name="Google Shape;344;p52"/>
          <p:cNvSpPr txBox="1"/>
          <p:nvPr/>
        </p:nvSpPr>
        <p:spPr>
          <a:xfrm>
            <a:off x="59000" y="1201900"/>
            <a:ext cx="12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Target</a:t>
            </a:r>
            <a:endParaRPr/>
          </a:p>
        </p:txBody>
      </p:sp>
      <p:sp>
        <p:nvSpPr>
          <p:cNvPr id="350" name="Google Shape;350;p53"/>
          <p:cNvSpPr txBox="1"/>
          <p:nvPr/>
        </p:nvSpPr>
        <p:spPr>
          <a:xfrm>
            <a:off x="3917300" y="337050"/>
            <a:ext cx="30000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… : prerequisites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recipe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</p:txBody>
      </p:sp>
      <p:sp>
        <p:nvSpPr>
          <p:cNvPr id="351" name="Google Shape;351;p53"/>
          <p:cNvSpPr txBox="1"/>
          <p:nvPr/>
        </p:nvSpPr>
        <p:spPr>
          <a:xfrm>
            <a:off x="5008289" y="2264950"/>
            <a:ext cx="3651600" cy="2339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main: aux.o main.c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cc main.c aux.o -o aprogram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aux.o: aux.c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cc -c aux.c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rm </a:t>
            </a:r>
            <a:r>
              <a:rPr lang="en"/>
              <a:t>-f</a:t>
            </a:r>
            <a:r>
              <a:rPr lang="en"/>
              <a:t> aprogram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cleanall: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rm -f aprogram *.o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3"/>
          <p:cNvSpPr txBox="1"/>
          <p:nvPr/>
        </p:nvSpPr>
        <p:spPr>
          <a:xfrm>
            <a:off x="4954064" y="1887700"/>
            <a:ext cx="933088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</a:t>
            </a:r>
            <a:endParaRPr/>
          </a:p>
        </p:txBody>
      </p:sp>
      <p:sp>
        <p:nvSpPr>
          <p:cNvPr id="353" name="Google Shape;353;p53"/>
          <p:cNvSpPr txBox="1"/>
          <p:nvPr/>
        </p:nvSpPr>
        <p:spPr>
          <a:xfrm>
            <a:off x="112275" y="94730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/*main.c*/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printinteger(int);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printinteger(5);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53"/>
          <p:cNvSpPr txBox="1"/>
          <p:nvPr/>
        </p:nvSpPr>
        <p:spPr>
          <a:xfrm>
            <a:off x="77200" y="2947150"/>
            <a:ext cx="4062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/*aux.c*/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printinteger(int a){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printf("integer: %d\n", a);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  <p:sp>
        <p:nvSpPr>
          <p:cNvPr id="360" name="Google Shape;360;p54"/>
          <p:cNvSpPr txBox="1"/>
          <p:nvPr/>
        </p:nvSpPr>
        <p:spPr>
          <a:xfrm>
            <a:off x="3917300" y="337050"/>
            <a:ext cx="30000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… : prerequisites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recipe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</a:t>
            </a:r>
            <a:endParaRPr/>
          </a:p>
        </p:txBody>
      </p:sp>
      <p:sp>
        <p:nvSpPr>
          <p:cNvPr id="361" name="Google Shape;361;p54"/>
          <p:cNvSpPr txBox="1"/>
          <p:nvPr/>
        </p:nvSpPr>
        <p:spPr>
          <a:xfrm>
            <a:off x="5008289" y="1883950"/>
            <a:ext cx="3651600" cy="298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objects = </a:t>
            </a:r>
            <a:r>
              <a:rPr b="1" lang="en"/>
              <a:t> aux.o main.o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</a:t>
            </a:r>
            <a:r>
              <a:rPr lang="en"/>
              <a:t>rogram: </a:t>
            </a:r>
            <a:r>
              <a:rPr b="1" lang="en"/>
              <a:t>$(objects)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/>
              <a:t>c</a:t>
            </a:r>
            <a:r>
              <a:rPr lang="en"/>
              <a:t>c -o aprogram </a:t>
            </a:r>
            <a:r>
              <a:rPr b="1" lang="en"/>
              <a:t>$(objects)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aux.o: aux.c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cc -c aux.c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ain.o: main.c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cc -c main.c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rm aprogram </a:t>
            </a:r>
            <a:r>
              <a:rPr b="1" lang="en"/>
              <a:t>$(objects)</a:t>
            </a:r>
            <a:endParaRPr/>
          </a:p>
        </p:txBody>
      </p:sp>
      <p:sp>
        <p:nvSpPr>
          <p:cNvPr id="362" name="Google Shape;362;p54"/>
          <p:cNvSpPr txBox="1"/>
          <p:nvPr/>
        </p:nvSpPr>
        <p:spPr>
          <a:xfrm>
            <a:off x="4954064" y="1506700"/>
            <a:ext cx="9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</a:t>
            </a:r>
            <a:endParaRPr/>
          </a:p>
        </p:txBody>
      </p:sp>
      <p:sp>
        <p:nvSpPr>
          <p:cNvPr id="363" name="Google Shape;363;p54"/>
          <p:cNvSpPr txBox="1"/>
          <p:nvPr/>
        </p:nvSpPr>
        <p:spPr>
          <a:xfrm>
            <a:off x="112275" y="94730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/*main.c*/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printinteger(int);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printinteger(5);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54"/>
          <p:cNvSpPr txBox="1"/>
          <p:nvPr/>
        </p:nvSpPr>
        <p:spPr>
          <a:xfrm>
            <a:off x="77200" y="2947150"/>
            <a:ext cx="4062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/*aux.c*/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printinteger(int a){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printf("integer: %d\n", a);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return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5"/>
          <p:cNvSpPr txBox="1"/>
          <p:nvPr>
            <p:ph type="title"/>
          </p:nvPr>
        </p:nvSpPr>
        <p:spPr>
          <a:xfrm>
            <a:off x="311700" y="445025"/>
            <a:ext cx="395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</a:t>
            </a:r>
            <a:endParaRPr/>
          </a:p>
        </p:txBody>
      </p:sp>
      <p:sp>
        <p:nvSpPr>
          <p:cNvPr id="370" name="Google Shape;370;p55"/>
          <p:cNvSpPr txBox="1"/>
          <p:nvPr>
            <p:ph idx="1" type="body"/>
          </p:nvPr>
        </p:nvSpPr>
        <p:spPr>
          <a:xfrm>
            <a:off x="4517125" y="331475"/>
            <a:ext cx="4715100" cy="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Automatic variables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371" name="Google Shape;371;p55"/>
          <p:cNvSpPr txBox="1"/>
          <p:nvPr/>
        </p:nvSpPr>
        <p:spPr>
          <a:xfrm>
            <a:off x="589425" y="1592000"/>
            <a:ext cx="3000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files := file1 file2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some_file: $(files)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echo "Look at this variable: " $(files)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touch some_file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file1: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touch file1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file2: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touch file2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clean: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rm -f file1 file2 some_file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p55"/>
          <p:cNvSpPr txBox="1"/>
          <p:nvPr/>
        </p:nvSpPr>
        <p:spPr>
          <a:xfrm>
            <a:off x="3723450" y="803325"/>
            <a:ext cx="5159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hey: one two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	# Outputs "hey", since this is the target name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	echo $@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	# Outputs all prerequisites newer than the target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	echo $?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	# Outputs all prerequisites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	echo $^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	touch hey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one: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	touch one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two: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	touch two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clean: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	rm -f hey one two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Fancy rules</a:t>
            </a:r>
            <a:endParaRPr/>
          </a:p>
        </p:txBody>
      </p:sp>
      <p:sp>
        <p:nvSpPr>
          <p:cNvPr id="378" name="Google Shape;378;p56"/>
          <p:cNvSpPr txBox="1"/>
          <p:nvPr/>
        </p:nvSpPr>
        <p:spPr>
          <a:xfrm>
            <a:off x="378925" y="1994375"/>
            <a:ext cx="4265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CC = gcc # Flag for implicit rules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CFLAGS = -g # Flag for implicit rules. Turn on debug info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# Implicit rule #1: blah is built via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# the C linker implicit rule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# Implicit rule #2: blah.o is built via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#the C compilation implicit rule, because blah.c exists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blah: blah.o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blah.c: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	echo "int main() { return 0; }" &gt; blah.c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clean: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	rm -f blah*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56"/>
          <p:cNvSpPr txBox="1"/>
          <p:nvPr/>
        </p:nvSpPr>
        <p:spPr>
          <a:xfrm>
            <a:off x="4715475" y="1386625"/>
            <a:ext cx="41823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objects = foo.o bar.o all.o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all: $(objects)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# These files compile via implicit rules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foo.o: foo.c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bar.o: bar.c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all.o: all.c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all.c: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	echo "int main() { return 0; }" &gt; all.c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%.c: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	touch $@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clean: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	rm -f *.c *.o all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56"/>
          <p:cNvSpPr txBox="1"/>
          <p:nvPr>
            <p:ph idx="1" type="body"/>
          </p:nvPr>
        </p:nvSpPr>
        <p:spPr>
          <a:xfrm>
            <a:off x="217525" y="1381075"/>
            <a:ext cx="40941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Implicit Rules</a:t>
            </a:r>
            <a:endParaRPr b="1"/>
          </a:p>
        </p:txBody>
      </p:sp>
      <p:sp>
        <p:nvSpPr>
          <p:cNvPr id="381" name="Google Shape;381;p56"/>
          <p:cNvSpPr txBox="1"/>
          <p:nvPr>
            <p:ph idx="2" type="body"/>
          </p:nvPr>
        </p:nvSpPr>
        <p:spPr>
          <a:xfrm>
            <a:off x="4462850" y="217525"/>
            <a:ext cx="4369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7"/>
              <a:t>Static pattern rules</a:t>
            </a:r>
            <a:endParaRPr b="1" sz="155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targets...: target-pattern: prereq-patterns 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commands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6"/>
          <p:cNvSpPr txBox="1"/>
          <p:nvPr/>
        </p:nvSpPr>
        <p:spPr>
          <a:xfrm>
            <a:off x="2912075" y="4497925"/>
            <a:ext cx="383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more 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https://makefiletutorial.com/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week’s lab: Version control Git</a:t>
            </a:r>
            <a:endParaRPr/>
          </a:p>
        </p:txBody>
      </p:sp>
      <p:sp>
        <p:nvSpPr>
          <p:cNvPr id="388" name="Google Shape;388;p5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week’s lab assignment is given through github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will create multiple c files and makefile for a solution of simple program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and submit it to github through git-commands from terminal</a:t>
            </a:r>
            <a:endParaRPr/>
          </a:p>
        </p:txBody>
      </p:sp>
      <p:sp>
        <p:nvSpPr>
          <p:cNvPr id="389" name="Google Shape;389;p5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lecture</a:t>
            </a:r>
            <a:endParaRPr/>
          </a:p>
        </p:txBody>
      </p:sp>
      <p:sp>
        <p:nvSpPr>
          <p:cNvPr id="395" name="Google Shape;395;p5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More on C, pointers, structures and alignments</a:t>
            </a:r>
            <a:endParaRPr/>
          </a:p>
        </p:txBody>
      </p:sp>
      <p:sp>
        <p:nvSpPr>
          <p:cNvPr id="396" name="Google Shape;396;p5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