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oboto"/>
      <p:regular r:id="rId54"/>
      <p:bold r:id="rId55"/>
      <p:italic r:id="rId56"/>
      <p:boldItalic r:id="rId57"/>
    </p:embeddedFont>
    <p:embeddedFont>
      <p:font typeface="Roboto Mon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.fntdata"/><Relationship Id="rId14" Type="http://schemas.openxmlformats.org/officeDocument/2006/relationships/slide" Target="slides/slide9.xml"/><Relationship Id="rId58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9b0320a5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9b0320a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8bb8a61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8bb8a61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9b0320a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9b0320a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9b0320a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9b0320a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8bb8a61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8bb8a61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9b0320a5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9b0320a5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9b0320a5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9b0320a5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38bb8a610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38bb8a610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9b0320a5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49b0320a5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9b0320a5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9b0320a5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9b0320a5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9b0320a5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8bb8a610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38bb8a610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9b0320a5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9b0320a5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38bb8a610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38bb8a610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8bc57d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8bc57d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38bb8a610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38bb8a610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38bb8a610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38bb8a610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9b0320a5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9b0320a5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49b0320a5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49b0320a5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49b0320a5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49b0320a5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49b0320a5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49b0320a5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9b0320a5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9b0320a5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49b0320a5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49b0320a5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9b0320a5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49b0320a5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49b0320a5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49b0320a5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9b0320a5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49b0320a5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9b0320a5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49b0320a5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9b0320a5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49b0320a5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9b0320a5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49b0320a5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49b0320a5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49b0320a5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49b0320a5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49b0320a5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49b0320a5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49b0320a5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49b0320a5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49b0320a5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49b0320a58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49b0320a58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49b0320a5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49b0320a5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4bffd5bd2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4bffd5bd2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9b0320a58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9b0320a5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4bffd5bd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4bffd5bd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0b3c8c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e0b3c8c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e0b3c8c44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e0b3c8c4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9b0320a5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49b0320a5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49b0320a5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49b0320a5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9b0320a58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9b0320a5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4bffd5bd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4bffd5bd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41d56aa8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41d56aa8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4bffd5bd2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4bffd5bd2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10f562f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e10f562f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csd.uoc.gr/~hy556/material/tutorials/cs556-3rd-tutorial.pdf" TargetMode="External"/><Relationship Id="rId4" Type="http://schemas.openxmlformats.org/officeDocument/2006/relationships/hyperlink" Target="https://intronetworks.cs.luc.edu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www.oreilly.com/library/view/linux-networking-cookbook/9780596102487/ch01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inuxhint.com/basic_linux_network_commands/" TargetMode="External"/><Relationship Id="rId4" Type="http://schemas.openxmlformats.org/officeDocument/2006/relationships/hyperlink" Target="https://mindmajix.com/linux-networking-commands-best-exampl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hyperlink" Target="https://www.javatpoint.com/types-of-computer-networ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hyperlink" Target="https://en.wikipedia.org/wiki/OSI_model" TargetMode="External"/><Relationship Id="rId6" Type="http://schemas.openxmlformats.org/officeDocument/2006/relationships/hyperlink" Target="https://en.wikipedia.org/wiki/Internet_protocol_suit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hyperlink" Target="https://en.wikipedia.org/wiki/Internet_protocol_suit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Packet_(information_technology)" TargetMode="External"/><Relationship Id="rId5" Type="http://schemas.openxmlformats.org/officeDocument/2006/relationships/hyperlink" Target="https://en.wikipedia.org/wiki/Host_(network)" TargetMode="External"/><Relationship Id="rId6" Type="http://schemas.openxmlformats.org/officeDocument/2006/relationships/hyperlink" Target="https://en.wikipedia.org/wiki/IP_address" TargetMode="External"/><Relationship Id="rId7" Type="http://schemas.openxmlformats.org/officeDocument/2006/relationships/hyperlink" Target="https://en.wikipedia.org/wiki/Header_(computing)" TargetMode="External"/><Relationship Id="rId8" Type="http://schemas.openxmlformats.org/officeDocument/2006/relationships/hyperlink" Target="https://en.wikipedia.org/wiki/Internet_protocol_suit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en.wikipedia.org/wiki/Internet_Protocol_version_4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en.wikipedia.org/wiki/Internet_Protocol_version_4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hyperlink" Target="https://en.wikipedia.org/wiki/IPv6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Internet_protocol_suit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Internet_protocol_suit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Transport_Layer_Security" TargetMode="External"/><Relationship Id="rId5" Type="http://schemas.openxmlformats.org/officeDocument/2006/relationships/hyperlink" Target="https://developer.mozilla.org/en-US/docs/Web/API/WebSockets_API#guides" TargetMode="External"/><Relationship Id="rId6" Type="http://schemas.openxmlformats.org/officeDocument/2006/relationships/hyperlink" Target="https://en.wikipedia.org/wiki/Internet_protocol_suit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hyperlink" Target="https://developer.mozilla.org/en-US/docs/Web/HTTP/Overvie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kernel.org/doc/html/latest/networking/tls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www.csd.uoc.gr/~hy556/material/tutorials/cs556-3rd-tutorial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hyperlink" Target="https://www.csd.uoc.gr/~hy556/material/tutorials/cs556-3rd-tutorial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hyperlink" Target="https://www.csd.uoc.gr/~hy556/material/tutorials/cs556-3rd-tutorial.pdf" TargetMode="External"/><Relationship Id="rId5" Type="http://schemas.openxmlformats.org/officeDocument/2006/relationships/hyperlink" Target="https://en.wikipedia.org/wiki/Berkeley_socket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en.wikipedia.org/wiki/Berkeley_sockets" TargetMode="External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Berkeley_socket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man7.org/linux/man-pages/man2/select.2.html" TargetMode="External"/><Relationship Id="rId4" Type="http://schemas.openxmlformats.org/officeDocument/2006/relationships/hyperlink" Target="https://man7.org/linux/man-pages/man2/poll.2.html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csd.uoc.gr/~hy556/material/tutorials/cs556-3rd-tutorial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Transport_Layer_Security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hyperlink" Target="https://developer.mozilla.org/en-US/docs/Web/HTTP/Overview" TargetMode="External"/><Relationship Id="rId5" Type="http://schemas.openxmlformats.org/officeDocument/2006/relationships/hyperlink" Target="https://en.wikipedia.org/wiki/HTTP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en.wikipedia.org/wiki/HTTP" TargetMode="External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hyperlink" Target="https://en.wikipedia.org/wiki/RFC_(identifier)" TargetMode="External"/><Relationship Id="rId10" Type="http://schemas.openxmlformats.org/officeDocument/2006/relationships/hyperlink" Target="https://en.wikipedia.org/wiki/RFC_(identifier)" TargetMode="External"/><Relationship Id="rId13" Type="http://schemas.openxmlformats.org/officeDocument/2006/relationships/hyperlink" Target="https://developer.mozilla.org/en-US/docs/Web/API/WebSockets_API#guides" TargetMode="External"/><Relationship Id="rId12" Type="http://schemas.openxmlformats.org/officeDocument/2006/relationships/hyperlink" Target="https://datatracker.ietf.org/doc/html/rfc6455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en.wikipedia.org/wiki/WebSocket" TargetMode="External"/><Relationship Id="rId4" Type="http://schemas.openxmlformats.org/officeDocument/2006/relationships/hyperlink" Target="https://en.wikipedia.org/wiki/Hypertext_Transfer_Protocol" TargetMode="External"/><Relationship Id="rId9" Type="http://schemas.openxmlformats.org/officeDocument/2006/relationships/hyperlink" Target="https://en.wikipedia.org/wiki/OSI_model" TargetMode="External"/><Relationship Id="rId15" Type="http://schemas.openxmlformats.org/officeDocument/2006/relationships/hyperlink" Target="https://www.tutorialspoint.com/websockets/websockets_quick_guide.htm" TargetMode="External"/><Relationship Id="rId14" Type="http://schemas.openxmlformats.org/officeDocument/2006/relationships/hyperlink" Target="https://yalantis.com/blog/how-to-build-websockets-in-go/" TargetMode="External"/><Relationship Id="rId5" Type="http://schemas.openxmlformats.org/officeDocument/2006/relationships/hyperlink" Target="https://en.wikipedia.org/wiki/Hypertext_Transfer_Protocol" TargetMode="External"/><Relationship Id="rId6" Type="http://schemas.openxmlformats.org/officeDocument/2006/relationships/hyperlink" Target="https://en.wikipedia.org/wiki/Layer_7" TargetMode="External"/><Relationship Id="rId7" Type="http://schemas.openxmlformats.org/officeDocument/2006/relationships/hyperlink" Target="https://en.wikipedia.org/wiki/Layer_7" TargetMode="External"/><Relationship Id="rId8" Type="http://schemas.openxmlformats.org/officeDocument/2006/relationships/hyperlink" Target="https://en.wikipedia.org/wiki/OSI_model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w3.org/standards/xml/core" TargetMode="External"/><Relationship Id="rId4" Type="http://schemas.openxmlformats.org/officeDocument/2006/relationships/hyperlink" Target="https://www.w3schools.com/js/js_json_intro.asp" TargetMode="External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hyperlink" Target="https://stackoverflow.com/questions/1087031/whats-the-difference-between-openid-and-oauth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cloudflare.com/learning/access-management/what-is-access-control/" TargetMode="External"/><Relationship Id="rId4" Type="http://schemas.openxmlformats.org/officeDocument/2006/relationships/hyperlink" Target="https://www.cloudflare.com/learning/access-management/what-is-authentication/" TargetMode="External"/><Relationship Id="rId9" Type="http://schemas.openxmlformats.org/officeDocument/2006/relationships/hyperlink" Target="https://www.cloudflare.com/learning/access-management/what-is-access-control/" TargetMode="External"/><Relationship Id="rId5" Type="http://schemas.openxmlformats.org/officeDocument/2006/relationships/hyperlink" Target="https://www.cloudflare.com/learning/access-management/what-is-sso/" TargetMode="External"/><Relationship Id="rId6" Type="http://schemas.openxmlformats.org/officeDocument/2006/relationships/hyperlink" Target="https://www.cloudflare.com/learning/access-management/what-is-saml/" TargetMode="External"/><Relationship Id="rId7" Type="http://schemas.openxmlformats.org/officeDocument/2006/relationships/hyperlink" Target="https://www.cloudflare.com/learning/access-management/what-is-oauth/" TargetMode="External"/><Relationship Id="rId8" Type="http://schemas.openxmlformats.org/officeDocument/2006/relationships/hyperlink" Target="https://www.cloudflare.com/learning/access-management/what-is-access-contro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00650" y="358300"/>
            <a:ext cx="4110000" cy="13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wss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00850" y="1590875"/>
            <a:ext cx="4110000" cy="33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Topics: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OSI Layers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Network layer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TCP vs UDP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 numbers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Binding ports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System Layer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Sockets(</a:t>
            </a:r>
            <a:r>
              <a:rPr lang="en"/>
              <a:t>Application Programming Interfaces (API))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Application layer protocols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 (get, post request)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WebSockets </a:t>
            </a:r>
            <a:endParaRPr sz="1800"/>
          </a:p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https://www.csd.uoc.gr/~hy556/material/tutorials/cs556-3rd-tutorial.pdf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https://intronetworks.cs.luc.edu/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75999"/>
            <a:ext cx="7870525" cy="12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56750" y="2996100"/>
            <a:ext cx="80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https://www.oreilly.com/library/view/linux-networking-cookbook/9780596102487/ch01.html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Networking Commands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Basic Linux Network Commands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Top Linux Network Commands in 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Peer to peer network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38" y="1817788"/>
            <a:ext cx="41243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Client Server network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5063" y="1989238"/>
            <a:ext cx="3667125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665300" y="4680300"/>
            <a:ext cx="534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https://www.javatpoint.com/types-of-computer-network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525" y="2048800"/>
            <a:ext cx="565785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Conceptual </a:t>
            </a:r>
            <a:r>
              <a:rPr lang="en"/>
              <a:t>Layering of Network Architecture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Successful</a:t>
            </a:r>
            <a:r>
              <a:rPr lang="en"/>
              <a:t> communication requires </a:t>
            </a:r>
            <a:r>
              <a:rPr b="1" lang="en"/>
              <a:t>a </a:t>
            </a:r>
            <a:r>
              <a:rPr b="1" lang="en"/>
              <a:t>protocol(an agreement mechanism)</a:t>
            </a:r>
            <a:r>
              <a:rPr lang="en"/>
              <a:t> on every layer of the systems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2393500" y="4568875"/>
            <a:ext cx="47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https://en.wikipedia.org/wiki/OSI_model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575" y="1791600"/>
            <a:ext cx="4916026" cy="29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825" y="126500"/>
            <a:ext cx="2312200" cy="48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925" y="712550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3703750" y="3881513"/>
            <a:ext cx="1981500" cy="831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model (NOT USED in Practice)</a:t>
            </a:r>
            <a:endParaRPr/>
          </a:p>
        </p:txBody>
      </p:sp>
      <p:cxnSp>
        <p:nvCxnSpPr>
          <p:cNvPr id="104" name="Google Shape;104;p19"/>
          <p:cNvCxnSpPr>
            <a:stCxn id="103" idx="1"/>
            <a:endCxn id="101" idx="3"/>
          </p:cNvCxnSpPr>
          <p:nvPr/>
        </p:nvCxnSpPr>
        <p:spPr>
          <a:xfrm rot="10800000">
            <a:off x="3514150" y="2535863"/>
            <a:ext cx="189600" cy="1761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9"/>
          <p:cNvSpPr txBox="1"/>
          <p:nvPr/>
        </p:nvSpPr>
        <p:spPr>
          <a:xfrm>
            <a:off x="5218125" y="4589950"/>
            <a:ext cx="37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5"/>
              </a:rPr>
              <a:t>https://en.wikipedia.org/wiki/OSI_model</a:t>
            </a: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6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protocol suite (TCP/IP model)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50" y="976825"/>
            <a:ext cx="3443750" cy="40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125" y="1568400"/>
            <a:ext cx="4671125" cy="29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4610175" y="1217025"/>
            <a:ext cx="425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packet (the data that is </a:t>
            </a:r>
            <a:r>
              <a:rPr lang="en"/>
              <a:t>transferred</a:t>
            </a:r>
            <a:r>
              <a:rPr lang="en"/>
              <a:t>)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5218125" y="4818550"/>
            <a:ext cx="373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5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Protocol (IP)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25" y="1337925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595988" y="3472600"/>
            <a:ext cx="697350" cy="436525"/>
          </a:xfrm>
          <a:custGeom>
            <a:rect b="b" l="l" r="r" t="t"/>
            <a:pathLst>
              <a:path extrusionOk="0" h="17461" w="27894">
                <a:moveTo>
                  <a:pt x="27061" y="1405"/>
                </a:moveTo>
                <a:cubicBezTo>
                  <a:pt x="17692" y="1405"/>
                  <a:pt x="-1186" y="-8"/>
                  <a:pt x="79" y="9275"/>
                </a:cubicBezTo>
                <a:cubicBezTo>
                  <a:pt x="1233" y="17743"/>
                  <a:pt x="17981" y="19635"/>
                  <a:pt x="25093" y="14896"/>
                </a:cubicBezTo>
                <a:cubicBezTo>
                  <a:pt x="29226" y="12142"/>
                  <a:pt x="28324" y="3512"/>
                  <a:pt x="24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2" name="Google Shape;122;p21"/>
          <p:cNvSpPr txBox="1"/>
          <p:nvPr/>
        </p:nvSpPr>
        <p:spPr>
          <a:xfrm>
            <a:off x="3781025" y="1264800"/>
            <a:ext cx="5115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has the task of delivering </a:t>
            </a:r>
            <a:r>
              <a:rPr lang="en" u="sng">
                <a:solidFill>
                  <a:schemeClr val="hlink"/>
                </a:solidFill>
                <a:hlinkClick r:id="rId4"/>
              </a:rPr>
              <a:t>packets</a:t>
            </a:r>
            <a:r>
              <a:rPr lang="en"/>
              <a:t> from the source </a:t>
            </a:r>
            <a:r>
              <a:rPr lang="en" u="sng">
                <a:solidFill>
                  <a:schemeClr val="hlink"/>
                </a:solidFill>
                <a:hlinkClick r:id="rId5"/>
              </a:rPr>
              <a:t>host</a:t>
            </a:r>
            <a:r>
              <a:rPr lang="en"/>
              <a:t> to the destination host solely based on the </a:t>
            </a:r>
            <a:r>
              <a:rPr lang="en" u="sng">
                <a:solidFill>
                  <a:schemeClr val="hlink"/>
                </a:solidFill>
                <a:hlinkClick r:id="rId6"/>
              </a:rPr>
              <a:t>IP addresses</a:t>
            </a:r>
            <a:r>
              <a:rPr lang="en"/>
              <a:t> in the packet </a:t>
            </a:r>
            <a:r>
              <a:rPr lang="en" u="sng">
                <a:solidFill>
                  <a:schemeClr val="hlink"/>
                </a:solidFill>
                <a:hlinkClick r:id="rId7"/>
              </a:rPr>
              <a:t>headers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Packets must contain an IP address of its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Packets are handled and delivered independently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Packets may lost, reordered or duplicated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5218125" y="4818550"/>
            <a:ext cx="373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8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Protocol (IP)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775" y="1900875"/>
            <a:ext cx="5677402" cy="192499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773650" y="1467450"/>
            <a:ext cx="10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IPv4</a:t>
            </a:r>
            <a:endParaRPr b="1"/>
          </a:p>
        </p:txBody>
      </p:sp>
      <p:sp>
        <p:nvSpPr>
          <p:cNvPr id="131" name="Google Shape;131;p22"/>
          <p:cNvSpPr txBox="1"/>
          <p:nvPr/>
        </p:nvSpPr>
        <p:spPr>
          <a:xfrm>
            <a:off x="311700" y="4244100"/>
            <a:ext cx="57882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076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rgbClr val="6E7076"/>
                </a:solidFill>
                <a:latin typeface="Roboto"/>
                <a:ea typeface="Roboto"/>
                <a:cs typeface="Roboto"/>
                <a:sym typeface="Roboto"/>
              </a:rPr>
              <a:t>IPv4 – </a:t>
            </a:r>
            <a:r>
              <a:rPr lang="en" sz="1050">
                <a:solidFill>
                  <a:srgbClr val="188038"/>
                </a:solidFill>
                <a:highlight>
                  <a:srgbClr val="F9F9F9"/>
                </a:highlight>
                <a:latin typeface="Roboto Mono"/>
                <a:ea typeface="Roboto Mono"/>
                <a:cs typeface="Roboto Mono"/>
                <a:sym typeface="Roboto Mono"/>
              </a:rPr>
              <a:t>192.168.10.150</a:t>
            </a:r>
            <a:endParaRPr sz="1050">
              <a:solidFill>
                <a:srgbClr val="188038"/>
              </a:solidFill>
              <a:highlight>
                <a:srgbClr val="F9F9F9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076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rgbClr val="6E7076"/>
                </a:solidFill>
                <a:latin typeface="Roboto"/>
                <a:ea typeface="Roboto"/>
                <a:cs typeface="Roboto"/>
                <a:sym typeface="Roboto"/>
              </a:rPr>
              <a:t>IPv6 – </a:t>
            </a:r>
            <a:r>
              <a:rPr lang="en" sz="1050">
                <a:solidFill>
                  <a:srgbClr val="188038"/>
                </a:solidFill>
                <a:highlight>
                  <a:srgbClr val="F9F9F9"/>
                </a:highlight>
                <a:latin typeface="Roboto Mono"/>
                <a:ea typeface="Roboto Mono"/>
                <a:cs typeface="Roboto Mono"/>
                <a:sym typeface="Roboto Mono"/>
              </a:rPr>
              <a:t>3002:0bd6:0000:0000:0000:ee00:0033:6778</a:t>
            </a:r>
            <a:endParaRPr sz="1050">
              <a:solidFill>
                <a:srgbClr val="188038"/>
              </a:solidFill>
              <a:highlight>
                <a:srgbClr val="F9F9F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751850" y="4841350"/>
            <a:ext cx="55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https://en.wikipedia.org/wiki/Internet_Protocol_version_4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IPv4 packet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00" y="1017725"/>
            <a:ext cx="8619226" cy="39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751850" y="4841350"/>
            <a:ext cx="55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https://en.wikipedia.org/wiki/Internet_Protocol_version_4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packet header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1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/>
        </p:nvSpPr>
        <p:spPr>
          <a:xfrm>
            <a:off x="1328025" y="4687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https://en.wikipedia.org/wiki/IPv6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" y="1446375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vs UDP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53750" y="191175"/>
            <a:ext cx="6058800" cy="20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use </a:t>
            </a:r>
            <a:r>
              <a:rPr b="1" lang="en"/>
              <a:t>port numbers 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application-specific construct serving as a communication endpoint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16-bit unsigned integer, thus ranging from 0 to 65535) to provide end-to-end transport</a:t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138788" y="3015400"/>
            <a:ext cx="697350" cy="436525"/>
          </a:xfrm>
          <a:custGeom>
            <a:rect b="b" l="l" r="r" t="t"/>
            <a:pathLst>
              <a:path extrusionOk="0" h="17461" w="27894">
                <a:moveTo>
                  <a:pt x="27061" y="1405"/>
                </a:moveTo>
                <a:cubicBezTo>
                  <a:pt x="17692" y="1405"/>
                  <a:pt x="-1186" y="-8"/>
                  <a:pt x="79" y="9275"/>
                </a:cubicBezTo>
                <a:cubicBezTo>
                  <a:pt x="1233" y="17743"/>
                  <a:pt x="17981" y="19635"/>
                  <a:pt x="25093" y="14896"/>
                </a:cubicBezTo>
                <a:cubicBezTo>
                  <a:pt x="29226" y="12142"/>
                  <a:pt x="28324" y="3512"/>
                  <a:pt x="24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Google Shape;155;p25"/>
          <p:cNvSpPr txBox="1"/>
          <p:nvPr/>
        </p:nvSpPr>
        <p:spPr>
          <a:xfrm>
            <a:off x="2921875" y="2324050"/>
            <a:ext cx="61695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7">
                <a:solidFill>
                  <a:schemeClr val="dk2"/>
                </a:solidFill>
              </a:rPr>
              <a:t>$ lsof -i -P -n</a:t>
            </a:r>
            <a:endParaRPr b="1"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COMMAND  PID      USER   FD   TYPE DEVICE SIZE/OFF NODE NAME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firefox 6636 ad_public  177u  IPv4 170052      0t0  TCP 10.5.1.74:35684-&gt;34.120.208.123:443 (ESTABLISHED)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firefox 6636 ad_public  189u  IPv4 170051      0t0  TCP 10.5.1.74:34326-&gt;34.149.100.209:443 (ESTABLISHED)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firefox 6636 ad_public  194u  IPv4 158123      0t0  TCP 10.5.1.74:51238-&gt;172.66.41.27:443 (ESTABLISHED)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chrome  8471 ad_public  234u  IPv4  33288      0t0  UDP 224.0.0.251:5353 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chrome  8518 ad_public   35u  IPv4   3910      0t0  TCP 10.5.1.74:45734-&gt;95.183.223.253:443 (ESTABLISHED)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7">
                <a:solidFill>
                  <a:schemeClr val="dk2"/>
                </a:solidFill>
              </a:rPr>
              <a:t>$ sudo netstat -tulpn</a:t>
            </a:r>
            <a:endParaRPr b="1"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Proto Recv-Q Send-Q Local Address           Foreign Address         State       PID/Program name    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7">
                <a:solidFill>
                  <a:schemeClr val="dk2"/>
                </a:solidFill>
              </a:rPr>
              <a:t>tcp        0      0 127.0.0.1:3306          0.0.0.0:*               LISTEN      1531/mysqld         </a:t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7">
              <a:solidFill>
                <a:schemeClr val="dk2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71625" y="4820400"/>
            <a:ext cx="373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" y="1446375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vs UDP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2944850" y="1188950"/>
            <a:ext cx="5887500" cy="33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UDP: User Datagram Protocol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no acknowledgements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no retransmissions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out of order, duplicates possible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connectionless, i.e., app indicates destination for each packet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 TCP: Transmission Control Protocol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reliable byte-stream channel (in order, all arrive, no duplicates)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similar to file I/O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flow control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connection-oriented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bidirectional</a:t>
            </a:r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138788" y="3015400"/>
            <a:ext cx="697350" cy="436525"/>
          </a:xfrm>
          <a:custGeom>
            <a:rect b="b" l="l" r="r" t="t"/>
            <a:pathLst>
              <a:path extrusionOk="0" h="17461" w="27894">
                <a:moveTo>
                  <a:pt x="27061" y="1405"/>
                </a:moveTo>
                <a:cubicBezTo>
                  <a:pt x="17692" y="1405"/>
                  <a:pt x="-1186" y="-8"/>
                  <a:pt x="79" y="9275"/>
                </a:cubicBezTo>
                <a:cubicBezTo>
                  <a:pt x="1233" y="17743"/>
                  <a:pt x="17981" y="19635"/>
                  <a:pt x="25093" y="14896"/>
                </a:cubicBezTo>
                <a:cubicBezTo>
                  <a:pt x="29226" y="12142"/>
                  <a:pt x="28324" y="3512"/>
                  <a:pt x="24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Google Shape;165;p26"/>
          <p:cNvSpPr txBox="1"/>
          <p:nvPr/>
        </p:nvSpPr>
        <p:spPr>
          <a:xfrm>
            <a:off x="194075" y="4790425"/>
            <a:ext cx="373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Layer Protocols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" y="1446375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/>
          <p:nvPr/>
        </p:nvSpPr>
        <p:spPr>
          <a:xfrm>
            <a:off x="113125" y="1821326"/>
            <a:ext cx="2577894" cy="1082145"/>
          </a:xfrm>
          <a:custGeom>
            <a:rect b="b" l="l" r="r" t="t"/>
            <a:pathLst>
              <a:path extrusionOk="0" h="17461" w="27894">
                <a:moveTo>
                  <a:pt x="27061" y="1405"/>
                </a:moveTo>
                <a:cubicBezTo>
                  <a:pt x="17692" y="1405"/>
                  <a:pt x="-1186" y="-8"/>
                  <a:pt x="79" y="9275"/>
                </a:cubicBezTo>
                <a:cubicBezTo>
                  <a:pt x="1233" y="17743"/>
                  <a:pt x="17981" y="19635"/>
                  <a:pt x="25093" y="14896"/>
                </a:cubicBezTo>
                <a:cubicBezTo>
                  <a:pt x="29226" y="12142"/>
                  <a:pt x="28324" y="3512"/>
                  <a:pt x="24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3" name="Google Shape;173;p27"/>
          <p:cNvSpPr txBox="1"/>
          <p:nvPr/>
        </p:nvSpPr>
        <p:spPr>
          <a:xfrm>
            <a:off x="2987025" y="1446375"/>
            <a:ext cx="60642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Websockets, HTTP, HTTPS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always run WebSocket, HTTP over </a:t>
            </a:r>
            <a:r>
              <a:rPr lang="en" sz="1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Transport Layer Security - Wikipedia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HTTPs, wss ( “secure” websocket)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The WebSocket API (WebSockets) - Web APIs | MDN</a:t>
            </a:r>
            <a:r>
              <a:rPr lang="en" sz="1800"/>
              <a:t> </a:t>
            </a:r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113125" y="4820400"/>
            <a:ext cx="373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6"/>
              </a:rPr>
              <a:t>https://en.wikipedia.org/wiki/Internet_protocol_suite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overview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181" y="408125"/>
            <a:ext cx="575589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311700" y="4703625"/>
            <a:ext cx="605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https://developer.mozilla.org/en-US/docs/Web/HTTP/Overview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 Programming: System calls (API) for networking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Berkeley Sockets (System calls: API Berkeley Sockets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Sockets(</a:t>
            </a:r>
            <a:r>
              <a:rPr lang="en" sz="2100"/>
              <a:t>Application Programming Interfaces (API) </a:t>
            </a:r>
            <a:endParaRPr sz="21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/>
              <a:t>Sockets are not protocol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We will see socket programming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That uses UDP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That uses TCP</a:t>
            </a:r>
            <a:endParaRPr sz="2100"/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And see kernel implementation of Transport Layer Security(TLS) encryption protocol over TCP</a:t>
            </a:r>
            <a:endParaRPr sz="2100"/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OpenSSL</a:t>
            </a:r>
            <a:endParaRPr sz="2100"/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https://www.kernel.org/doc/html/latest/networking/tls.html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325" y="101025"/>
            <a:ext cx="5355899" cy="4866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569175" y="4835875"/>
            <a:ext cx="676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https://www.csd.uoc.gr/~hy556/material/tutorials/cs556-3rd-tutorial.pdf</a:t>
            </a:r>
            <a:endParaRPr sz="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800" y="70575"/>
            <a:ext cx="5251676" cy="4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569175" y="4835875"/>
            <a:ext cx="676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https://www.csd.uoc.gr/~hy556/material/tutorials/cs556-3rd-tutorial.pdf</a:t>
            </a:r>
            <a:endParaRPr sz="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/>
        </p:nvSpPr>
        <p:spPr>
          <a:xfrm>
            <a:off x="42175" y="175675"/>
            <a:ext cx="50106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1" lang="en" sz="1050">
                <a:solidFill>
                  <a:srgbClr val="202122"/>
                </a:solidFill>
                <a:highlight>
                  <a:srgbClr val="FFFFFF"/>
                </a:highlight>
              </a:rPr>
              <a:t>socket()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creates  an endpoint for communication and returns a file descriptor that refers to that endpoint.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3333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protocol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t/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650" y="70575"/>
            <a:ext cx="4012025" cy="4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3"/>
          <p:cNvSpPr txBox="1"/>
          <p:nvPr/>
        </p:nvSpPr>
        <p:spPr>
          <a:xfrm>
            <a:off x="569175" y="4835875"/>
            <a:ext cx="676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https://www.csd.uoc.gr/~hy556/material/tutorials/cs556-3rd-tutorial.pdf</a:t>
            </a:r>
            <a:endParaRPr sz="700"/>
          </a:p>
        </p:txBody>
      </p:sp>
      <p:sp>
        <p:nvSpPr>
          <p:cNvPr id="212" name="Google Shape;212;p33"/>
          <p:cNvSpPr txBox="1"/>
          <p:nvPr/>
        </p:nvSpPr>
        <p:spPr>
          <a:xfrm>
            <a:off x="569175" y="3363875"/>
            <a:ext cx="395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Berkeley sockets - Wikipedia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/>
        </p:nvSpPr>
        <p:spPr>
          <a:xfrm>
            <a:off x="204700" y="210825"/>
            <a:ext cx="48912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1" lang="en" sz="1050">
                <a:solidFill>
                  <a:srgbClr val="202122"/>
                </a:solidFill>
                <a:highlight>
                  <a:srgbClr val="FFFFFF"/>
                </a:highlight>
              </a:rPr>
              <a:t>socket()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creates  an endpoint for communication and returns a file descriptor that refers to that endpoint.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3333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socket*/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PF_INET, AF_INET, IPPPROTO_TCP and etc.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IPPROTO_TCP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t/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650" y="70575"/>
            <a:ext cx="4012025" cy="4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 structures ($ man sockaddr)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sa_family_t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sa_family;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Address family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sa_data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Socket address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/>
        </p:nvSpPr>
        <p:spPr>
          <a:xfrm>
            <a:off x="91325" y="134925"/>
            <a:ext cx="8502900" cy="5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Internet domain sockets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sockaddr_in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sa_family_t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sin_family;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AF_INET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in_port_t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sin_port; 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Port number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in_addr  sin_addr; 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IPv4 address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in_addr_t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s_addr;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IPv4 address */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sockaddr_in6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sa_family_t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sin6_family;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AF_INET6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in_port_t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sin6_port;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Port number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uint32_t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sin6_flowinfo;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IPv6 flow info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in6_addr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sin6_addr;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IPv6 address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uint32_t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sin6_scope_id;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Set of interfaces for a scope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/>
        </p:nvSpPr>
        <p:spPr>
          <a:xfrm>
            <a:off x="512925" y="1017725"/>
            <a:ext cx="69150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UNIX domain sockets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sys/un.h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sockaddr_un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sa_family_t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sun_family;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Address family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sun_path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Socket pathname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};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/>
        </p:nvSpPr>
        <p:spPr>
          <a:xfrm>
            <a:off x="223375" y="1072400"/>
            <a:ext cx="87765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socket(int domain, int type, int protocol);*/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PF_INET, AF_INET, IPPPROTO_TCP and etc.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arpa/inet.h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/*htonl, htons, ntohl, ntohs: convert values between host and network byte order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INADDR_ANY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side socket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/>
        </p:nvSpPr>
        <p:spPr>
          <a:xfrm>
            <a:off x="260675" y="1072400"/>
            <a:ext cx="8739300" cy="42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socket(int domain, int type, int protocol);*/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PF_INET, AF_INET, IPPPROTO_TCP and etc.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arpa/inet.h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htonl, htons, ntohl, ntohs: convert values between host and network byte order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memset*/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127.0.0.1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50">
                <a:solidFill>
                  <a:srgbClr val="1F377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inet_addr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r>
              <a:rPr lang="en"/>
              <a:t> side socket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89025" y="59825"/>
            <a:ext cx="318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side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204475" y="414850"/>
            <a:ext cx="4773600" cy="4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NUMBER_OF_CONNECTIONS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INADDR_ANY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IPPROTO_TCP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bind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NUMBER_OF_CONNECTIONS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650" y="70575"/>
            <a:ext cx="4012025" cy="4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/>
          <p:nvPr/>
        </p:nvSpPr>
        <p:spPr>
          <a:xfrm>
            <a:off x="4840678" y="414850"/>
            <a:ext cx="2149850" cy="2159425"/>
          </a:xfrm>
          <a:custGeom>
            <a:rect b="b" l="l" r="r" t="t"/>
            <a:pathLst>
              <a:path extrusionOk="0" h="86377" w="85994">
                <a:moveTo>
                  <a:pt x="53095" y="379"/>
                </a:moveTo>
                <a:cubicBezTo>
                  <a:pt x="39790" y="379"/>
                  <a:pt x="25584" y="-1137"/>
                  <a:pt x="13355" y="4104"/>
                </a:cubicBezTo>
                <a:cubicBezTo>
                  <a:pt x="9625" y="5703"/>
                  <a:pt x="4928" y="7374"/>
                  <a:pt x="3420" y="11142"/>
                </a:cubicBezTo>
                <a:cubicBezTo>
                  <a:pt x="-6367" y="35599"/>
                  <a:pt x="5947" y="80821"/>
                  <a:pt x="31983" y="84827"/>
                </a:cubicBezTo>
                <a:cubicBezTo>
                  <a:pt x="43877" y="86657"/>
                  <a:pt x="57235" y="87725"/>
                  <a:pt x="67998" y="82343"/>
                </a:cubicBezTo>
                <a:cubicBezTo>
                  <a:pt x="76763" y="77960"/>
                  <a:pt x="81806" y="67115"/>
                  <a:pt x="83729" y="57506"/>
                </a:cubicBezTo>
                <a:cubicBezTo>
                  <a:pt x="86765" y="42332"/>
                  <a:pt x="88052" y="22494"/>
                  <a:pt x="77105" y="11556"/>
                </a:cubicBezTo>
                <a:cubicBezTo>
                  <a:pt x="67987" y="2446"/>
                  <a:pt x="52738" y="1206"/>
                  <a:pt x="39849" y="1206"/>
                </a:cubicBezTo>
              </a:path>
            </a:pathLst>
          </a:custGeom>
          <a:noFill/>
          <a:ln cap="flat" cmpd="sng" w="19050">
            <a:solidFill>
              <a:srgbClr val="E21F1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/>
        </p:nvSpPr>
        <p:spPr>
          <a:xfrm>
            <a:off x="3071450" y="4854150"/>
            <a:ext cx="4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https://en.wikipedia.org/wiki/Berkeley_sockets</a:t>
            </a:r>
            <a:r>
              <a:rPr lang="en" sz="1200"/>
              <a:t> </a:t>
            </a:r>
            <a:endParaRPr sz="1200"/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89025" y="59825"/>
            <a:ext cx="318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r>
              <a:rPr lang="en"/>
              <a:t> side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89025" y="416000"/>
            <a:ext cx="5168400" cy="45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127.0.0.1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/*a port number*/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inet_addr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IPPROTO_TCP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7453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)) == -</a:t>
            </a:r>
            <a:r>
              <a:rPr lang="en" sz="1350">
                <a:solidFill>
                  <a:srgbClr val="098658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" sz="1350">
                <a:solidFill>
                  <a:srgbClr val="E21F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4900" y="196025"/>
            <a:ext cx="3852325" cy="472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/>
          <p:nvPr/>
        </p:nvSpPr>
        <p:spPr>
          <a:xfrm>
            <a:off x="7455100" y="431825"/>
            <a:ext cx="1658314" cy="2670143"/>
          </a:xfrm>
          <a:custGeom>
            <a:rect b="b" l="l" r="r" t="t"/>
            <a:pathLst>
              <a:path extrusionOk="0" h="59025" w="36281">
                <a:moveTo>
                  <a:pt x="3985" y="9937"/>
                </a:moveTo>
                <a:cubicBezTo>
                  <a:pt x="385" y="23142"/>
                  <a:pt x="-2097" y="38110"/>
                  <a:pt x="2580" y="50973"/>
                </a:cubicBezTo>
                <a:cubicBezTo>
                  <a:pt x="5531" y="59089"/>
                  <a:pt x="19403" y="60454"/>
                  <a:pt x="27595" y="57719"/>
                </a:cubicBezTo>
                <a:cubicBezTo>
                  <a:pt x="31493" y="56417"/>
                  <a:pt x="31090" y="50276"/>
                  <a:pt x="32654" y="46476"/>
                </a:cubicBezTo>
                <a:cubicBezTo>
                  <a:pt x="37725" y="34159"/>
                  <a:pt x="37750" y="17858"/>
                  <a:pt x="30687" y="6565"/>
                </a:cubicBezTo>
                <a:cubicBezTo>
                  <a:pt x="26219" y="-580"/>
                  <a:pt x="12529" y="-1987"/>
                  <a:pt x="5672" y="2911"/>
                </a:cubicBezTo>
                <a:cubicBezTo>
                  <a:pt x="871" y="6340"/>
                  <a:pt x="2580" y="14438"/>
                  <a:pt x="2580" y="20337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350" y="207612"/>
            <a:ext cx="3852325" cy="472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2"/>
          <p:cNvSpPr txBox="1"/>
          <p:nvPr/>
        </p:nvSpPr>
        <p:spPr>
          <a:xfrm>
            <a:off x="3071450" y="4854150"/>
            <a:ext cx="489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https://en.wikipedia.org/wiki/Berkeley_sockets</a:t>
            </a:r>
            <a:r>
              <a:rPr lang="en" sz="1200"/>
              <a:t> </a:t>
            </a:r>
            <a:endParaRPr sz="1200"/>
          </a:p>
        </p:txBody>
      </p:sp>
      <p:sp>
        <p:nvSpPr>
          <p:cNvPr id="270" name="Google Shape;270;p42"/>
          <p:cNvSpPr txBox="1"/>
          <p:nvPr>
            <p:ph type="title"/>
          </p:nvPr>
        </p:nvSpPr>
        <p:spPr>
          <a:xfrm>
            <a:off x="89025" y="59825"/>
            <a:ext cx="6959400" cy="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side-accept a connection request</a:t>
            </a:r>
            <a:endParaRPr/>
          </a:p>
        </p:txBody>
      </p:sp>
      <p:sp>
        <p:nvSpPr>
          <p:cNvPr id="271" name="Google Shape;271;p42"/>
          <p:cNvSpPr txBox="1"/>
          <p:nvPr/>
        </p:nvSpPr>
        <p:spPr>
          <a:xfrm>
            <a:off x="246625" y="4069850"/>
            <a:ext cx="5122500" cy="615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fd_accepted: </a:t>
            </a:r>
            <a:r>
              <a:rPr lang="en"/>
              <a:t>We have new socket for the accepted connection. This does not listen and affect the original socket.</a:t>
            </a:r>
            <a:endParaRPr/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155275" y="620400"/>
            <a:ext cx="5609100" cy="31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6074925" y="2351000"/>
            <a:ext cx="1542033" cy="822071"/>
          </a:xfrm>
          <a:custGeom>
            <a:rect b="b" l="l" r="r" t="t"/>
            <a:pathLst>
              <a:path extrusionOk="0" h="59025" w="36281">
                <a:moveTo>
                  <a:pt x="3985" y="9937"/>
                </a:moveTo>
                <a:cubicBezTo>
                  <a:pt x="385" y="23142"/>
                  <a:pt x="-2097" y="38110"/>
                  <a:pt x="2580" y="50973"/>
                </a:cubicBezTo>
                <a:cubicBezTo>
                  <a:pt x="5531" y="59089"/>
                  <a:pt x="19403" y="60454"/>
                  <a:pt x="27595" y="57719"/>
                </a:cubicBezTo>
                <a:cubicBezTo>
                  <a:pt x="31493" y="56417"/>
                  <a:pt x="31090" y="50276"/>
                  <a:pt x="32654" y="46476"/>
                </a:cubicBezTo>
                <a:cubicBezTo>
                  <a:pt x="37725" y="34159"/>
                  <a:pt x="37750" y="17858"/>
                  <a:pt x="30687" y="6565"/>
                </a:cubicBezTo>
                <a:cubicBezTo>
                  <a:pt x="26219" y="-580"/>
                  <a:pt x="12529" y="-1987"/>
                  <a:pt x="5672" y="2911"/>
                </a:cubicBezTo>
                <a:cubicBezTo>
                  <a:pt x="871" y="6340"/>
                  <a:pt x="2580" y="14438"/>
                  <a:pt x="2580" y="20337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message on a socket</a:t>
            </a:r>
            <a:endParaRPr/>
          </a:p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/*With a  zero  flags  argument, send() is equivalent to write(2)*/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[.len],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sendto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[.len],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dest_addr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msghdr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 txBox="1"/>
          <p:nvPr/>
        </p:nvSpPr>
        <p:spPr>
          <a:xfrm>
            <a:off x="3344675" y="3993325"/>
            <a:ext cx="56853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is equivalent to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sendto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(sockfd, buf, len, flags,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message from a socket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/*With a zero flags argument, recv() is generally equivalent to read(2)*/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[.len],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recvfrom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_Nullable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src_addr,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*_Nullable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addrlen);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msghdr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4"/>
          <p:cNvSpPr txBox="1"/>
          <p:nvPr/>
        </p:nvSpPr>
        <p:spPr>
          <a:xfrm>
            <a:off x="2823225" y="4121225"/>
            <a:ext cx="62538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is equivalent to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recvfrom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(sockfd, buf, len, flags,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send and recv message</a:t>
            </a:r>
            <a:endParaRPr/>
          </a:p>
        </p:txBody>
      </p:sp>
      <p:sp>
        <p:nvSpPr>
          <p:cNvPr id="293" name="Google Shape;29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/*send recv message*/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 says hi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256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 sent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byte msg</a:t>
            </a:r>
            <a:r>
              <a:rPr lang="en" sz="135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client: incoming message: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%.256s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Server: recv and send message</a:t>
            </a:r>
            <a:endParaRPr/>
          </a:p>
        </p:txBody>
      </p:sp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256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/*recv send message*/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server: incoming message: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%.256s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 says hi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 sent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byte msg</a:t>
            </a:r>
            <a:r>
              <a:rPr lang="en" sz="135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100900" y="5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server.c</a:t>
            </a: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211500" y="624225"/>
            <a:ext cx="4360500" cy="44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socket(int domain, int type, int protocol);*/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PF_INET, AF_INET, IPPPROTO_TCP and etc.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arpa/inet.h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/*htonl, htons, ntohl, ntohs: convert values between host and network byte order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stdio.h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stdlib.h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unistd.h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NUMBER_OF_CONNECTIONS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INADDR_ANY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IPPROTO_TCP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bind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NUMBER_OF_CONNECTIONS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</p:txBody>
      </p:sp>
      <p:sp>
        <p:nvSpPr>
          <p:cNvPr id="306" name="Google Shape;306;p47"/>
          <p:cNvSpPr txBox="1"/>
          <p:nvPr>
            <p:ph idx="2" type="body"/>
          </p:nvPr>
        </p:nvSpPr>
        <p:spPr>
          <a:xfrm>
            <a:off x="4109725" y="1118050"/>
            <a:ext cx="4913100" cy="3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256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/*recv send message*/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server: incoming message: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%.256s</a:t>
            </a:r>
            <a:r>
              <a:rPr lang="en" sz="135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 says hi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 sent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byte msg</a:t>
            </a:r>
            <a:r>
              <a:rPr lang="en" sz="135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100900" y="5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client.c</a:t>
            </a:r>
            <a:endParaRPr/>
          </a:p>
        </p:txBody>
      </p:sp>
      <p:sp>
        <p:nvSpPr>
          <p:cNvPr id="312" name="Google Shape;312;p48"/>
          <p:cNvSpPr txBox="1"/>
          <p:nvPr>
            <p:ph idx="1" type="body"/>
          </p:nvPr>
        </p:nvSpPr>
        <p:spPr>
          <a:xfrm>
            <a:off x="211500" y="624225"/>
            <a:ext cx="4159800" cy="44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socket(int domain, int type, int protocol);*/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netinet/in.h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PF_INET, AF_INET, IPPPROTO_TCP and etc.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arpa/inet.h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htonl, htons, ntohl, ntohs: convert values between host and network byte order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/*for memset*/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stdio.h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stdlib.h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unistd.h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5100</a:t>
            </a:r>
            <a:endParaRPr sz="13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127.0.0.1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sockaddr_in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.sin_addr.s_addr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inet_addr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SERVER_IP_ADDRESS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.sin_family =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.sin_port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htons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PORT_NUMBER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IPPROTO_TCP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48"/>
          <p:cNvSpPr txBox="1"/>
          <p:nvPr>
            <p:ph idx="2" type="body"/>
          </p:nvPr>
        </p:nvSpPr>
        <p:spPr>
          <a:xfrm>
            <a:off x="4216675" y="1793225"/>
            <a:ext cx="4906200" cy="31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&amp;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srv_addr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== -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/*send recv message*/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 says hi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256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 sent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byte msg</a:t>
            </a:r>
            <a:r>
              <a:rPr lang="en" sz="9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recv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-</a:t>
            </a:r>
            <a:r>
              <a:rPr lang="en" sz="9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client: incoming message: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%.256s</a:t>
            </a:r>
            <a:r>
              <a:rPr lang="en" sz="9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9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Multi-thread server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(;;){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[i]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*)&amp;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accepted_addr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[i], &amp;size);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sfd_accepted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[i] == -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new_thread to handle send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receive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for a client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Non-Blocking IO &amp; A</a:t>
            </a:r>
            <a:r>
              <a:rPr lang="en"/>
              <a:t>synchronous</a:t>
            </a:r>
            <a:r>
              <a:rPr lang="en"/>
              <a:t> IO with SIGIO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Socket Non-blocking</a:t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125800" y="1152475"/>
            <a:ext cx="5632800" cy="3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 =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socket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AF_INET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SOCK_STREAM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lang="en" sz="13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SOCK_NONBLOCK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fcntl.h</a:t>
            </a:r>
            <a:r>
              <a:rPr lang="en" sz="13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0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fcntl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... </a:t>
            </a:r>
            <a:r>
              <a:rPr lang="en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arg */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sys/socket.h</a:t>
            </a:r>
            <a:r>
              <a:rPr lang="en" sz="13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getsockopt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optname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optval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*.optlen],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13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optlen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setsockopt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sockfd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optname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optval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[.optlen],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13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socklen_t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optlen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SOCK_NONBLOCK: </a:t>
            </a:r>
            <a:r>
              <a:rPr lang="en" sz="13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read()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00">
                <a:solidFill>
                  <a:schemeClr val="dk1"/>
                </a:solidFill>
              </a:rPr>
              <a:t>will return immediately with whatever bytes are available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1" name="Google Shape;331;p51"/>
          <p:cNvSpPr txBox="1"/>
          <p:nvPr>
            <p:ph idx="2" type="body"/>
          </p:nvPr>
        </p:nvSpPr>
        <p:spPr>
          <a:xfrm>
            <a:off x="5674625" y="1152475"/>
            <a:ext cx="31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select(2) - Linux manual page</a:t>
            </a:r>
            <a:r>
              <a:rPr lang="en"/>
              <a:t>,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poll(2) - Linux manual page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Both waits for an </a:t>
            </a:r>
            <a:r>
              <a:rPr b="1" lang="en"/>
              <a:t>array of fds</a:t>
            </a:r>
            <a:r>
              <a:rPr lang="en"/>
              <a:t> until one or more becomes ready for I/O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set timeout for waits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</a:t>
            </a:r>
            <a:r>
              <a:rPr lang="en"/>
              <a:t> IO with signals</a:t>
            </a:r>
            <a:endParaRPr/>
          </a:p>
        </p:txBody>
      </p:sp>
      <p:sp>
        <p:nvSpPr>
          <p:cNvPr id="337" name="Google Shape;337;p52"/>
          <p:cNvSpPr txBox="1"/>
          <p:nvPr>
            <p:ph idx="1" type="body"/>
          </p:nvPr>
        </p:nvSpPr>
        <p:spPr>
          <a:xfrm>
            <a:off x="311700" y="1152475"/>
            <a:ext cx="871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</a:t>
            </a:r>
            <a:r>
              <a:rPr lang="en"/>
              <a:t> Lab 13, we used SIGIO for </a:t>
            </a:r>
            <a:r>
              <a:rPr lang="en"/>
              <a:t>asynchronous</a:t>
            </a:r>
            <a:r>
              <a:rPr lang="en"/>
              <a:t> input from terminal and pipes(IPC):</a:t>
            </a:r>
            <a:endParaRPr sz="14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fcntl(fd, F_SETOWN, getpid());</a:t>
            </a:r>
            <a:endParaRPr sz="14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This changes who gets SIGIO when a change happens on fd. Another setting is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fcntl(fd, F_SETFL, O_ASYNC);</a:t>
            </a:r>
            <a:endParaRPr sz="14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This enables generations of SIGIO on fd.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fcntl(fd, F_SETFL, O_NONBLOCK);</a:t>
            </a:r>
            <a:endParaRPr sz="14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This makes calls like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read(fd,..) </a:t>
            </a:r>
            <a:r>
              <a:rPr lang="en"/>
              <a:t>nonblocking.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lab13</a:t>
            </a:r>
            <a:endParaRPr/>
          </a:p>
        </p:txBody>
      </p:sp>
      <p:sp>
        <p:nvSpPr>
          <p:cNvPr id="343" name="Google Shape;343;p53"/>
          <p:cNvSpPr txBox="1"/>
          <p:nvPr>
            <p:ph idx="1" type="body"/>
          </p:nvPr>
        </p:nvSpPr>
        <p:spPr>
          <a:xfrm>
            <a:off x="311700" y="1152475"/>
            <a:ext cx="50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aio_example.c*/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&lt;fcntl.h&gt;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&lt;signal.h&gt;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See notes on why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"volatile sig_atomic_t" is better*/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volatile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sig_atomic_t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canread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sigio_handler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signo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canread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53"/>
          <p:cNvSpPr txBox="1"/>
          <p:nvPr/>
        </p:nvSpPr>
        <p:spPr>
          <a:xfrm>
            <a:off x="3417350" y="377375"/>
            <a:ext cx="55278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/*...*/</a:t>
            </a:r>
            <a:endParaRPr b="1"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accept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(sfd, (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sockaddr 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accepted_addr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[i], 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b="1"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size);</a:t>
            </a:r>
            <a:endParaRPr b="1"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/*...*/</a:t>
            </a:r>
            <a:endParaRPr b="1"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F_SETOWN,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F_SETFL, O_ASYNC);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/*set signal handler*/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sigaction action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sa_handler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sigio_handler;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sigaction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(SIGIO,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action,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"signal action"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(EXIT_FAILURE);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/*...if canread = 0, do sth else*/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" name="Google Shape;345;p53"/>
          <p:cNvSpPr txBox="1"/>
          <p:nvPr/>
        </p:nvSpPr>
        <p:spPr>
          <a:xfrm>
            <a:off x="705850" y="4367775"/>
            <a:ext cx="72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For more see </a:t>
            </a: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https://www.csd.uoc.gr/~hy556/material/tutorials/cs556-3rd-tutorial.pdf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layer protocols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Layer Protocols</a:t>
            </a:r>
            <a:endParaRPr/>
          </a:p>
        </p:txBody>
      </p:sp>
      <p:pic>
        <p:nvPicPr>
          <p:cNvPr id="356" name="Google Shape;3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" y="1446375"/>
            <a:ext cx="2619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5"/>
          <p:cNvSpPr/>
          <p:nvPr/>
        </p:nvSpPr>
        <p:spPr>
          <a:xfrm>
            <a:off x="113125" y="1821326"/>
            <a:ext cx="2577894" cy="1082145"/>
          </a:xfrm>
          <a:custGeom>
            <a:rect b="b" l="l" r="r" t="t"/>
            <a:pathLst>
              <a:path extrusionOk="0" h="17461" w="27894">
                <a:moveTo>
                  <a:pt x="27061" y="1405"/>
                </a:moveTo>
                <a:cubicBezTo>
                  <a:pt x="17692" y="1405"/>
                  <a:pt x="-1186" y="-8"/>
                  <a:pt x="79" y="9275"/>
                </a:cubicBezTo>
                <a:cubicBezTo>
                  <a:pt x="1233" y="17743"/>
                  <a:pt x="17981" y="19635"/>
                  <a:pt x="25093" y="14896"/>
                </a:cubicBezTo>
                <a:cubicBezTo>
                  <a:pt x="29226" y="12142"/>
                  <a:pt x="28324" y="3512"/>
                  <a:pt x="2481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8" name="Google Shape;358;p55"/>
          <p:cNvSpPr txBox="1"/>
          <p:nvPr/>
        </p:nvSpPr>
        <p:spPr>
          <a:xfrm>
            <a:off x="2987025" y="1446375"/>
            <a:ext cx="6064200" cy="1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Websockets, HTTP, HTTPS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always run WebSocket, HTTP over </a:t>
            </a:r>
            <a:r>
              <a:rPr lang="en" sz="1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Transport Layer Security - Wikipedia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HTTPs, wss ( “secure” websocket)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overview</a:t>
            </a:r>
            <a:endParaRPr/>
          </a:p>
        </p:txBody>
      </p:sp>
      <p:pic>
        <p:nvPicPr>
          <p:cNvPr id="364" name="Google Shape;36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181" y="408125"/>
            <a:ext cx="575589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6"/>
          <p:cNvSpPr txBox="1"/>
          <p:nvPr/>
        </p:nvSpPr>
        <p:spPr>
          <a:xfrm>
            <a:off x="3225875" y="4640375"/>
            <a:ext cx="587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https://developer.mozilla.org/en-US/docs/Web/HTTP/Overview</a:t>
            </a:r>
            <a:r>
              <a:rPr lang="en"/>
              <a:t> </a:t>
            </a:r>
            <a:endParaRPr/>
          </a:p>
        </p:txBody>
      </p:sp>
      <p:sp>
        <p:nvSpPr>
          <p:cNvPr id="366" name="Google Shape;366;p56"/>
          <p:cNvSpPr txBox="1"/>
          <p:nvPr/>
        </p:nvSpPr>
        <p:spPr>
          <a:xfrm>
            <a:off x="-138825" y="4424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https://en.wikipedia.org/wiki/HTTP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Http request/response</a:t>
            </a:r>
            <a:endParaRPr/>
          </a:p>
        </p:txBody>
      </p:sp>
      <p:sp>
        <p:nvSpPr>
          <p:cNvPr id="372" name="Google Shape;372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Client request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Server response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HTTP/1.1 200 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Mon, 23 May 2005 22:38:34 GMT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Content-Type: text/html; charset=UTF-8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Content-Length: 155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Last-Modified: Wed, 08 Jan 2003 23:11:55 GMT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Server: Apache/1.3.3.7 (Unix) (Red-Hat/Linux)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ETag: "3f80f-1b6-3e1cb03b"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Accept-Ranges: bytes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Connection: close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&lt;html&gt;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&lt;head&gt;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&lt;title&gt;An Example Page&lt;/title&gt;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&lt;/head&gt;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&lt;body&gt;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&lt;p&gt;Hello World, this is a very simple HTML document.&lt;/p&gt;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&lt;/body&gt;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&lt;/html&gt;</a:t>
            </a:r>
            <a:endParaRPr/>
          </a:p>
        </p:txBody>
      </p:sp>
      <p:sp>
        <p:nvSpPr>
          <p:cNvPr id="374" name="Google Shape;374;p57"/>
          <p:cNvSpPr txBox="1"/>
          <p:nvPr/>
        </p:nvSpPr>
        <p:spPr>
          <a:xfrm>
            <a:off x="344300" y="1496675"/>
            <a:ext cx="45891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 / HTTP/1.1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Host: www.example.com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User-Agent: Mozilla/5.0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Accept: text/html,application/xhtml+xml,application/xml;q=0.9,image/avif,image/webp,*/*;q=0.8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Accept-Language: en-GB,en;q=0.5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Accept-Encoding: gzip, deflate, br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Connection: keep-alive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75" name="Google Shape;375;p57"/>
          <p:cNvSpPr txBox="1"/>
          <p:nvPr/>
        </p:nvSpPr>
        <p:spPr>
          <a:xfrm>
            <a:off x="709675" y="45688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https://en.wikipedia.org/wiki/HTTP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Websocket vs http</a:t>
            </a:r>
            <a:endParaRPr/>
          </a:p>
        </p:txBody>
      </p:sp>
      <p:sp>
        <p:nvSpPr>
          <p:cNvPr id="381" name="Google Shape;38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WebSocket - Wikipedia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WebSocket is distinct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</a:t>
            </a:r>
            <a:r>
              <a:rPr lang="en" sz="1100">
                <a:solidFill>
                  <a:schemeClr val="dk1"/>
                </a:solidFill>
              </a:rPr>
              <a:t>. Both protocols are located at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layer 7</a:t>
            </a:r>
            <a:r>
              <a:rPr lang="en" sz="1100">
                <a:solidFill>
                  <a:schemeClr val="dk1"/>
                </a:solidFill>
              </a:rPr>
              <a:t> in the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OSI model</a:t>
            </a:r>
            <a:r>
              <a:rPr lang="en" sz="1100">
                <a:solidFill>
                  <a:schemeClr val="dk1"/>
                </a:solidFill>
              </a:rPr>
              <a:t> and depend on TCP at layer 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Although they are different,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RFC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2"/>
              </a:rPr>
              <a:t>6455</a:t>
            </a:r>
            <a:r>
              <a:rPr lang="en" sz="1100">
                <a:solidFill>
                  <a:schemeClr val="dk1"/>
                </a:solidFill>
              </a:rPr>
              <a:t> states that WebSocket "is designed to work over HTTP ports 443 and 80 as well as to support HTTP proxies and intermediaries", thus making it compatible with HTTP.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hlink"/>
                </a:solidFill>
                <a:hlinkClick r:id="rId13"/>
              </a:rPr>
              <a:t>The WebSocket API (WebSockets) - Web APIs | MDN</a:t>
            </a:r>
            <a:r>
              <a:rPr b="1" lang="en" sz="1100">
                <a:solidFill>
                  <a:schemeClr val="dk1"/>
                </a:solidFill>
              </a:rPr>
              <a:t>(Java server, C# server, Javascript)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4"/>
              </a:rPr>
              <a:t>https://yalantis.com/blog/how-to-build-websockets-in-go/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5"/>
              </a:rPr>
              <a:t>https://www.tutorialspoint.com/websockets/websockets_quick_guide.htm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Transferring Structured Data</a:t>
            </a:r>
            <a:endParaRPr/>
          </a:p>
        </p:txBody>
      </p:sp>
      <p:sp>
        <p:nvSpPr>
          <p:cNvPr id="387" name="Google Shape;387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XML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&lt;part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1976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&lt;name&gt;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Windscreen Wiper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&lt;/name&gt;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&lt;description&gt;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The Windscreen wiper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automatically removes rain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from your windscreen, if it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should happen to splash there.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It has a rubber 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&lt;ref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1977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blade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&lt;/ref&gt;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which can be ordered separately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 you need to replace it.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&lt;/description&gt;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&lt;/part&gt;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XML Essentials - W3C</a:t>
            </a:r>
            <a:r>
              <a:rPr lang="en"/>
              <a:t> </a:t>
            </a:r>
            <a:endParaRPr/>
          </a:p>
        </p:txBody>
      </p:sp>
      <p:sp>
        <p:nvSpPr>
          <p:cNvPr id="388" name="Google Shape;388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</a:t>
            </a:r>
            <a:endParaRPr/>
          </a:p>
          <a:p>
            <a:pPr indent="0" lvl="0" marL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'{</a:t>
            </a:r>
            <a:r>
              <a:rPr lang="en" sz="135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John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"age"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451A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}'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https://www.w3schools.com/js/js_json_intro.asp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Management (</a:t>
            </a:r>
            <a:r>
              <a:rPr lang="en"/>
              <a:t>authentication and authorization</a:t>
            </a:r>
            <a:r>
              <a:rPr lang="en"/>
              <a:t>)</a:t>
            </a:r>
            <a:endParaRPr/>
          </a:p>
        </p:txBody>
      </p:sp>
      <p:sp>
        <p:nvSpPr>
          <p:cNvPr id="394" name="Google Shape;394;p60"/>
          <p:cNvSpPr txBox="1"/>
          <p:nvPr>
            <p:ph idx="1" type="body"/>
          </p:nvPr>
        </p:nvSpPr>
        <p:spPr>
          <a:xfrm>
            <a:off x="223625" y="2788400"/>
            <a:ext cx="5115600" cy="21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access control? | Authorization vs authentication | Cloudflare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What is authentication? | Cloudflare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What is SSO? | How single sign-on works | Cloudflare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What is SAML? | How SAML authentication works | Cloudflare</a:t>
            </a:r>
            <a:r>
              <a:rPr lang="en"/>
              <a:t> </a:t>
            </a:r>
            <a:endParaRPr/>
          </a:p>
        </p:txBody>
      </p:sp>
      <p:sp>
        <p:nvSpPr>
          <p:cNvPr id="395" name="Google Shape;395;p6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OAuth? | SAML vs. OAuth | Cloudflare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OAuth is a technical standard for authorizing users. It is a protocol for passing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authorization</a:t>
            </a:r>
            <a:r>
              <a:rPr lang="en" sz="1100">
                <a:solidFill>
                  <a:schemeClr val="dk1"/>
                </a:solidFill>
              </a:rPr>
              <a:t> from one service to another without sharing the actual user credentials, such as a username and password. With OAuth, a user can sign in on one platform and then be authorized to perform actions and view data on another platform.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See also OpenID </a:t>
            </a:r>
            <a:r>
              <a:rPr lang="en" u="sng">
                <a:solidFill>
                  <a:schemeClr val="hlink"/>
                </a:solidFill>
                <a:hlinkClick r:id="rId10"/>
              </a:rPr>
              <a:t>What's the difference between OpenID and OAuth? - Stack Overflow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396" name="Google Shape;396;p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6250" y="940000"/>
            <a:ext cx="3422851" cy="22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